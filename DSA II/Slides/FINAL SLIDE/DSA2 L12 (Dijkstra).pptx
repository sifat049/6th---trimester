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6858000" type="screen4x3"/>
  <p:notesSz cx="6781800" cy="9918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8A34AED3-190E-439B-B140-BCDFCAD2456C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CustomShape 1"/>
          <p:cNvSpPr/>
          <p:nvPr/>
        </p:nvSpPr>
        <p:spPr>
          <a:xfrm>
            <a:off x="3841920" y="9421920"/>
            <a:ext cx="2936520" cy="49356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5ABBD518-710B-49BE-8B7B-F459B2D9F2F7}" type="slidenum">
              <a:rPr lang="en-US" sz="1200" b="0" strike="noStrike" spc="-1">
                <a:solidFill>
                  <a:srgbClr val="000000"/>
                </a:solidFill>
                <a:latin typeface="Arial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58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911225" y="744538"/>
            <a:ext cx="4957763" cy="3717925"/>
          </a:xfrm>
          <a:prstGeom prst="rect">
            <a:avLst/>
          </a:prstGeom>
        </p:spPr>
      </p:sp>
      <p:sp>
        <p:nvSpPr>
          <p:cNvPr id="584" name="PlaceHolder 3"/>
          <p:cNvSpPr>
            <a:spLocks noGrp="1"/>
          </p:cNvSpPr>
          <p:nvPr>
            <p:ph type="body"/>
          </p:nvPr>
        </p:nvSpPr>
        <p:spPr>
          <a:xfrm>
            <a:off x="677880" y="4711680"/>
            <a:ext cx="5424120" cy="44607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Click to edit the outline text format</a:t>
            </a:r>
          </a:p>
          <a:p>
            <a:pPr marL="864000" lvl="1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Second Outline Level</a:t>
            </a:r>
          </a:p>
          <a:p>
            <a:pPr marL="1296000" lvl="2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Third Outline Level</a:t>
            </a:r>
          </a:p>
          <a:p>
            <a:pPr marL="1728000" lvl="3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Fourth Outline Level</a:t>
            </a:r>
          </a:p>
          <a:p>
            <a:pPr marL="2160000" lvl="4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Fifth Outline Level</a:t>
            </a:r>
          </a:p>
          <a:p>
            <a:pPr marL="2592000" lvl="5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Sixth Outline Level</a:t>
            </a:r>
          </a:p>
          <a:p>
            <a:pPr marL="3024000" lvl="6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685800" y="304920"/>
            <a:ext cx="7770600" cy="3294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CSE 2217</a:t>
            </a:r>
            <a:br>
              <a:rPr dirty="0"/>
            </a:br>
            <a:r>
              <a:rPr lang="en-US" sz="4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Design and Analysis of Algorithms – II </a:t>
            </a:r>
            <a:br>
              <a:rPr dirty="0"/>
            </a:br>
            <a:endParaRPr lang="en-US" dirty="0"/>
          </a:p>
          <a:p>
            <a:pPr algn="ctr">
              <a:lnSpc>
                <a:spcPct val="100000"/>
              </a:lnSpc>
            </a:pPr>
            <a:br>
              <a:rPr dirty="0"/>
            </a:b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Single Source Shortest Path, </a:t>
            </a:r>
            <a:br>
              <a:rPr dirty="0"/>
            </a:br>
            <a:r>
              <a:rPr lang="en-US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Dijkstra</a:t>
            </a:r>
            <a:endParaRPr lang="en-US" sz="4400" b="0" strike="noStrike" spc="-1" dirty="0">
              <a:latin typeface="Arial"/>
            </a:endParaRPr>
          </a:p>
        </p:txBody>
      </p:sp>
      <p:sp>
        <p:nvSpPr>
          <p:cNvPr id="121" name="CustomShape 2"/>
          <p:cNvSpPr/>
          <p:nvPr/>
        </p:nvSpPr>
        <p:spPr>
          <a:xfrm>
            <a:off x="1371600" y="3886200"/>
            <a:ext cx="6399000" cy="1750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5500"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Tahmid Mosaddeque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Lecturer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  <a:ea typeface="DejaVu Sans"/>
              </a:rPr>
              <a:t>Department of CSE, UIU</a:t>
            </a: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250560" y="152640"/>
            <a:ext cx="8281440" cy="411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latin typeface="Arial"/>
            </a:endParaRPr>
          </a:p>
          <a:p>
            <a:pPr marL="742680" lvl="1" indent="-285120">
              <a:lnSpc>
                <a:spcPct val="100000"/>
              </a:lnSpc>
              <a:spcBef>
                <a:spcPts val="598"/>
              </a:spcBef>
              <a:buClr>
                <a:srgbClr val="BBE0E3"/>
              </a:buClr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sng" strike="noStrike" spc="-1">
                <a:solidFill>
                  <a:srgbClr val="000000"/>
                </a:solidFill>
                <a:uFillTx/>
                <a:latin typeface="Arial"/>
              </a:rPr>
              <a:t>shortest </a:t>
            </a:r>
            <a:r>
              <a:rPr lang="en-US" sz="2800" b="0" u="sng" strike="noStrike" spc="-1">
                <a:solidFill>
                  <a:srgbClr val="000000"/>
                </a:solidFill>
                <a:uFillTx/>
                <a:latin typeface="TimesNewRomanPSMT;TimesNewRoman"/>
              </a:rPr>
              <a:t>length </a:t>
            </a:r>
            <a:r>
              <a:rPr lang="en-US" sz="2800" b="0" u="sng" strike="noStrike" spc="-1">
                <a:solidFill>
                  <a:srgbClr val="000000"/>
                </a:solidFill>
                <a:uFillTx/>
                <a:latin typeface="Arial"/>
              </a:rPr>
              <a:t>between two vertices</a:t>
            </a:r>
            <a:r>
              <a:rPr lang="tr-TR" sz="2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tr-TR" sz="2800" b="0" strike="noStrike" spc="-1">
                <a:solidFill>
                  <a:srgbClr val="000000"/>
                </a:solidFill>
                <a:latin typeface="Arial"/>
              </a:rPr>
              <a:t>for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an unweighted graph: </a:t>
            </a:r>
            <a:endParaRPr lang="en-US" sz="2800" b="0" strike="noStrike" spc="-1">
              <a:latin typeface="Arial"/>
            </a:endParaRPr>
          </a:p>
          <a:p>
            <a:pPr marL="742680" lvl="1" indent="-285120">
              <a:lnSpc>
                <a:spcPct val="100000"/>
              </a:lnSpc>
              <a:spcBef>
                <a:spcPts val="598"/>
              </a:spcBef>
              <a:buClr>
                <a:srgbClr val="BBE0E3"/>
              </a:buClr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u="sng" strike="noStrike" spc="-1">
                <a:solidFill>
                  <a:srgbClr val="000000"/>
                </a:solidFill>
                <a:uFillTx/>
                <a:latin typeface="Arial"/>
              </a:rPr>
              <a:t>smallest cost between two vertices</a:t>
            </a:r>
            <a:r>
              <a:rPr lang="tr-TR" sz="2800" b="0" i="1" strike="noStrike" spc="-1">
                <a:solidFill>
                  <a:srgbClr val="000000"/>
                </a:solidFill>
                <a:latin typeface="Arial"/>
              </a:rPr>
              <a:t> for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 a weighted graph: </a:t>
            </a:r>
            <a:endParaRPr lang="en-US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800" b="0" strike="noStrike" spc="-1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3348000" y="3068640"/>
            <a:ext cx="528480" cy="52812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B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24" name="CustomShape 3"/>
          <p:cNvSpPr/>
          <p:nvPr/>
        </p:nvSpPr>
        <p:spPr>
          <a:xfrm>
            <a:off x="3262320" y="5770440"/>
            <a:ext cx="528120" cy="52848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D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25" name="CustomShape 4"/>
          <p:cNvSpPr/>
          <p:nvPr/>
        </p:nvSpPr>
        <p:spPr>
          <a:xfrm>
            <a:off x="2195640" y="5084640"/>
            <a:ext cx="528120" cy="52848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26" name="CustomShape 5"/>
          <p:cNvSpPr/>
          <p:nvPr/>
        </p:nvSpPr>
        <p:spPr>
          <a:xfrm>
            <a:off x="2195640" y="3789360"/>
            <a:ext cx="528120" cy="52812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27" name="CustomShape 6"/>
          <p:cNvSpPr/>
          <p:nvPr/>
        </p:nvSpPr>
        <p:spPr>
          <a:xfrm>
            <a:off x="1258920" y="6021360"/>
            <a:ext cx="528120" cy="52848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28" name="Line 7"/>
          <p:cNvSpPr/>
          <p:nvPr/>
        </p:nvSpPr>
        <p:spPr>
          <a:xfrm flipV="1">
            <a:off x="3529080" y="3573000"/>
            <a:ext cx="106200" cy="21942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9" name="Line 8"/>
          <p:cNvSpPr/>
          <p:nvPr/>
        </p:nvSpPr>
        <p:spPr>
          <a:xfrm flipV="1">
            <a:off x="2629080" y="3284640"/>
            <a:ext cx="718920" cy="560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0" name="Line 9"/>
          <p:cNvSpPr/>
          <p:nvPr/>
        </p:nvSpPr>
        <p:spPr>
          <a:xfrm>
            <a:off x="2647800" y="4233960"/>
            <a:ext cx="881280" cy="15336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1" name="Line 10"/>
          <p:cNvSpPr/>
          <p:nvPr/>
        </p:nvSpPr>
        <p:spPr>
          <a:xfrm flipV="1">
            <a:off x="2452680" y="4313160"/>
            <a:ext cx="0" cy="7812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2" name="Line 11"/>
          <p:cNvSpPr/>
          <p:nvPr/>
        </p:nvSpPr>
        <p:spPr>
          <a:xfrm flipV="1">
            <a:off x="1692360" y="5551560"/>
            <a:ext cx="588960" cy="5414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3" name="Line 12"/>
          <p:cNvSpPr/>
          <p:nvPr/>
        </p:nvSpPr>
        <p:spPr>
          <a:xfrm>
            <a:off x="2700360" y="5484960"/>
            <a:ext cx="600120" cy="3902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4" name="CustomShape 13"/>
          <p:cNvSpPr/>
          <p:nvPr/>
        </p:nvSpPr>
        <p:spPr>
          <a:xfrm>
            <a:off x="6948360" y="3068640"/>
            <a:ext cx="528480" cy="52812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B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35" name="CustomShape 14"/>
          <p:cNvSpPr/>
          <p:nvPr/>
        </p:nvSpPr>
        <p:spPr>
          <a:xfrm>
            <a:off x="6835680" y="5789520"/>
            <a:ext cx="528480" cy="52848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D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36" name="CustomShape 15"/>
          <p:cNvSpPr/>
          <p:nvPr/>
        </p:nvSpPr>
        <p:spPr>
          <a:xfrm>
            <a:off x="5769000" y="5103720"/>
            <a:ext cx="528120" cy="52848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C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37" name="CustomShape 16"/>
          <p:cNvSpPr/>
          <p:nvPr/>
        </p:nvSpPr>
        <p:spPr>
          <a:xfrm>
            <a:off x="5769000" y="3808440"/>
            <a:ext cx="528120" cy="52812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A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38" name="CustomShape 17"/>
          <p:cNvSpPr/>
          <p:nvPr/>
        </p:nvSpPr>
        <p:spPr>
          <a:xfrm>
            <a:off x="4788000" y="6021360"/>
            <a:ext cx="528120" cy="528480"/>
          </a:xfrm>
          <a:prstGeom prst="ellipse">
            <a:avLst/>
          </a:prstGeom>
          <a:noFill/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139" name="Line 18"/>
          <p:cNvSpPr/>
          <p:nvPr/>
        </p:nvSpPr>
        <p:spPr>
          <a:xfrm flipV="1">
            <a:off x="7102440" y="3573000"/>
            <a:ext cx="133560" cy="221292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0" name="Line 19"/>
          <p:cNvSpPr/>
          <p:nvPr/>
        </p:nvSpPr>
        <p:spPr>
          <a:xfrm flipV="1">
            <a:off x="6202440" y="3357720"/>
            <a:ext cx="745920" cy="5061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1" name="Line 20"/>
          <p:cNvSpPr/>
          <p:nvPr/>
        </p:nvSpPr>
        <p:spPr>
          <a:xfrm>
            <a:off x="6221520" y="4253040"/>
            <a:ext cx="880920" cy="15332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2" name="Line 21"/>
          <p:cNvSpPr/>
          <p:nvPr/>
        </p:nvSpPr>
        <p:spPr>
          <a:xfrm flipV="1">
            <a:off x="6026040" y="4332240"/>
            <a:ext cx="0" cy="78120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3" name="Line 22"/>
          <p:cNvSpPr/>
          <p:nvPr/>
        </p:nvSpPr>
        <p:spPr>
          <a:xfrm flipV="1">
            <a:off x="5219640" y="5570280"/>
            <a:ext cx="635040" cy="52236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4" name="Line 23"/>
          <p:cNvSpPr/>
          <p:nvPr/>
        </p:nvSpPr>
        <p:spPr>
          <a:xfrm>
            <a:off x="6273720" y="5504040"/>
            <a:ext cx="600120" cy="39024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5" name="CustomShape 24"/>
          <p:cNvSpPr/>
          <p:nvPr/>
        </p:nvSpPr>
        <p:spPr>
          <a:xfrm>
            <a:off x="5078160" y="5589720"/>
            <a:ext cx="52344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200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6" name="CustomShape 25"/>
          <p:cNvSpPr/>
          <p:nvPr/>
        </p:nvSpPr>
        <p:spPr>
          <a:xfrm>
            <a:off x="5619960" y="4573440"/>
            <a:ext cx="40896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60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7" name="CustomShape 26"/>
          <p:cNvSpPr/>
          <p:nvPr/>
        </p:nvSpPr>
        <p:spPr>
          <a:xfrm>
            <a:off x="6137280" y="5659560"/>
            <a:ext cx="52344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130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8" name="CustomShape 27"/>
          <p:cNvSpPr/>
          <p:nvPr/>
        </p:nvSpPr>
        <p:spPr>
          <a:xfrm>
            <a:off x="6454800" y="4478400"/>
            <a:ext cx="52344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190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49" name="CustomShape 28"/>
          <p:cNvSpPr/>
          <p:nvPr/>
        </p:nvSpPr>
        <p:spPr>
          <a:xfrm>
            <a:off x="7178400" y="4195800"/>
            <a:ext cx="52344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450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0" name="CustomShape 29"/>
          <p:cNvSpPr/>
          <p:nvPr/>
        </p:nvSpPr>
        <p:spPr>
          <a:xfrm>
            <a:off x="6243480" y="3208320"/>
            <a:ext cx="52344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210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1" name="CustomShape 30"/>
          <p:cNvSpPr/>
          <p:nvPr/>
        </p:nvSpPr>
        <p:spPr>
          <a:xfrm>
            <a:off x="7380360" y="5157720"/>
            <a:ext cx="1439280" cy="642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weighted </a:t>
            </a:r>
            <a:r>
              <a:rPr lang="tr-TR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graph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2" name="CustomShape 31"/>
          <p:cNvSpPr/>
          <p:nvPr/>
        </p:nvSpPr>
        <p:spPr>
          <a:xfrm>
            <a:off x="3708360" y="5157720"/>
            <a:ext cx="1510920" cy="642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un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weighte</a:t>
            </a:r>
            <a:r>
              <a:rPr lang="tr-TR" sz="1800" b="1" strike="noStrike" spc="-1">
                <a:solidFill>
                  <a:srgbClr val="000000"/>
                </a:solidFill>
                <a:latin typeface="Arial"/>
                <a:ea typeface="DejaVu Sans"/>
              </a:rPr>
              <a:t>d graph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153" name="CustomShape 3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Shortest Path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CustomShape 1"/>
          <p:cNvSpPr/>
          <p:nvPr/>
        </p:nvSpPr>
        <p:spPr>
          <a:xfrm>
            <a:off x="6553080" y="6397560"/>
            <a:ext cx="213336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DF6A503-0BC8-495D-A711-8AD0A4B6D679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3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55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Shortest Path Problems</a:t>
            </a:r>
          </a:p>
        </p:txBody>
      </p:sp>
      <p:sp>
        <p:nvSpPr>
          <p:cNvPr id="156" name="CustomShape 3"/>
          <p:cNvSpPr/>
          <p:nvPr/>
        </p:nvSpPr>
        <p:spPr>
          <a:xfrm>
            <a:off x="351000" y="1213920"/>
            <a:ext cx="8573400" cy="50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64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333399"/>
                </a:solidFill>
                <a:latin typeface="Arial"/>
              </a:rPr>
              <a:t>How can we find the shortest route between two points on a map?</a:t>
            </a:r>
            <a:endParaRPr lang="en-US" sz="2800" b="0" strike="noStrike" spc="-1">
              <a:latin typeface="Arial"/>
            </a:endParaRPr>
          </a:p>
          <a:p>
            <a:pPr marL="432000" indent="-323640">
              <a:lnSpc>
                <a:spcPct val="12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solidFill>
                  <a:srgbClr val="333399"/>
                </a:solidFill>
                <a:latin typeface="Arial"/>
              </a:rPr>
              <a:t>Model the problem as a graph problem:</a:t>
            </a:r>
            <a:endParaRPr lang="en-US" sz="2800" b="0" strike="noStrike" spc="-1">
              <a:latin typeface="Arial"/>
            </a:endParaRPr>
          </a:p>
          <a:p>
            <a:pPr marL="864000" lvl="1" indent="-323640">
              <a:lnSpc>
                <a:spcPct val="12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Road map is a weighted graph: </a:t>
            </a:r>
            <a:endParaRPr lang="en-US" sz="2400" b="0" strike="noStrike" spc="-1">
              <a:latin typeface="Arial"/>
            </a:endParaRPr>
          </a:p>
          <a:p>
            <a:pPr marL="742680" indent="-285120">
              <a:lnSpc>
                <a:spcPct val="12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		</a:t>
            </a:r>
            <a:r>
              <a:rPr lang="en-US" sz="2400" b="0" strike="noStrike" spc="-1">
                <a:solidFill>
                  <a:srgbClr val="CC0000"/>
                </a:solidFill>
                <a:latin typeface="Comic Sans MS"/>
              </a:rPr>
              <a:t>vertices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 = cities</a:t>
            </a:r>
            <a:endParaRPr lang="en-US" sz="2400" b="0" strike="noStrike" spc="-1">
              <a:latin typeface="Arial"/>
            </a:endParaRPr>
          </a:p>
          <a:p>
            <a:pPr marL="742680" indent="-285120">
              <a:lnSpc>
                <a:spcPct val="12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		</a:t>
            </a:r>
            <a:r>
              <a:rPr lang="en-US" sz="2400" b="0" strike="noStrike" spc="-1">
                <a:solidFill>
                  <a:srgbClr val="008080"/>
                </a:solidFill>
                <a:latin typeface="Comic Sans MS"/>
              </a:rPr>
              <a:t>edges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 = road segments between cities</a:t>
            </a:r>
            <a:endParaRPr lang="en-US" sz="2400" b="0" strike="noStrike" spc="-1">
              <a:latin typeface="Arial"/>
            </a:endParaRPr>
          </a:p>
          <a:p>
            <a:pPr marL="742680" indent="-285120">
              <a:lnSpc>
                <a:spcPct val="12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		</a:t>
            </a:r>
            <a:r>
              <a:rPr lang="en-US" sz="2400" b="0" strike="noStrike" spc="-1">
                <a:solidFill>
                  <a:srgbClr val="006699"/>
                </a:solidFill>
                <a:latin typeface="Comic Sans MS"/>
              </a:rPr>
              <a:t>edge weights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 = road distances</a:t>
            </a:r>
            <a:endParaRPr lang="en-US" sz="2400" b="0" strike="noStrike" spc="-1">
              <a:latin typeface="Arial"/>
            </a:endParaRPr>
          </a:p>
          <a:p>
            <a:pPr marL="864000" lvl="1" indent="-323640">
              <a:lnSpc>
                <a:spcPct val="12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Goal: find a shortest path between two vertices (cities)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6553080" y="6397560"/>
            <a:ext cx="213336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317F7A7-5D21-4272-9C75-1491177A70CA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4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Shortest Path Problems</a:t>
            </a:r>
          </a:p>
        </p:txBody>
      </p:sp>
      <p:sp>
        <p:nvSpPr>
          <p:cNvPr id="159" name="CustomShape 3"/>
          <p:cNvSpPr/>
          <p:nvPr/>
        </p:nvSpPr>
        <p:spPr>
          <a:xfrm>
            <a:off x="371160" y="1122120"/>
            <a:ext cx="8573760" cy="5505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640">
              <a:lnSpc>
                <a:spcPct val="15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 dirty="0">
                <a:solidFill>
                  <a:srgbClr val="333399"/>
                </a:solidFill>
                <a:latin typeface="Arial"/>
              </a:rPr>
              <a:t>Input:</a:t>
            </a:r>
            <a:endParaRPr lang="en-US" sz="2400" b="0" strike="noStrike" spc="-1" dirty="0">
              <a:latin typeface="Arial"/>
            </a:endParaRPr>
          </a:p>
          <a:p>
            <a:pPr marL="864000" lvl="1" indent="-32364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Directed graph G = (V, E)</a:t>
            </a:r>
            <a:endParaRPr lang="en-US" sz="2000" b="0" strike="noStrike" spc="-1" dirty="0">
              <a:latin typeface="Arial"/>
            </a:endParaRPr>
          </a:p>
          <a:p>
            <a:pPr marL="864000" lvl="1" indent="-32364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Weight function w : E →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R</a:t>
            </a:r>
            <a:endParaRPr lang="en-US" sz="2000" b="0" strike="noStrike" spc="-1" dirty="0">
              <a:latin typeface="Arial"/>
            </a:endParaRPr>
          </a:p>
          <a:p>
            <a:pPr marL="432000" indent="-323640">
              <a:lnSpc>
                <a:spcPct val="15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 dirty="0">
                <a:solidFill>
                  <a:srgbClr val="333399"/>
                </a:solidFill>
                <a:latin typeface="Arial"/>
              </a:rPr>
              <a:t>Weight of path 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</a:rPr>
              <a:t>p = </a:t>
            </a:r>
            <a:r>
              <a:rPr lang="en-US" sz="2400" b="0" strike="noStrike" spc="-1" dirty="0">
                <a:solidFill>
                  <a:srgbClr val="333399"/>
                </a:solidFill>
                <a:latin typeface="Symbol"/>
                <a:ea typeface="Symbol"/>
              </a:rPr>
              <a:t>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v</a:t>
            </a:r>
            <a:r>
              <a:rPr lang="en-US" sz="2400" b="0" strike="noStrike" spc="-1" baseline="-25000" dirty="0">
                <a:solidFill>
                  <a:srgbClr val="333399"/>
                </a:solidFill>
                <a:latin typeface="Arial"/>
                <a:ea typeface="Symbol"/>
              </a:rPr>
              <a:t>0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, v</a:t>
            </a:r>
            <a:r>
              <a:rPr lang="en-US" sz="2400" b="0" strike="noStrike" spc="-1" baseline="-25000" dirty="0">
                <a:solidFill>
                  <a:srgbClr val="333399"/>
                </a:solidFill>
                <a:latin typeface="Arial"/>
                <a:ea typeface="Symbol"/>
              </a:rPr>
              <a:t>1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, . . . , </a:t>
            </a:r>
            <a:r>
              <a:rPr lang="en-US" sz="2400" b="0" strike="noStrike" spc="-1" dirty="0" err="1">
                <a:solidFill>
                  <a:srgbClr val="333399"/>
                </a:solidFill>
                <a:latin typeface="Arial"/>
                <a:ea typeface="Symbol"/>
              </a:rPr>
              <a:t>v</a:t>
            </a:r>
            <a:r>
              <a:rPr lang="en-US" sz="2400" b="0" strike="noStrike" spc="-1" baseline="-25000" dirty="0" err="1">
                <a:solidFill>
                  <a:srgbClr val="333399"/>
                </a:solidFill>
                <a:latin typeface="Arial"/>
                <a:ea typeface="Symbol"/>
              </a:rPr>
              <a:t>k</a:t>
            </a:r>
            <a:r>
              <a:rPr lang="en-US" sz="2400" b="0" strike="noStrike" spc="-1" dirty="0">
                <a:solidFill>
                  <a:srgbClr val="333399"/>
                </a:solidFill>
                <a:latin typeface="Symbol"/>
                <a:ea typeface="Symbol"/>
              </a:rPr>
              <a:t></a:t>
            </a:r>
            <a:endParaRPr lang="en-US" sz="2400" b="0" strike="noStrike" spc="-1" dirty="0">
              <a:latin typeface="Arial"/>
            </a:endParaRPr>
          </a:p>
          <a:p>
            <a:pPr>
              <a:lnSpc>
                <a:spcPct val="150000"/>
              </a:lnSpc>
              <a:spcBef>
                <a:spcPts val="598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strike="noStrike" spc="-1" dirty="0">
              <a:latin typeface="Arial"/>
            </a:endParaRPr>
          </a:p>
          <a:p>
            <a:pPr marL="432000" indent="-323640">
              <a:lnSpc>
                <a:spcPct val="15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 dirty="0">
                <a:solidFill>
                  <a:srgbClr val="333399"/>
                </a:solidFill>
                <a:latin typeface="Arial"/>
                <a:ea typeface="Symbol"/>
              </a:rPr>
              <a:t>Shortest-path weight 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from 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u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 to 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v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:</a:t>
            </a:r>
            <a:endParaRPr lang="en-US" sz="2400" b="0" strike="noStrike" spc="-1" dirty="0">
              <a:latin typeface="Arial"/>
            </a:endParaRPr>
          </a:p>
          <a:p>
            <a:pPr marL="342720" indent="-342360">
              <a:lnSpc>
                <a:spcPct val="15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	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δ(u, v)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 = min  w(p) : 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u      v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  if there exists a path from 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u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 to 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v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 </a:t>
            </a:r>
            <a:endParaRPr lang="en-US" sz="2400" b="0" strike="noStrike" spc="-1" dirty="0">
              <a:latin typeface="Arial"/>
            </a:endParaRPr>
          </a:p>
          <a:p>
            <a:pPr marL="342720" indent="-342360">
              <a:lnSpc>
                <a:spcPct val="15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		</a:t>
            </a:r>
            <a:r>
              <a:rPr lang="en-US" sz="2400" b="0" strike="noStrike" spc="-1">
                <a:solidFill>
                  <a:srgbClr val="333399"/>
                </a:solidFill>
                <a:latin typeface="Arial"/>
                <a:ea typeface="Symbol"/>
              </a:rPr>
              <a:t>	  ∞                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otherwise </a:t>
            </a:r>
            <a:endParaRPr lang="en-US" sz="2400" b="0" strike="noStrike" spc="-1" dirty="0">
              <a:latin typeface="Arial"/>
            </a:endParaRPr>
          </a:p>
          <a:p>
            <a:pPr marL="432000" indent="-323640">
              <a:lnSpc>
                <a:spcPct val="15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Shortest path 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u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 to 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v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 is any path 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p</a:t>
            </a:r>
            <a:r>
              <a:rPr lang="en-US" sz="2400" b="0" strike="noStrike" spc="-1" dirty="0">
                <a:solidFill>
                  <a:srgbClr val="333399"/>
                </a:solidFill>
                <a:latin typeface="Arial"/>
                <a:ea typeface="Symbol"/>
              </a:rPr>
              <a:t> such that </a:t>
            </a:r>
            <a:r>
              <a:rPr lang="en-US" sz="2400" b="0" strike="noStrike" spc="-1" dirty="0">
                <a:solidFill>
                  <a:srgbClr val="333399"/>
                </a:solidFill>
                <a:latin typeface="Comic Sans MS"/>
                <a:ea typeface="Symbol"/>
              </a:rPr>
              <a:t>w(p) = δ(u, v)</a:t>
            </a:r>
            <a:endParaRPr lang="en-US" sz="2400" b="0" strike="noStrike" spc="-1" dirty="0"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Formula 4"/>
              <p:cNvSpPr txBox="1"/>
              <p:nvPr/>
            </p:nvSpPr>
            <p:spPr>
              <a:xfrm>
                <a:off x="1906560" y="3357720"/>
                <a:ext cx="2330280" cy="79164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  <p:grpSp>
        <p:nvGrpSpPr>
          <p:cNvPr id="161" name="Group 5"/>
          <p:cNvGrpSpPr/>
          <p:nvPr/>
        </p:nvGrpSpPr>
        <p:grpSpPr>
          <a:xfrm>
            <a:off x="2333520" y="4849200"/>
            <a:ext cx="1577520" cy="1080720"/>
            <a:chOff x="2333520" y="4849200"/>
            <a:chExt cx="1577520" cy="1080720"/>
          </a:xfrm>
        </p:grpSpPr>
        <p:sp>
          <p:nvSpPr>
            <p:cNvPr id="162" name="CustomShape 6"/>
            <p:cNvSpPr/>
            <p:nvPr/>
          </p:nvSpPr>
          <p:spPr>
            <a:xfrm>
              <a:off x="3547800" y="5147640"/>
              <a:ext cx="363240" cy="90360"/>
            </a:xfrm>
            <a:custGeom>
              <a:avLst/>
              <a:gdLst/>
              <a:ahLst/>
              <a:cxnLst/>
              <a:rect l="l" t="t" r="r" b="b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3" name="CustomShape 7"/>
            <p:cNvSpPr/>
            <p:nvPr/>
          </p:nvSpPr>
          <p:spPr>
            <a:xfrm>
              <a:off x="3584520" y="4849200"/>
              <a:ext cx="28080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Comic Sans MS"/>
                  <a:ea typeface="DejaVu Sans"/>
                </a:rPr>
                <a:t>p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164" name="CustomShape 8"/>
            <p:cNvSpPr/>
            <p:nvPr/>
          </p:nvSpPr>
          <p:spPr>
            <a:xfrm>
              <a:off x="2333520" y="4993920"/>
              <a:ext cx="88560" cy="936000"/>
            </a:xfrm>
            <a:custGeom>
              <a:avLst/>
              <a:gdLst/>
              <a:ahLst/>
              <a:cxnLst/>
              <a:rect l="l" t="t" r="r" b="b"/>
              <a:pathLst>
                <a:path w="249" h="2603">
                  <a:moveTo>
                    <a:pt x="248" y="0"/>
                  </a:moveTo>
                  <a:cubicBezTo>
                    <a:pt x="186" y="0"/>
                    <a:pt x="124" y="108"/>
                    <a:pt x="124" y="216"/>
                  </a:cubicBezTo>
                  <a:lnTo>
                    <a:pt x="124" y="1084"/>
                  </a:lnTo>
                  <a:cubicBezTo>
                    <a:pt x="124" y="1192"/>
                    <a:pt x="62" y="1301"/>
                    <a:pt x="0" y="1301"/>
                  </a:cubicBezTo>
                  <a:cubicBezTo>
                    <a:pt x="62" y="1301"/>
                    <a:pt x="124" y="1409"/>
                    <a:pt x="124" y="1517"/>
                  </a:cubicBezTo>
                  <a:lnTo>
                    <a:pt x="124" y="2385"/>
                  </a:lnTo>
                  <a:cubicBezTo>
                    <a:pt x="124" y="2493"/>
                    <a:pt x="186" y="2602"/>
                    <a:pt x="248" y="2602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65" name="Group 9"/>
          <p:cNvGrpSpPr/>
          <p:nvPr/>
        </p:nvGrpSpPr>
        <p:grpSpPr>
          <a:xfrm>
            <a:off x="5535360" y="1270080"/>
            <a:ext cx="2995200" cy="2529720"/>
            <a:chOff x="5535360" y="1270080"/>
            <a:chExt cx="2995200" cy="2529720"/>
          </a:xfrm>
        </p:grpSpPr>
        <p:sp>
          <p:nvSpPr>
            <p:cNvPr id="166" name="Line 10"/>
            <p:cNvSpPr/>
            <p:nvPr/>
          </p:nvSpPr>
          <p:spPr>
            <a:xfrm flipV="1">
              <a:off x="6145200" y="1957320"/>
              <a:ext cx="414000" cy="40752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7" name="Line 11"/>
            <p:cNvSpPr/>
            <p:nvPr/>
          </p:nvSpPr>
          <p:spPr>
            <a:xfrm>
              <a:off x="6141960" y="2712960"/>
              <a:ext cx="407880" cy="41400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8" name="Line 12"/>
            <p:cNvSpPr/>
            <p:nvPr/>
          </p:nvSpPr>
          <p:spPr>
            <a:xfrm>
              <a:off x="6914880" y="1793520"/>
              <a:ext cx="908280" cy="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9" name="Line 13"/>
            <p:cNvSpPr/>
            <p:nvPr/>
          </p:nvSpPr>
          <p:spPr>
            <a:xfrm>
              <a:off x="6916680" y="3295440"/>
              <a:ext cx="907920" cy="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170" name="Group 14"/>
            <p:cNvGrpSpPr/>
            <p:nvPr/>
          </p:nvGrpSpPr>
          <p:grpSpPr>
            <a:xfrm>
              <a:off x="5535360" y="1270080"/>
              <a:ext cx="2995200" cy="2529720"/>
              <a:chOff x="5535360" y="1270080"/>
              <a:chExt cx="2995200" cy="2529720"/>
            </a:xfrm>
          </p:grpSpPr>
          <p:sp>
            <p:nvSpPr>
              <p:cNvPr id="171" name="CustomShape 15"/>
              <p:cNvSpPr/>
              <p:nvPr/>
            </p:nvSpPr>
            <p:spPr>
              <a:xfrm>
                <a:off x="5814720" y="2334960"/>
                <a:ext cx="42192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0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72" name="CustomShape 16"/>
              <p:cNvSpPr/>
              <p:nvPr/>
            </p:nvSpPr>
            <p:spPr>
              <a:xfrm>
                <a:off x="6495840" y="1596960"/>
                <a:ext cx="42192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73" name="CustomShape 17"/>
              <p:cNvSpPr/>
              <p:nvPr/>
            </p:nvSpPr>
            <p:spPr>
              <a:xfrm>
                <a:off x="7816680" y="1596960"/>
                <a:ext cx="42192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9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74" name="CustomShape 18"/>
              <p:cNvSpPr/>
              <p:nvPr/>
            </p:nvSpPr>
            <p:spPr>
              <a:xfrm>
                <a:off x="6495840" y="3074760"/>
                <a:ext cx="42192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75" name="CustomShape 19"/>
              <p:cNvSpPr/>
              <p:nvPr/>
            </p:nvSpPr>
            <p:spPr>
              <a:xfrm>
                <a:off x="7816680" y="3074760"/>
                <a:ext cx="42192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11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76" name="Line 20"/>
              <p:cNvSpPr/>
              <p:nvPr/>
            </p:nvSpPr>
            <p:spPr>
              <a:xfrm>
                <a:off x="6914880" y="1795320"/>
                <a:ext cx="9223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Line 21"/>
              <p:cNvSpPr/>
              <p:nvPr/>
            </p:nvSpPr>
            <p:spPr>
              <a:xfrm flipV="1">
                <a:off x="6143400" y="1957320"/>
                <a:ext cx="414360" cy="4140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Line 22"/>
              <p:cNvSpPr/>
              <p:nvPr/>
            </p:nvSpPr>
            <p:spPr>
              <a:xfrm>
                <a:off x="6145200" y="2700000"/>
                <a:ext cx="406080" cy="4284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CustomShape 23"/>
              <p:cNvSpPr/>
              <p:nvPr/>
            </p:nvSpPr>
            <p:spPr>
              <a:xfrm>
                <a:off x="6111720" y="19047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180" name="CustomShape 24"/>
              <p:cNvSpPr/>
              <p:nvPr/>
            </p:nvSpPr>
            <p:spPr>
              <a:xfrm>
                <a:off x="7223040" y="14792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181" name="CustomShape 25"/>
              <p:cNvSpPr/>
              <p:nvPr/>
            </p:nvSpPr>
            <p:spPr>
              <a:xfrm>
                <a:off x="6129360" y="28065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182" name="CustomShape 26"/>
              <p:cNvSpPr/>
              <p:nvPr/>
            </p:nvSpPr>
            <p:spPr>
              <a:xfrm>
                <a:off x="8237520" y="25412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183" name="CustomShape 27"/>
              <p:cNvSpPr/>
              <p:nvPr/>
            </p:nvSpPr>
            <p:spPr>
              <a:xfrm>
                <a:off x="7232400" y="32511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184" name="CustomShape 28"/>
              <p:cNvSpPr/>
              <p:nvPr/>
            </p:nvSpPr>
            <p:spPr>
              <a:xfrm>
                <a:off x="5535360" y="235404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s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85" name="CustomShape 29"/>
              <p:cNvSpPr/>
              <p:nvPr/>
            </p:nvSpPr>
            <p:spPr>
              <a:xfrm>
                <a:off x="6584760" y="1270080"/>
                <a:ext cx="2444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t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86" name="CustomShape 30"/>
              <p:cNvSpPr/>
              <p:nvPr/>
            </p:nvSpPr>
            <p:spPr>
              <a:xfrm>
                <a:off x="7889400" y="127008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x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87" name="CustomShape 31"/>
              <p:cNvSpPr/>
              <p:nvPr/>
            </p:nvSpPr>
            <p:spPr>
              <a:xfrm>
                <a:off x="6559200" y="343188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88" name="CustomShape 32"/>
              <p:cNvSpPr/>
              <p:nvPr/>
            </p:nvSpPr>
            <p:spPr>
              <a:xfrm>
                <a:off x="7914960" y="343188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z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189" name="Line 33"/>
              <p:cNvSpPr/>
              <p:nvPr/>
            </p:nvSpPr>
            <p:spPr>
              <a:xfrm>
                <a:off x="6924600" y="3298680"/>
                <a:ext cx="9079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Line 34"/>
              <p:cNvSpPr/>
              <p:nvPr/>
            </p:nvSpPr>
            <p:spPr>
              <a:xfrm flipV="1">
                <a:off x="6814800" y="1942920"/>
                <a:ext cx="1063800" cy="11505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CustomShape 35"/>
              <p:cNvSpPr/>
              <p:nvPr/>
            </p:nvSpPr>
            <p:spPr>
              <a:xfrm>
                <a:off x="6507000" y="1993680"/>
                <a:ext cx="136080" cy="109152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CustomShape 36"/>
              <p:cNvSpPr/>
              <p:nvPr/>
            </p:nvSpPr>
            <p:spPr>
              <a:xfrm>
                <a:off x="7802280" y="2011320"/>
                <a:ext cx="136440" cy="109116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CustomShape 37"/>
              <p:cNvSpPr/>
              <p:nvPr/>
            </p:nvSpPr>
            <p:spPr>
              <a:xfrm rot="10800000">
                <a:off x="8111880" y="1992240"/>
                <a:ext cx="136080" cy="109152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CustomShape 38"/>
              <p:cNvSpPr/>
              <p:nvPr/>
            </p:nvSpPr>
            <p:spPr>
              <a:xfrm rot="10800000">
                <a:off x="6772320" y="1987200"/>
                <a:ext cx="136440" cy="109152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Line 39"/>
              <p:cNvSpPr/>
              <p:nvPr/>
            </p:nvSpPr>
            <p:spPr>
              <a:xfrm flipH="1" flipV="1">
                <a:off x="6215040" y="2622240"/>
                <a:ext cx="1636560" cy="57744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CustomShape 40"/>
              <p:cNvSpPr/>
              <p:nvPr/>
            </p:nvSpPr>
            <p:spPr>
              <a:xfrm>
                <a:off x="7570800" y="25383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197" name="CustomShape 41"/>
              <p:cNvSpPr/>
              <p:nvPr/>
            </p:nvSpPr>
            <p:spPr>
              <a:xfrm>
                <a:off x="6276960" y="22618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198" name="CustomShape 42"/>
              <p:cNvSpPr/>
              <p:nvPr/>
            </p:nvSpPr>
            <p:spPr>
              <a:xfrm>
                <a:off x="6826320" y="225072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199" name="CustomShape 43"/>
              <p:cNvSpPr/>
              <p:nvPr/>
            </p:nvSpPr>
            <p:spPr>
              <a:xfrm>
                <a:off x="7273800" y="21096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4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00" name="CustomShape 44"/>
              <p:cNvSpPr/>
              <p:nvPr/>
            </p:nvSpPr>
            <p:spPr>
              <a:xfrm>
                <a:off x="7294320" y="27698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600" b="0" strike="noStrike" spc="-1">
                  <a:latin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66E50AF-9EBC-4294-9CD9-BE0930195223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5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Variants of Shortest Paths</a:t>
            </a:r>
          </a:p>
        </p:txBody>
      </p:sp>
      <p:sp>
        <p:nvSpPr>
          <p:cNvPr id="203" name="CustomShape 3"/>
          <p:cNvSpPr/>
          <p:nvPr/>
        </p:nvSpPr>
        <p:spPr>
          <a:xfrm>
            <a:off x="351000" y="1213920"/>
            <a:ext cx="8229240" cy="50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64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latin typeface="Arial"/>
              </a:rPr>
              <a:t>Single-source shortest path</a:t>
            </a:r>
            <a:endParaRPr lang="en-US" sz="24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</a:rPr>
              <a:t>G = (V, E) </a:t>
            </a:r>
            <a:r>
              <a:rPr lang="en-US" sz="2000" b="0" strike="noStrike" spc="-1">
                <a:latin typeface="Symbol"/>
                <a:ea typeface="Symbol"/>
              </a:rPr>
              <a:t></a:t>
            </a:r>
            <a:r>
              <a:rPr lang="en-US" sz="2000" b="0" strike="noStrike" spc="-1">
                <a:latin typeface="Arial"/>
                <a:ea typeface="Symbol"/>
              </a:rPr>
              <a:t> find a shortest path from a given source vertex </a:t>
            </a:r>
            <a:r>
              <a:rPr lang="en-US" sz="2000" b="0" strike="noStrike" spc="-1">
                <a:latin typeface="Comic Sans MS"/>
                <a:ea typeface="Symbol"/>
              </a:rPr>
              <a:t>s</a:t>
            </a:r>
            <a:r>
              <a:rPr lang="en-US" sz="2000" b="0" strike="noStrike" spc="-1">
                <a:latin typeface="Arial"/>
                <a:ea typeface="Symbol"/>
              </a:rPr>
              <a:t> to each vertex </a:t>
            </a:r>
            <a:r>
              <a:rPr lang="en-US" sz="2000" b="0" strike="noStrike" spc="-1">
                <a:latin typeface="Comic Sans MS"/>
                <a:ea typeface="Symbol"/>
              </a:rPr>
              <a:t>v </a:t>
            </a:r>
            <a:r>
              <a:rPr lang="en-US" sz="2000" b="0" strike="noStrike" spc="-1">
                <a:latin typeface="Symbol"/>
                <a:ea typeface="Symbol"/>
              </a:rPr>
              <a:t></a:t>
            </a:r>
            <a:r>
              <a:rPr lang="en-US" sz="2000" b="0" strike="noStrike" spc="-1">
                <a:latin typeface="Comic Sans MS"/>
                <a:ea typeface="Symbol"/>
              </a:rPr>
              <a:t> V</a:t>
            </a:r>
            <a:endParaRPr lang="en-US" sz="2000" b="0" strike="noStrike" spc="-1">
              <a:latin typeface="Arial"/>
            </a:endParaRPr>
          </a:p>
          <a:p>
            <a:pPr marL="432000" indent="-32364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latin typeface="Arial"/>
                <a:ea typeface="Symbol"/>
              </a:rPr>
              <a:t>Single-destination shortest path</a:t>
            </a:r>
            <a:endParaRPr lang="en-US" sz="24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  <a:ea typeface="Symbol"/>
              </a:rPr>
              <a:t>Find a shortest path to a given destination vertex </a:t>
            </a:r>
            <a:r>
              <a:rPr lang="en-US" sz="2000" b="1" strike="noStrike" spc="-1">
                <a:latin typeface="Arial"/>
                <a:ea typeface="Symbol"/>
              </a:rPr>
              <a:t>t</a:t>
            </a:r>
            <a:r>
              <a:rPr lang="en-US" sz="2000" b="0" strike="noStrike" spc="-1">
                <a:latin typeface="Comic Sans MS"/>
                <a:ea typeface="Symbol"/>
              </a:rPr>
              <a:t> </a:t>
            </a:r>
            <a:r>
              <a:rPr lang="en-US" sz="2000" b="0" strike="noStrike" spc="-1">
                <a:latin typeface="Arial"/>
                <a:ea typeface="Symbol"/>
              </a:rPr>
              <a:t>from each vertex </a:t>
            </a:r>
            <a:r>
              <a:rPr lang="en-US" sz="2000" b="0" strike="noStrike" spc="-1">
                <a:latin typeface="Comic Sans MS"/>
                <a:ea typeface="Symbol"/>
              </a:rPr>
              <a:t>v</a:t>
            </a:r>
            <a:endParaRPr lang="en-US" sz="20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  <a:ea typeface="Symbol"/>
              </a:rPr>
              <a:t>Reverse the direction of each edge </a:t>
            </a:r>
            <a:r>
              <a:rPr lang="en-US" sz="2000" b="0" strike="noStrike" spc="-1">
                <a:latin typeface="Symbol"/>
                <a:ea typeface="Symbol"/>
              </a:rPr>
              <a:t></a:t>
            </a:r>
            <a:r>
              <a:rPr lang="en-US" sz="2000" b="0" strike="noStrike" spc="-1">
                <a:latin typeface="Arial"/>
                <a:ea typeface="Symbol"/>
              </a:rPr>
              <a:t> single-source</a:t>
            </a:r>
            <a:endParaRPr lang="en-US" sz="2000" b="0" strike="noStrike" spc="-1">
              <a:latin typeface="Arial"/>
            </a:endParaRPr>
          </a:p>
          <a:p>
            <a:pPr marL="432000" indent="-32364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latin typeface="Arial"/>
                <a:ea typeface="Symbol"/>
              </a:rPr>
              <a:t>Single-pair shortest path</a:t>
            </a:r>
            <a:endParaRPr lang="en-US" sz="24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  <a:ea typeface="Symbol"/>
              </a:rPr>
              <a:t>Find a shortest path from </a:t>
            </a:r>
            <a:r>
              <a:rPr lang="en-US" sz="2000" b="0" strike="noStrike" spc="-1">
                <a:latin typeface="Comic Sans MS"/>
                <a:ea typeface="Symbol"/>
              </a:rPr>
              <a:t>u</a:t>
            </a:r>
            <a:r>
              <a:rPr lang="en-US" sz="2000" b="0" strike="noStrike" spc="-1">
                <a:latin typeface="Arial"/>
                <a:ea typeface="Symbol"/>
              </a:rPr>
              <a:t> to </a:t>
            </a:r>
            <a:r>
              <a:rPr lang="en-US" sz="2000" b="0" strike="noStrike" spc="-1">
                <a:latin typeface="Comic Sans MS"/>
                <a:ea typeface="Symbol"/>
              </a:rPr>
              <a:t>v</a:t>
            </a:r>
            <a:r>
              <a:rPr lang="en-US" sz="2000" b="0" strike="noStrike" spc="-1">
                <a:latin typeface="Arial"/>
                <a:ea typeface="Symbol"/>
              </a:rPr>
              <a:t> for given vertices </a:t>
            </a:r>
            <a:r>
              <a:rPr lang="en-US" sz="2000" b="0" strike="noStrike" spc="-1">
                <a:latin typeface="Comic Sans MS"/>
                <a:ea typeface="Symbol"/>
              </a:rPr>
              <a:t>u</a:t>
            </a:r>
            <a:r>
              <a:rPr lang="en-US" sz="2000" b="0" strike="noStrike" spc="-1">
                <a:latin typeface="Arial"/>
                <a:ea typeface="Symbol"/>
              </a:rPr>
              <a:t> and </a:t>
            </a:r>
            <a:r>
              <a:rPr lang="en-US" sz="2000" b="0" strike="noStrike" spc="-1">
                <a:latin typeface="Comic Sans MS"/>
                <a:ea typeface="Symbol"/>
              </a:rPr>
              <a:t>v</a:t>
            </a:r>
            <a:endParaRPr lang="en-US" sz="20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  <a:ea typeface="Symbol"/>
              </a:rPr>
              <a:t>Solve the single-source problem</a:t>
            </a:r>
            <a:endParaRPr lang="en-US" sz="2000" b="0" strike="noStrike" spc="-1">
              <a:latin typeface="Arial"/>
            </a:endParaRPr>
          </a:p>
          <a:p>
            <a:pPr marL="432000" indent="-32364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latin typeface="Arial"/>
                <a:ea typeface="Symbol"/>
              </a:rPr>
              <a:t>All-pairs shortest-paths</a:t>
            </a:r>
            <a:endParaRPr lang="en-US" sz="24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  <a:ea typeface="Symbol"/>
              </a:rPr>
              <a:t>Find a shortest path from </a:t>
            </a:r>
            <a:r>
              <a:rPr lang="en-US" sz="2000" b="0" strike="noStrike" spc="-1">
                <a:latin typeface="Comic Sans MS"/>
                <a:ea typeface="Symbol"/>
              </a:rPr>
              <a:t>u</a:t>
            </a:r>
            <a:r>
              <a:rPr lang="en-US" sz="2000" b="0" strike="noStrike" spc="-1">
                <a:latin typeface="Arial"/>
                <a:ea typeface="Symbol"/>
              </a:rPr>
              <a:t> to </a:t>
            </a:r>
            <a:r>
              <a:rPr lang="en-US" sz="2000" b="0" strike="noStrike" spc="-1">
                <a:latin typeface="Comic Sans MS"/>
                <a:ea typeface="Symbol"/>
              </a:rPr>
              <a:t>v</a:t>
            </a:r>
            <a:r>
              <a:rPr lang="en-US" sz="2000" b="0" strike="noStrike" spc="-1">
                <a:latin typeface="Arial"/>
                <a:ea typeface="Symbol"/>
              </a:rPr>
              <a:t> for every pair of vertices </a:t>
            </a:r>
            <a:r>
              <a:rPr lang="en-US" sz="2000" b="0" strike="noStrike" spc="-1">
                <a:latin typeface="Comic Sans MS"/>
                <a:ea typeface="Symbol"/>
              </a:rPr>
              <a:t>u</a:t>
            </a:r>
            <a:r>
              <a:rPr lang="en-US" sz="2000" b="0" strike="noStrike" spc="-1">
                <a:latin typeface="Arial"/>
                <a:ea typeface="Symbol"/>
              </a:rPr>
              <a:t> and </a:t>
            </a:r>
            <a:r>
              <a:rPr lang="en-US" sz="2000" b="0" strike="noStrike" spc="-1">
                <a:latin typeface="Comic Sans MS"/>
                <a:ea typeface="Symbol"/>
              </a:rPr>
              <a:t>v</a:t>
            </a:r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Effect">
                      <p:stCondLst>
                        <p:cond delay="indefinite"/>
                      </p:stCondLst>
                      <p:childTnLst>
                        <p:par>
                          <p:cTn id="2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CustomShape 1"/>
          <p:cNvSpPr/>
          <p:nvPr/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latin typeface="Arial"/>
              </a:rPr>
              <a:t>Why don’t we use BFS?</a:t>
            </a:r>
          </a:p>
        </p:txBody>
      </p:sp>
      <p:sp>
        <p:nvSpPr>
          <p:cNvPr id="205" name="CustomShape 2"/>
          <p:cNvSpPr/>
          <p:nvPr/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In case of unweighted graph, BFS is able to find the shortest path. </a:t>
            </a: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What about weighted graph?</a:t>
            </a:r>
          </a:p>
          <a:p>
            <a:pPr marL="864000" lvl="1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2800" b="0" strike="noStrike" spc="-1">
                <a:latin typeface="Arial"/>
              </a:rPr>
              <a:t>Why not?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2ADB184-C467-45EB-89E8-4D889104FBA8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7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07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b="0" strike="noStrike" spc="-1">
                <a:latin typeface="Arial"/>
              </a:rPr>
              <a:t>Optimal Substructure of Shortest Paths</a:t>
            </a:r>
          </a:p>
        </p:txBody>
      </p:sp>
      <p:sp>
        <p:nvSpPr>
          <p:cNvPr id="208" name="CustomShape 3"/>
          <p:cNvSpPr/>
          <p:nvPr/>
        </p:nvSpPr>
        <p:spPr>
          <a:xfrm>
            <a:off x="350640" y="1214280"/>
            <a:ext cx="8637120" cy="5391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7000"/>
          </a:bodyPr>
          <a:lstStyle/>
          <a:p>
            <a:pPr marL="342720" indent="-342360">
              <a:lnSpc>
                <a:spcPct val="13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>
                <a:latin typeface="Arial"/>
              </a:rPr>
              <a:t>Given:</a:t>
            </a:r>
          </a:p>
          <a:p>
            <a:pPr marL="864000" lvl="1" indent="-3236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</a:rPr>
              <a:t>A weighted, directed graph G = (V, E)</a:t>
            </a:r>
          </a:p>
          <a:p>
            <a:pPr marL="864000" lvl="1" indent="-3236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</a:rPr>
              <a:t>A weight function w: E </a:t>
            </a:r>
            <a:r>
              <a:rPr lang="en-US" sz="2000" b="0" strike="noStrike" spc="-1">
                <a:latin typeface="Symbol"/>
                <a:ea typeface="Symbol"/>
              </a:rPr>
              <a:t></a:t>
            </a:r>
            <a:r>
              <a:rPr lang="en-US" sz="2000" b="0" strike="noStrike" spc="-1">
                <a:latin typeface="Arial"/>
                <a:ea typeface="Symbol"/>
              </a:rPr>
              <a:t> </a:t>
            </a:r>
            <a:r>
              <a:rPr lang="en-US" sz="2000" b="0" strike="noStrike" spc="-1">
                <a:latin typeface="Arial Black"/>
                <a:ea typeface="Symbol"/>
              </a:rPr>
              <a:t>R</a:t>
            </a:r>
            <a:r>
              <a:rPr lang="en-US" sz="2000" b="0" strike="noStrike" spc="-1">
                <a:latin typeface="Arial"/>
                <a:ea typeface="Symbol"/>
              </a:rPr>
              <a:t>, </a:t>
            </a:r>
            <a:endParaRPr lang="en-US" sz="2000" b="0" strike="noStrike" spc="-1">
              <a:latin typeface="Arial"/>
            </a:endParaRPr>
          </a:p>
          <a:p>
            <a:pPr marL="864000" lvl="1" indent="-3236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  <a:ea typeface="Symbol"/>
              </a:rPr>
              <a:t>A shortest path </a:t>
            </a:r>
            <a:r>
              <a:rPr lang="en-US" sz="2000" b="0" strike="noStrike" spc="-1">
                <a:latin typeface="Comic Sans MS"/>
                <a:ea typeface="Symbol"/>
              </a:rPr>
              <a:t>p = </a:t>
            </a:r>
            <a:r>
              <a:rPr lang="en-US" sz="2000" b="0" strike="noStrike" spc="-1">
                <a:latin typeface="Symbol"/>
                <a:ea typeface="Symbol"/>
              </a:rPr>
              <a:t></a:t>
            </a:r>
            <a:r>
              <a:rPr lang="en-US" sz="2000" b="0" strike="noStrike" spc="-1">
                <a:latin typeface="Comic Sans MS"/>
                <a:ea typeface="Symbol"/>
              </a:rPr>
              <a:t>v</a:t>
            </a:r>
            <a:r>
              <a:rPr lang="en-US" sz="2000" b="0" strike="noStrike" spc="-1" baseline="-25000">
                <a:latin typeface="Comic Sans MS"/>
                <a:ea typeface="Symbol"/>
              </a:rPr>
              <a:t>1</a:t>
            </a:r>
            <a:r>
              <a:rPr lang="en-US" sz="2000" b="0" strike="noStrike" spc="-1">
                <a:latin typeface="Comic Sans MS"/>
                <a:ea typeface="Symbol"/>
              </a:rPr>
              <a:t>, v</a:t>
            </a:r>
            <a:r>
              <a:rPr lang="en-US" sz="2000" b="0" strike="noStrike" spc="-1" baseline="-25000">
                <a:latin typeface="Comic Sans MS"/>
                <a:ea typeface="Symbol"/>
              </a:rPr>
              <a:t>2</a:t>
            </a:r>
            <a:r>
              <a:rPr lang="en-US" sz="2000" b="0" strike="noStrike" spc="-1">
                <a:latin typeface="Comic Sans MS"/>
                <a:ea typeface="Symbol"/>
              </a:rPr>
              <a:t>, . . . , v</a:t>
            </a:r>
            <a:r>
              <a:rPr lang="en-US" sz="2000" b="0" strike="noStrike" spc="-1" baseline="-25000">
                <a:latin typeface="Comic Sans MS"/>
                <a:ea typeface="Symbol"/>
              </a:rPr>
              <a:t>k</a:t>
            </a:r>
            <a:r>
              <a:rPr lang="en-US" sz="2000" b="0" strike="noStrike" spc="-1">
                <a:latin typeface="Symbol"/>
                <a:ea typeface="Symbol"/>
              </a:rPr>
              <a:t></a:t>
            </a:r>
            <a:r>
              <a:rPr lang="en-US" sz="2000" b="0" strike="noStrike" spc="-1">
                <a:latin typeface="Arial"/>
                <a:ea typeface="Symbol"/>
              </a:rPr>
              <a:t> from </a:t>
            </a:r>
            <a:r>
              <a:rPr lang="en-US" sz="2000" b="0" strike="noStrike" spc="-1">
                <a:latin typeface="Comic Sans MS"/>
                <a:ea typeface="Symbol"/>
              </a:rPr>
              <a:t>v</a:t>
            </a:r>
            <a:r>
              <a:rPr lang="en-US" sz="2000" b="0" strike="noStrike" spc="-1" baseline="-25000">
                <a:latin typeface="Comic Sans MS"/>
                <a:ea typeface="Symbol"/>
              </a:rPr>
              <a:t>1</a:t>
            </a:r>
            <a:r>
              <a:rPr lang="en-US" sz="2000" b="0" strike="noStrike" spc="-1">
                <a:latin typeface="Arial"/>
                <a:ea typeface="Symbol"/>
              </a:rPr>
              <a:t> to </a:t>
            </a:r>
            <a:r>
              <a:rPr lang="en-US" sz="2000" b="0" strike="noStrike" spc="-1">
                <a:latin typeface="Comic Sans MS"/>
                <a:ea typeface="Symbol"/>
              </a:rPr>
              <a:t>v</a:t>
            </a:r>
            <a:r>
              <a:rPr lang="en-US" sz="2000" b="0" strike="noStrike" spc="-1" baseline="-25000">
                <a:latin typeface="Comic Sans MS"/>
                <a:ea typeface="Symbol"/>
              </a:rPr>
              <a:t>k</a:t>
            </a:r>
            <a:endParaRPr lang="en-US" sz="2000" b="0" strike="noStrike" spc="-1">
              <a:latin typeface="Arial"/>
            </a:endParaRPr>
          </a:p>
          <a:p>
            <a:pPr marL="864000" lvl="1" indent="-3236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>
                <a:latin typeface="Arial"/>
                <a:ea typeface="Symbol"/>
              </a:rPr>
              <a:t>A subpath of </a:t>
            </a:r>
            <a:r>
              <a:rPr lang="en-US" sz="2000" b="0" strike="noStrike" spc="-1">
                <a:latin typeface="Comic Sans MS"/>
                <a:ea typeface="Symbol"/>
              </a:rPr>
              <a:t>p</a:t>
            </a:r>
            <a:r>
              <a:rPr lang="en-US" sz="2000" b="0" strike="noStrike" spc="-1">
                <a:latin typeface="Arial"/>
                <a:ea typeface="Symbol"/>
              </a:rPr>
              <a:t>: </a:t>
            </a:r>
            <a:r>
              <a:rPr lang="en-US" sz="2000" b="0" strike="noStrike" spc="-1">
                <a:latin typeface="Comic Sans MS"/>
                <a:ea typeface="Symbol"/>
              </a:rPr>
              <a:t>p</a:t>
            </a:r>
            <a:r>
              <a:rPr lang="en-US" sz="2000" b="0" strike="noStrike" spc="-1" baseline="-25000">
                <a:latin typeface="Comic Sans MS"/>
                <a:ea typeface="Symbol"/>
              </a:rPr>
              <a:t>ij</a:t>
            </a:r>
            <a:r>
              <a:rPr lang="en-US" sz="2000" b="0" strike="noStrike" spc="-1">
                <a:latin typeface="Comic Sans MS"/>
                <a:ea typeface="Symbol"/>
              </a:rPr>
              <a:t> = </a:t>
            </a:r>
            <a:r>
              <a:rPr lang="en-US" sz="2000" b="0" strike="noStrike" spc="-1">
                <a:latin typeface="Symbol"/>
                <a:ea typeface="Symbol"/>
              </a:rPr>
              <a:t></a:t>
            </a:r>
            <a:r>
              <a:rPr lang="en-US" sz="2000" b="0" strike="noStrike" spc="-1">
                <a:latin typeface="Comic Sans MS"/>
                <a:ea typeface="Symbol"/>
              </a:rPr>
              <a:t>v</a:t>
            </a:r>
            <a:r>
              <a:rPr lang="en-US" sz="2000" b="0" strike="noStrike" spc="-1" baseline="-25000">
                <a:latin typeface="Comic Sans MS"/>
                <a:ea typeface="Symbol"/>
              </a:rPr>
              <a:t>i</a:t>
            </a:r>
            <a:r>
              <a:rPr lang="en-US" sz="2000" b="0" strike="noStrike" spc="-1">
                <a:latin typeface="Comic Sans MS"/>
                <a:ea typeface="Symbol"/>
              </a:rPr>
              <a:t>, v</a:t>
            </a:r>
            <a:r>
              <a:rPr lang="en-US" sz="2000" b="0" strike="noStrike" spc="-1" baseline="-25000">
                <a:latin typeface="Comic Sans MS"/>
                <a:ea typeface="Symbol"/>
              </a:rPr>
              <a:t>i+1</a:t>
            </a:r>
            <a:r>
              <a:rPr lang="en-US" sz="2000" b="0" strike="noStrike" spc="-1">
                <a:latin typeface="Comic Sans MS"/>
                <a:ea typeface="Symbol"/>
              </a:rPr>
              <a:t>, . . . , v</a:t>
            </a:r>
            <a:r>
              <a:rPr lang="en-US" sz="2000" b="0" strike="noStrike" spc="-1" baseline="-25000">
                <a:latin typeface="Comic Sans MS"/>
                <a:ea typeface="Symbol"/>
              </a:rPr>
              <a:t>j</a:t>
            </a:r>
            <a:r>
              <a:rPr lang="en-US" sz="2000" b="0" strike="noStrike" spc="-1">
                <a:latin typeface="Symbol"/>
                <a:ea typeface="Symbol"/>
              </a:rPr>
              <a:t></a:t>
            </a:r>
            <a:r>
              <a:rPr lang="en-US" sz="2000" b="0" strike="noStrike" spc="-1">
                <a:latin typeface="Arial"/>
                <a:ea typeface="Symbol"/>
              </a:rPr>
              <a:t>, with </a:t>
            </a:r>
            <a:r>
              <a:rPr lang="en-US" sz="2000" b="0" strike="noStrike" spc="-1">
                <a:latin typeface="Comic Sans MS"/>
                <a:ea typeface="Symbol"/>
              </a:rPr>
              <a:t>1 </a:t>
            </a:r>
            <a:r>
              <a:rPr lang="en-US" sz="2000" b="0" strike="noStrike" spc="-1">
                <a:latin typeface="Symbol"/>
                <a:ea typeface="Symbol"/>
              </a:rPr>
              <a:t></a:t>
            </a:r>
            <a:r>
              <a:rPr lang="en-US" sz="2000" b="0" strike="noStrike" spc="-1">
                <a:latin typeface="Comic Sans MS"/>
                <a:ea typeface="Symbol"/>
              </a:rPr>
              <a:t> i </a:t>
            </a:r>
            <a:r>
              <a:rPr lang="en-US" sz="2000" b="0" strike="noStrike" spc="-1">
                <a:latin typeface="Symbol"/>
                <a:ea typeface="Symbol"/>
              </a:rPr>
              <a:t></a:t>
            </a:r>
            <a:r>
              <a:rPr lang="en-US" sz="2000" b="0" strike="noStrike" spc="-1">
                <a:latin typeface="Comic Sans MS"/>
                <a:ea typeface="Symbol"/>
              </a:rPr>
              <a:t> j </a:t>
            </a:r>
            <a:r>
              <a:rPr lang="en-US" sz="2000" b="0" strike="noStrike" spc="-1">
                <a:latin typeface="Symbol"/>
                <a:ea typeface="Symbol"/>
              </a:rPr>
              <a:t></a:t>
            </a:r>
            <a:r>
              <a:rPr lang="en-US" sz="2000" b="0" strike="noStrike" spc="-1">
                <a:latin typeface="Comic Sans MS"/>
                <a:ea typeface="Symbol"/>
              </a:rPr>
              <a:t> k</a:t>
            </a:r>
            <a:endParaRPr lang="en-US" sz="2000" b="0" strike="noStrike" spc="-1">
              <a:latin typeface="Arial"/>
            </a:endParaRPr>
          </a:p>
          <a:p>
            <a:pPr marL="342720" indent="-342360">
              <a:lnSpc>
                <a:spcPct val="13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>
                <a:latin typeface="Arial"/>
                <a:ea typeface="Symbol"/>
              </a:rPr>
              <a:t>Then: </a:t>
            </a:r>
            <a:r>
              <a:rPr lang="en-US" sz="2400" b="0" strike="noStrike" spc="-1">
                <a:latin typeface="Comic Sans MS"/>
                <a:ea typeface="Symbol"/>
              </a:rPr>
              <a:t>p</a:t>
            </a:r>
            <a:r>
              <a:rPr lang="en-US" sz="2400" b="0" strike="noStrike" spc="-1" baseline="-25000">
                <a:latin typeface="Comic Sans MS"/>
                <a:ea typeface="Symbol"/>
              </a:rPr>
              <a:t>ij</a:t>
            </a:r>
            <a:r>
              <a:rPr lang="en-US" sz="2400" b="0" strike="noStrike" spc="-1">
                <a:latin typeface="Comic Sans MS"/>
                <a:ea typeface="Symbol"/>
              </a:rPr>
              <a:t> </a:t>
            </a:r>
            <a:r>
              <a:rPr lang="en-US" sz="2400" b="0" strike="noStrike" spc="-1">
                <a:latin typeface="Arial"/>
                <a:ea typeface="Symbol"/>
              </a:rPr>
              <a:t>is a shortest path from </a:t>
            </a:r>
            <a:r>
              <a:rPr lang="en-US" sz="2400" b="0" strike="noStrike" spc="-1">
                <a:latin typeface="Comic Sans MS"/>
                <a:ea typeface="Symbol"/>
              </a:rPr>
              <a:t>v</a:t>
            </a:r>
            <a:r>
              <a:rPr lang="en-US" sz="2400" b="0" strike="noStrike" spc="-1" baseline="-25000">
                <a:latin typeface="Comic Sans MS"/>
                <a:ea typeface="Symbol"/>
              </a:rPr>
              <a:t>i</a:t>
            </a:r>
            <a:r>
              <a:rPr lang="en-US" sz="2400" b="0" strike="noStrike" spc="-1">
                <a:latin typeface="Comic Sans MS"/>
                <a:ea typeface="Symbol"/>
              </a:rPr>
              <a:t> </a:t>
            </a:r>
            <a:r>
              <a:rPr lang="en-US" sz="2400" b="0" strike="noStrike" spc="-1">
                <a:latin typeface="Arial"/>
                <a:ea typeface="Symbol"/>
              </a:rPr>
              <a:t>to </a:t>
            </a:r>
            <a:r>
              <a:rPr lang="en-US" sz="2400" b="0" strike="noStrike" spc="-1">
                <a:latin typeface="Comic Sans MS"/>
                <a:ea typeface="Symbol"/>
              </a:rPr>
              <a:t>v</a:t>
            </a:r>
            <a:r>
              <a:rPr lang="en-US" sz="2400" b="0" strike="noStrike" spc="-1" baseline="-25000">
                <a:latin typeface="Comic Sans MS"/>
                <a:ea typeface="Symbol"/>
              </a:rPr>
              <a:t>j</a:t>
            </a:r>
            <a:endParaRPr lang="en-US" sz="2400" b="0" strike="noStrike" spc="-1">
              <a:latin typeface="Arial"/>
            </a:endParaRPr>
          </a:p>
          <a:p>
            <a:pPr marL="342720" indent="-342360">
              <a:lnSpc>
                <a:spcPct val="13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1" strike="noStrike" spc="-1">
                <a:latin typeface="Arial"/>
                <a:ea typeface="Symbol"/>
              </a:rPr>
              <a:t>Proof</a:t>
            </a:r>
            <a:r>
              <a:rPr lang="en-US" sz="2400" b="0" strike="noStrike" spc="-1">
                <a:latin typeface="Arial"/>
                <a:ea typeface="Symbol"/>
              </a:rPr>
              <a:t>: </a:t>
            </a:r>
            <a:r>
              <a:rPr lang="en-US" sz="2400" b="0" strike="noStrike" spc="-1">
                <a:latin typeface="Comic Sans MS"/>
                <a:ea typeface="Symbol"/>
              </a:rPr>
              <a:t>p = v</a:t>
            </a:r>
            <a:r>
              <a:rPr lang="en-US" sz="2400" b="0" strike="noStrike" spc="-1" baseline="-25000">
                <a:latin typeface="Comic Sans MS"/>
                <a:ea typeface="Symbol"/>
              </a:rPr>
              <a:t>1</a:t>
            </a:r>
            <a:r>
              <a:rPr lang="en-US" sz="2400" b="0" strike="noStrike" spc="-1">
                <a:latin typeface="Comic Sans MS"/>
                <a:ea typeface="Symbol"/>
              </a:rPr>
              <a:t>          v</a:t>
            </a:r>
            <a:r>
              <a:rPr lang="en-US" sz="2400" b="0" strike="noStrike" spc="-1" baseline="-25000">
                <a:latin typeface="Comic Sans MS"/>
                <a:ea typeface="Symbol"/>
              </a:rPr>
              <a:t>i      </a:t>
            </a:r>
            <a:r>
              <a:rPr lang="en-US" sz="2400" b="0" strike="noStrike" spc="-1">
                <a:latin typeface="Comic Sans MS"/>
                <a:ea typeface="Symbol"/>
              </a:rPr>
              <a:t>       v</a:t>
            </a:r>
            <a:r>
              <a:rPr lang="en-US" sz="2400" b="0" strike="noStrike" spc="-1" baseline="-25000">
                <a:latin typeface="Comic Sans MS"/>
                <a:ea typeface="Symbol"/>
              </a:rPr>
              <a:t>j</a:t>
            </a:r>
            <a:r>
              <a:rPr lang="en-US" sz="2400" b="0" strike="noStrike" spc="-1">
                <a:latin typeface="Comic Sans MS"/>
                <a:ea typeface="Symbol"/>
              </a:rPr>
              <a:t>          v</a:t>
            </a:r>
            <a:r>
              <a:rPr lang="en-US" sz="2400" b="0" strike="noStrike" spc="-1" baseline="-25000">
                <a:latin typeface="Comic Sans MS"/>
                <a:ea typeface="Symbol"/>
              </a:rPr>
              <a:t>k</a:t>
            </a:r>
            <a:endParaRPr lang="en-US" sz="2400" b="0" strike="noStrike" spc="-1">
              <a:latin typeface="Arial"/>
            </a:endParaRPr>
          </a:p>
          <a:p>
            <a:pPr marL="342720" indent="-342360">
              <a:lnSpc>
                <a:spcPct val="13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>
                <a:latin typeface="Arial"/>
                <a:ea typeface="Symbol"/>
              </a:rPr>
              <a:t>		  </a:t>
            </a:r>
            <a:r>
              <a:rPr lang="en-US" sz="2400" b="0" strike="noStrike" spc="-1">
                <a:latin typeface="Comic Sans MS"/>
                <a:ea typeface="Symbol"/>
              </a:rPr>
              <a:t>w(p) = w(p</a:t>
            </a:r>
            <a:r>
              <a:rPr lang="en-US" sz="2400" b="0" strike="noStrike" spc="-1" baseline="-25000">
                <a:latin typeface="Comic Sans MS"/>
                <a:ea typeface="Symbol"/>
              </a:rPr>
              <a:t>1i</a:t>
            </a:r>
            <a:r>
              <a:rPr lang="en-US" sz="2400" b="0" strike="noStrike" spc="-1">
                <a:latin typeface="Comic Sans MS"/>
                <a:ea typeface="Symbol"/>
              </a:rPr>
              <a:t>) + w(p</a:t>
            </a:r>
            <a:r>
              <a:rPr lang="en-US" sz="2400" b="0" strike="noStrike" spc="-1" baseline="-25000">
                <a:latin typeface="Comic Sans MS"/>
                <a:ea typeface="Symbol"/>
              </a:rPr>
              <a:t>ij</a:t>
            </a:r>
            <a:r>
              <a:rPr lang="en-US" sz="2400" b="0" strike="noStrike" spc="-1">
                <a:latin typeface="Comic Sans MS"/>
                <a:ea typeface="Symbol"/>
              </a:rPr>
              <a:t>) + w(p</a:t>
            </a:r>
            <a:r>
              <a:rPr lang="en-US" sz="2400" b="0" strike="noStrike" spc="-1" baseline="-25000">
                <a:latin typeface="Comic Sans MS"/>
                <a:ea typeface="Symbol"/>
              </a:rPr>
              <a:t>jk</a:t>
            </a:r>
            <a:r>
              <a:rPr lang="en-US" sz="2400" b="0" strike="noStrike" spc="-1">
                <a:latin typeface="Comic Sans MS"/>
                <a:ea typeface="Symbol"/>
              </a:rPr>
              <a:t>)</a:t>
            </a:r>
            <a:endParaRPr lang="en-US" sz="2400" b="0" strike="noStrike" spc="-1">
              <a:latin typeface="Arial"/>
            </a:endParaRPr>
          </a:p>
          <a:p>
            <a:pPr marL="342720" indent="-342360">
              <a:lnSpc>
                <a:spcPct val="13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400" b="0" strike="noStrike" spc="-1">
                <a:latin typeface="Arial"/>
                <a:ea typeface="Symbol"/>
              </a:rPr>
              <a:t>  Assume </a:t>
            </a:r>
            <a:r>
              <a:rPr lang="en-US" sz="2400" b="0" strike="noStrike" spc="-1">
                <a:latin typeface="Symbol"/>
                <a:ea typeface="Symbol"/>
              </a:rPr>
              <a:t></a:t>
            </a:r>
            <a:r>
              <a:rPr lang="en-US" sz="2400" b="0" strike="noStrike" spc="-1">
                <a:latin typeface="Arial"/>
                <a:ea typeface="Symbol"/>
              </a:rPr>
              <a:t> </a:t>
            </a:r>
            <a:r>
              <a:rPr lang="en-US" sz="2400" b="0" strike="noStrike" spc="-1">
                <a:latin typeface="Comic Sans MS"/>
                <a:ea typeface="Symbol"/>
              </a:rPr>
              <a:t>p</a:t>
            </a:r>
            <a:r>
              <a:rPr lang="en-US" sz="2400" b="0" strike="noStrike" spc="-1" baseline="-25000">
                <a:latin typeface="Comic Sans MS"/>
                <a:ea typeface="Symbol"/>
              </a:rPr>
              <a:t>ij</a:t>
            </a:r>
            <a:r>
              <a:rPr lang="en-US" sz="2400" b="0" strike="noStrike" spc="-1">
                <a:latin typeface="Comic Sans MS"/>
                <a:ea typeface="Symbol"/>
              </a:rPr>
              <a:t>’</a:t>
            </a:r>
            <a:r>
              <a:rPr lang="en-US" sz="2400" b="0" strike="noStrike" spc="-1">
                <a:latin typeface="Arial"/>
                <a:ea typeface="Symbol"/>
              </a:rPr>
              <a:t> from </a:t>
            </a:r>
            <a:r>
              <a:rPr lang="en-US" sz="2400" b="0" strike="noStrike" spc="-1">
                <a:latin typeface="Comic Sans MS"/>
                <a:ea typeface="Symbol"/>
              </a:rPr>
              <a:t>v</a:t>
            </a:r>
            <a:r>
              <a:rPr lang="en-US" sz="2400" b="0" strike="noStrike" spc="-1" baseline="-25000">
                <a:latin typeface="Comic Sans MS"/>
                <a:ea typeface="Symbol"/>
              </a:rPr>
              <a:t>i</a:t>
            </a:r>
            <a:r>
              <a:rPr lang="en-US" sz="2400" b="0" strike="noStrike" spc="-1">
                <a:latin typeface="Arial"/>
                <a:ea typeface="Symbol"/>
              </a:rPr>
              <a:t> to </a:t>
            </a:r>
            <a:r>
              <a:rPr lang="en-US" sz="2400" b="0" strike="noStrike" spc="-1">
                <a:latin typeface="Comic Sans MS"/>
                <a:ea typeface="Symbol"/>
              </a:rPr>
              <a:t>v</a:t>
            </a:r>
            <a:r>
              <a:rPr lang="en-US" sz="2400" b="0" strike="noStrike" spc="-1" baseline="-25000">
                <a:latin typeface="Comic Sans MS"/>
                <a:ea typeface="Symbol"/>
              </a:rPr>
              <a:t>j</a:t>
            </a:r>
            <a:r>
              <a:rPr lang="en-US" sz="2400" b="0" strike="noStrike" spc="-1">
                <a:latin typeface="Arial"/>
                <a:ea typeface="Symbol"/>
              </a:rPr>
              <a:t> with </a:t>
            </a:r>
            <a:r>
              <a:rPr lang="en-US" sz="2400" b="0" strike="noStrike" spc="-1">
                <a:latin typeface="Comic Sans MS"/>
                <a:ea typeface="Symbol"/>
              </a:rPr>
              <a:t>w(p</a:t>
            </a:r>
            <a:r>
              <a:rPr lang="en-US" sz="2400" b="0" strike="noStrike" spc="-1" baseline="-25000">
                <a:latin typeface="Comic Sans MS"/>
                <a:ea typeface="Symbol"/>
              </a:rPr>
              <a:t>ij</a:t>
            </a:r>
            <a:r>
              <a:rPr lang="en-US" sz="2400" b="0" strike="noStrike" spc="-1">
                <a:latin typeface="Comic Sans MS"/>
                <a:ea typeface="Symbol"/>
              </a:rPr>
              <a:t>’) &lt; w(p</a:t>
            </a:r>
            <a:r>
              <a:rPr lang="en-US" sz="2400" b="0" strike="noStrike" spc="-1" baseline="-25000">
                <a:latin typeface="Comic Sans MS"/>
                <a:ea typeface="Symbol"/>
              </a:rPr>
              <a:t>ij</a:t>
            </a:r>
            <a:r>
              <a:rPr lang="en-US" sz="2400" b="0" strike="noStrike" spc="-1">
                <a:latin typeface="Comic Sans MS"/>
                <a:ea typeface="Symbol"/>
              </a:rPr>
              <a:t>)</a:t>
            </a:r>
            <a:endParaRPr lang="en-US" sz="2400" b="0" strike="noStrike" spc="-1">
              <a:latin typeface="Arial"/>
            </a:endParaRPr>
          </a:p>
          <a:p>
            <a:pPr marL="342720" indent="-342360">
              <a:lnSpc>
                <a:spcPct val="13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400" b="0" strike="noStrike" spc="-1">
                <a:latin typeface="Arial"/>
                <a:ea typeface="Symbol"/>
              </a:rPr>
              <a:t>  </a:t>
            </a:r>
            <a:r>
              <a:rPr lang="en-US" sz="2400" b="0" strike="noStrike" spc="-1">
                <a:latin typeface="Symbol"/>
                <a:ea typeface="Symbol"/>
              </a:rPr>
              <a:t></a:t>
            </a:r>
            <a:r>
              <a:rPr lang="en-US" sz="2400" b="0" strike="noStrike" spc="-1">
                <a:latin typeface="Arial"/>
                <a:ea typeface="Symbol"/>
              </a:rPr>
              <a:t> </a:t>
            </a:r>
            <a:r>
              <a:rPr lang="en-US" sz="2400" b="0" strike="noStrike" spc="-1">
                <a:latin typeface="Comic Sans MS"/>
                <a:ea typeface="Symbol"/>
              </a:rPr>
              <a:t>w(p’) = w(p</a:t>
            </a:r>
            <a:r>
              <a:rPr lang="en-US" sz="2400" b="0" strike="noStrike" spc="-1" baseline="-25000">
                <a:latin typeface="Comic Sans MS"/>
                <a:ea typeface="Symbol"/>
              </a:rPr>
              <a:t>1i</a:t>
            </a:r>
            <a:r>
              <a:rPr lang="en-US" sz="2400" b="0" strike="noStrike" spc="-1">
                <a:latin typeface="Comic Sans MS"/>
                <a:ea typeface="Symbol"/>
              </a:rPr>
              <a:t>) + w(p</a:t>
            </a:r>
            <a:r>
              <a:rPr lang="en-US" sz="2400" b="0" strike="noStrike" spc="-1" baseline="-25000">
                <a:latin typeface="Comic Sans MS"/>
                <a:ea typeface="Symbol"/>
              </a:rPr>
              <a:t>ij</a:t>
            </a:r>
            <a:r>
              <a:rPr lang="en-US" sz="2400" b="0" strike="noStrike" spc="-1">
                <a:latin typeface="Comic Sans MS"/>
                <a:ea typeface="Symbol"/>
              </a:rPr>
              <a:t>’) + w(p</a:t>
            </a:r>
            <a:r>
              <a:rPr lang="en-US" sz="2400" b="0" strike="noStrike" spc="-1" baseline="-25000">
                <a:latin typeface="Comic Sans MS"/>
                <a:ea typeface="Symbol"/>
              </a:rPr>
              <a:t>jk</a:t>
            </a:r>
            <a:r>
              <a:rPr lang="en-US" sz="2400" b="0" strike="noStrike" spc="-1">
                <a:latin typeface="Comic Sans MS"/>
                <a:ea typeface="Symbol"/>
              </a:rPr>
              <a:t>) &lt; w(p)</a:t>
            </a:r>
            <a:r>
              <a:rPr lang="en-US" sz="2400" b="0" strike="noStrike" spc="-1">
                <a:latin typeface="Arial"/>
                <a:ea typeface="Symbol"/>
              </a:rPr>
              <a:t> </a:t>
            </a:r>
            <a:r>
              <a:rPr lang="en-US" sz="2000" b="0" strike="noStrike" spc="-1">
                <a:solidFill>
                  <a:srgbClr val="DD0111"/>
                </a:solidFill>
                <a:latin typeface="Arial"/>
                <a:ea typeface="Symbol"/>
              </a:rPr>
              <a:t>contradiction!</a:t>
            </a:r>
            <a:endParaRPr lang="en-US" sz="2000" b="0" strike="noStrike" spc="-1">
              <a:latin typeface="Arial"/>
            </a:endParaRPr>
          </a:p>
        </p:txBody>
      </p:sp>
      <p:grpSp>
        <p:nvGrpSpPr>
          <p:cNvPr id="209" name="Group 4"/>
          <p:cNvGrpSpPr/>
          <p:nvPr/>
        </p:nvGrpSpPr>
        <p:grpSpPr>
          <a:xfrm>
            <a:off x="2136960" y="4241160"/>
            <a:ext cx="2198880" cy="483840"/>
            <a:chOff x="2136960" y="4241160"/>
            <a:chExt cx="2198880" cy="483840"/>
          </a:xfrm>
        </p:grpSpPr>
        <p:sp>
          <p:nvSpPr>
            <p:cNvPr id="210" name="CustomShape 5"/>
            <p:cNvSpPr/>
            <p:nvPr/>
          </p:nvSpPr>
          <p:spPr>
            <a:xfrm>
              <a:off x="2145600" y="4611240"/>
              <a:ext cx="363240" cy="90000"/>
            </a:xfrm>
            <a:custGeom>
              <a:avLst/>
              <a:gdLst/>
              <a:ahLst/>
              <a:cxnLst/>
              <a:rect l="l" t="t" r="r" b="b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1" name="CustomShape 6"/>
            <p:cNvSpPr/>
            <p:nvPr/>
          </p:nvSpPr>
          <p:spPr>
            <a:xfrm>
              <a:off x="2136960" y="4241160"/>
              <a:ext cx="370800" cy="405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Comic Sans MS"/>
                  <a:ea typeface="DejaVu Sans"/>
                </a:rPr>
                <a:t>p</a:t>
              </a:r>
              <a:r>
                <a:rPr lang="en-US" sz="1800" b="0" strike="noStrike" spc="-1" baseline="-25000">
                  <a:solidFill>
                    <a:srgbClr val="000000"/>
                  </a:solidFill>
                  <a:latin typeface="Comic Sans MS"/>
                  <a:ea typeface="DejaVu Sans"/>
                </a:rPr>
                <a:t>1i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12" name="CustomShape 7"/>
            <p:cNvSpPr/>
            <p:nvPr/>
          </p:nvSpPr>
          <p:spPr>
            <a:xfrm>
              <a:off x="3084120" y="4623840"/>
              <a:ext cx="362880" cy="90360"/>
            </a:xfrm>
            <a:custGeom>
              <a:avLst/>
              <a:gdLst/>
              <a:ahLst/>
              <a:cxnLst/>
              <a:rect l="l" t="t" r="r" b="b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3" name="CustomShape 8"/>
            <p:cNvSpPr/>
            <p:nvPr/>
          </p:nvSpPr>
          <p:spPr>
            <a:xfrm>
              <a:off x="3086280" y="4254120"/>
              <a:ext cx="342720" cy="405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Comic Sans MS"/>
                  <a:ea typeface="DejaVu Sans"/>
                </a:rPr>
                <a:t>p</a:t>
              </a:r>
              <a:r>
                <a:rPr lang="en-US" sz="1800" b="0" strike="noStrike" spc="-1" baseline="-25000">
                  <a:solidFill>
                    <a:srgbClr val="000000"/>
                  </a:solidFill>
                  <a:latin typeface="Comic Sans MS"/>
                  <a:ea typeface="DejaVu Sans"/>
                </a:rPr>
                <a:t>ij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14" name="CustomShape 9"/>
            <p:cNvSpPr/>
            <p:nvPr/>
          </p:nvSpPr>
          <p:spPr>
            <a:xfrm>
              <a:off x="3958560" y="4635000"/>
              <a:ext cx="363240" cy="90000"/>
            </a:xfrm>
            <a:custGeom>
              <a:avLst/>
              <a:gdLst/>
              <a:ahLst/>
              <a:cxnLst/>
              <a:rect l="l" t="t" r="r" b="b"/>
              <a:pathLst>
                <a:path w="229" h="57">
                  <a:moveTo>
                    <a:pt x="0" y="26"/>
                  </a:moveTo>
                  <a:cubicBezTo>
                    <a:pt x="18" y="13"/>
                    <a:pt x="36" y="0"/>
                    <a:pt x="54" y="4"/>
                  </a:cubicBezTo>
                  <a:cubicBezTo>
                    <a:pt x="72" y="8"/>
                    <a:pt x="88" y="49"/>
                    <a:pt x="108" y="53"/>
                  </a:cubicBezTo>
                  <a:cubicBezTo>
                    <a:pt x="128" y="57"/>
                    <a:pt x="155" y="30"/>
                    <a:pt x="175" y="26"/>
                  </a:cubicBezTo>
                  <a:cubicBezTo>
                    <a:pt x="195" y="22"/>
                    <a:pt x="212" y="24"/>
                    <a:pt x="229" y="26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CustomShape 10"/>
            <p:cNvSpPr/>
            <p:nvPr/>
          </p:nvSpPr>
          <p:spPr>
            <a:xfrm>
              <a:off x="3968280" y="4265280"/>
              <a:ext cx="367560" cy="4053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Comic Sans MS"/>
                  <a:ea typeface="DejaVu Sans"/>
                </a:rPr>
                <a:t>p</a:t>
              </a:r>
              <a:r>
                <a:rPr lang="en-US" sz="1800" b="0" strike="noStrike" spc="-1" baseline="-25000">
                  <a:solidFill>
                    <a:srgbClr val="000000"/>
                  </a:solidFill>
                  <a:latin typeface="Comic Sans MS"/>
                  <a:ea typeface="DejaVu Sans"/>
                </a:rPr>
                <a:t>jk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216" name="CustomShape 11"/>
          <p:cNvSpPr/>
          <p:nvPr/>
        </p:nvSpPr>
        <p:spPr>
          <a:xfrm>
            <a:off x="5929200" y="2179800"/>
            <a:ext cx="285480" cy="28512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7" name="CustomShape 12"/>
          <p:cNvSpPr/>
          <p:nvPr/>
        </p:nvSpPr>
        <p:spPr>
          <a:xfrm>
            <a:off x="6824520" y="2444760"/>
            <a:ext cx="285480" cy="2854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8" name="CustomShape 13"/>
          <p:cNvSpPr/>
          <p:nvPr/>
        </p:nvSpPr>
        <p:spPr>
          <a:xfrm>
            <a:off x="7518240" y="1717560"/>
            <a:ext cx="285480" cy="2854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9" name="CustomShape 14"/>
          <p:cNvSpPr/>
          <p:nvPr/>
        </p:nvSpPr>
        <p:spPr>
          <a:xfrm>
            <a:off x="8439120" y="2054160"/>
            <a:ext cx="285480" cy="28548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0" name="CustomShape 15"/>
          <p:cNvSpPr/>
          <p:nvPr/>
        </p:nvSpPr>
        <p:spPr>
          <a:xfrm>
            <a:off x="6208560" y="2344680"/>
            <a:ext cx="649080" cy="163080"/>
          </a:xfrm>
          <a:custGeom>
            <a:avLst/>
            <a:gdLst/>
            <a:ahLst/>
            <a:cxnLst/>
            <a:rect l="l" t="t" r="r" b="b"/>
            <a:pathLst>
              <a:path w="409" h="103">
                <a:moveTo>
                  <a:pt x="0" y="8"/>
                </a:moveTo>
                <a:cubicBezTo>
                  <a:pt x="38" y="1"/>
                  <a:pt x="63" y="0"/>
                  <a:pt x="103" y="4"/>
                </a:cubicBezTo>
                <a:cubicBezTo>
                  <a:pt x="115" y="7"/>
                  <a:pt x="128" y="8"/>
                  <a:pt x="139" y="13"/>
                </a:cubicBezTo>
                <a:cubicBezTo>
                  <a:pt x="149" y="18"/>
                  <a:pt x="166" y="31"/>
                  <a:pt x="166" y="31"/>
                </a:cubicBezTo>
                <a:cubicBezTo>
                  <a:pt x="207" y="90"/>
                  <a:pt x="143" y="3"/>
                  <a:pt x="189" y="49"/>
                </a:cubicBezTo>
                <a:cubicBezTo>
                  <a:pt x="192" y="52"/>
                  <a:pt x="190" y="59"/>
                  <a:pt x="193" y="62"/>
                </a:cubicBezTo>
                <a:cubicBezTo>
                  <a:pt x="233" y="102"/>
                  <a:pt x="309" y="92"/>
                  <a:pt x="355" y="94"/>
                </a:cubicBezTo>
                <a:cubicBezTo>
                  <a:pt x="368" y="96"/>
                  <a:pt x="395" y="103"/>
                  <a:pt x="409" y="103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1" name="CustomShape 16"/>
          <p:cNvSpPr/>
          <p:nvPr/>
        </p:nvSpPr>
        <p:spPr>
          <a:xfrm>
            <a:off x="6951600" y="1871640"/>
            <a:ext cx="556920" cy="564840"/>
          </a:xfrm>
          <a:custGeom>
            <a:avLst/>
            <a:gdLst/>
            <a:ahLst/>
            <a:cxnLst/>
            <a:rect l="l" t="t" r="r" b="b"/>
            <a:pathLst>
              <a:path w="351" h="356">
                <a:moveTo>
                  <a:pt x="22" y="356"/>
                </a:moveTo>
                <a:cubicBezTo>
                  <a:pt x="15" y="333"/>
                  <a:pt x="7" y="311"/>
                  <a:pt x="0" y="288"/>
                </a:cubicBezTo>
                <a:cubicBezTo>
                  <a:pt x="1" y="266"/>
                  <a:pt x="2" y="243"/>
                  <a:pt x="4" y="221"/>
                </a:cubicBezTo>
                <a:cubicBezTo>
                  <a:pt x="10" y="170"/>
                  <a:pt x="99" y="162"/>
                  <a:pt x="135" y="158"/>
                </a:cubicBezTo>
                <a:cubicBezTo>
                  <a:pt x="149" y="153"/>
                  <a:pt x="160" y="144"/>
                  <a:pt x="175" y="140"/>
                </a:cubicBezTo>
                <a:cubicBezTo>
                  <a:pt x="191" y="130"/>
                  <a:pt x="198" y="117"/>
                  <a:pt x="211" y="104"/>
                </a:cubicBezTo>
                <a:cubicBezTo>
                  <a:pt x="218" y="85"/>
                  <a:pt x="260" y="43"/>
                  <a:pt x="279" y="36"/>
                </a:cubicBezTo>
                <a:cubicBezTo>
                  <a:pt x="300" y="15"/>
                  <a:pt x="332" y="19"/>
                  <a:pt x="351" y="0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2" name="CustomShape 17"/>
          <p:cNvSpPr/>
          <p:nvPr/>
        </p:nvSpPr>
        <p:spPr>
          <a:xfrm>
            <a:off x="7108920" y="2022480"/>
            <a:ext cx="505800" cy="506160"/>
          </a:xfrm>
          <a:custGeom>
            <a:avLst/>
            <a:gdLst/>
            <a:ahLst/>
            <a:cxnLst/>
            <a:rect l="l" t="t" r="r" b="b"/>
            <a:pathLst>
              <a:path w="319" h="319">
                <a:moveTo>
                  <a:pt x="0" y="319"/>
                </a:moveTo>
                <a:cubicBezTo>
                  <a:pt x="38" y="316"/>
                  <a:pt x="64" y="307"/>
                  <a:pt x="99" y="297"/>
                </a:cubicBezTo>
                <a:cubicBezTo>
                  <a:pt x="108" y="288"/>
                  <a:pt x="118" y="280"/>
                  <a:pt x="126" y="270"/>
                </a:cubicBezTo>
                <a:cubicBezTo>
                  <a:pt x="133" y="262"/>
                  <a:pt x="144" y="243"/>
                  <a:pt x="144" y="243"/>
                </a:cubicBezTo>
                <a:cubicBezTo>
                  <a:pt x="150" y="222"/>
                  <a:pt x="167" y="178"/>
                  <a:pt x="184" y="166"/>
                </a:cubicBezTo>
                <a:cubicBezTo>
                  <a:pt x="192" y="145"/>
                  <a:pt x="203" y="148"/>
                  <a:pt x="225" y="144"/>
                </a:cubicBezTo>
                <a:cubicBezTo>
                  <a:pt x="256" y="123"/>
                  <a:pt x="242" y="130"/>
                  <a:pt x="265" y="121"/>
                </a:cubicBezTo>
                <a:cubicBezTo>
                  <a:pt x="278" y="86"/>
                  <a:pt x="259" y="130"/>
                  <a:pt x="283" y="99"/>
                </a:cubicBezTo>
                <a:cubicBezTo>
                  <a:pt x="289" y="91"/>
                  <a:pt x="302" y="56"/>
                  <a:pt x="306" y="45"/>
                </a:cubicBezTo>
                <a:cubicBezTo>
                  <a:pt x="308" y="32"/>
                  <a:pt x="309" y="10"/>
                  <a:pt x="319" y="0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3" name="CustomShape 18"/>
          <p:cNvSpPr/>
          <p:nvPr/>
        </p:nvSpPr>
        <p:spPr>
          <a:xfrm>
            <a:off x="7808760" y="1865160"/>
            <a:ext cx="652320" cy="252360"/>
          </a:xfrm>
          <a:custGeom>
            <a:avLst/>
            <a:gdLst/>
            <a:ahLst/>
            <a:cxnLst/>
            <a:rect l="l" t="t" r="r" b="b"/>
            <a:pathLst>
              <a:path w="411" h="159">
                <a:moveTo>
                  <a:pt x="0" y="0"/>
                </a:moveTo>
                <a:cubicBezTo>
                  <a:pt x="33" y="3"/>
                  <a:pt x="58" y="7"/>
                  <a:pt x="90" y="13"/>
                </a:cubicBezTo>
                <a:cubicBezTo>
                  <a:pt x="106" y="19"/>
                  <a:pt x="111" y="30"/>
                  <a:pt x="126" y="40"/>
                </a:cubicBezTo>
                <a:cubicBezTo>
                  <a:pt x="147" y="72"/>
                  <a:pt x="188" y="97"/>
                  <a:pt x="225" y="103"/>
                </a:cubicBezTo>
                <a:cubicBezTo>
                  <a:pt x="274" y="100"/>
                  <a:pt x="330" y="96"/>
                  <a:pt x="373" y="126"/>
                </a:cubicBezTo>
                <a:cubicBezTo>
                  <a:pt x="376" y="130"/>
                  <a:pt x="378" y="136"/>
                  <a:pt x="382" y="139"/>
                </a:cubicBezTo>
                <a:cubicBezTo>
                  <a:pt x="386" y="142"/>
                  <a:pt x="392" y="140"/>
                  <a:pt x="396" y="144"/>
                </a:cubicBezTo>
                <a:cubicBezTo>
                  <a:pt x="411" y="159"/>
                  <a:pt x="392" y="157"/>
                  <a:pt x="405" y="157"/>
                </a:cubicBezTo>
              </a:path>
            </a:pathLst>
          </a:custGeom>
          <a:noFill/>
          <a:ln w="126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4" name="CustomShape 19"/>
          <p:cNvSpPr/>
          <p:nvPr/>
        </p:nvSpPr>
        <p:spPr>
          <a:xfrm>
            <a:off x="5887080" y="1819440"/>
            <a:ext cx="367920" cy="405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1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5" name="CustomShape 20"/>
          <p:cNvSpPr/>
          <p:nvPr/>
        </p:nvSpPr>
        <p:spPr>
          <a:xfrm>
            <a:off x="6793560" y="2714760"/>
            <a:ext cx="323640" cy="405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i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6" name="CustomShape 21"/>
          <p:cNvSpPr/>
          <p:nvPr/>
        </p:nvSpPr>
        <p:spPr>
          <a:xfrm>
            <a:off x="7560360" y="1347840"/>
            <a:ext cx="323640" cy="405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j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7" name="CustomShape 22"/>
          <p:cNvSpPr/>
          <p:nvPr/>
        </p:nvSpPr>
        <p:spPr>
          <a:xfrm>
            <a:off x="8461080" y="2322360"/>
            <a:ext cx="361800" cy="405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v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k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8" name="CustomShape 23"/>
          <p:cNvSpPr/>
          <p:nvPr/>
        </p:nvSpPr>
        <p:spPr>
          <a:xfrm>
            <a:off x="6310440" y="2028960"/>
            <a:ext cx="408960" cy="405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p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1i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29" name="CustomShape 24"/>
          <p:cNvSpPr/>
          <p:nvPr/>
        </p:nvSpPr>
        <p:spPr>
          <a:xfrm>
            <a:off x="6811920" y="1760400"/>
            <a:ext cx="364680" cy="405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p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ij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0" name="CustomShape 25"/>
          <p:cNvSpPr/>
          <p:nvPr/>
        </p:nvSpPr>
        <p:spPr>
          <a:xfrm>
            <a:off x="7301160" y="2255760"/>
            <a:ext cx="415080" cy="405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p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ij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’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31" name="CustomShape 26"/>
          <p:cNvSpPr/>
          <p:nvPr/>
        </p:nvSpPr>
        <p:spPr>
          <a:xfrm>
            <a:off x="8009640" y="1647720"/>
            <a:ext cx="402840" cy="405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p</a:t>
            </a:r>
            <a:r>
              <a:rPr lang="en-US" sz="1800" b="0" strike="noStrike" spc="-1" baseline="-25000">
                <a:solidFill>
                  <a:srgbClr val="000000"/>
                </a:solidFill>
                <a:latin typeface="Arial"/>
                <a:ea typeface="DejaVu Sans"/>
              </a:rPr>
              <a:t>jk</a:t>
            </a:r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Effect">
                      <p:stCondLst>
                        <p:cond delay="indefinite"/>
                      </p:stCondLst>
                      <p:childTnLst>
                        <p:par>
                          <p:cTn id="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032114A-3553-4D6C-9126-77E91DD6E806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8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33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Shortest-Path Representation</a:t>
            </a:r>
          </a:p>
        </p:txBody>
      </p:sp>
      <p:sp>
        <p:nvSpPr>
          <p:cNvPr id="234" name="CustomShape 3"/>
          <p:cNvSpPr/>
          <p:nvPr/>
        </p:nvSpPr>
        <p:spPr>
          <a:xfrm>
            <a:off x="239760" y="1213920"/>
            <a:ext cx="6828840" cy="50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8500" lnSpcReduction="20000"/>
          </a:bodyPr>
          <a:lstStyle/>
          <a:p>
            <a:pPr marL="342720" indent="-342360">
              <a:lnSpc>
                <a:spcPct val="11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latin typeface="Arial"/>
              </a:rPr>
              <a:t>For each vertex v </a:t>
            </a:r>
            <a:r>
              <a:rPr lang="en-US" sz="3200" b="0" strike="noStrike" spc="-1">
                <a:latin typeface="Symbol"/>
                <a:ea typeface="Symbol"/>
              </a:rPr>
              <a:t></a:t>
            </a:r>
            <a:r>
              <a:rPr lang="en-US" sz="3200" b="0" strike="noStrike" spc="-1">
                <a:latin typeface="Arial"/>
                <a:ea typeface="Symbol"/>
              </a:rPr>
              <a:t> V:</a:t>
            </a:r>
            <a:endParaRPr lang="en-US" sz="3200" b="0" strike="noStrike" spc="-1">
              <a:latin typeface="Arial"/>
            </a:endParaRPr>
          </a:p>
          <a:p>
            <a:pPr marL="432000" indent="-323640">
              <a:lnSpc>
                <a:spcPct val="11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d[v] = δ(s, v): a </a:t>
            </a:r>
            <a:r>
              <a:rPr lang="en-US" sz="3200" b="1" strike="noStrike" spc="-1">
                <a:latin typeface="Arial"/>
                <a:ea typeface="Symbol"/>
              </a:rPr>
              <a:t>shortest-path estimate</a:t>
            </a:r>
            <a:endParaRPr lang="en-US" sz="32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latin typeface="Arial"/>
                <a:ea typeface="Symbol"/>
              </a:rPr>
              <a:t>Initially, d[v]=∞</a:t>
            </a:r>
            <a:endParaRPr lang="en-US" sz="28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latin typeface="Arial"/>
                <a:ea typeface="Symbol"/>
              </a:rPr>
              <a:t>Reduces as algorithms progress</a:t>
            </a:r>
            <a:endParaRPr lang="en-US" sz="2800" b="0" strike="noStrike" spc="-1">
              <a:latin typeface="Arial"/>
            </a:endParaRPr>
          </a:p>
          <a:p>
            <a:pPr marL="432000" indent="-32364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Symbol"/>
                <a:ea typeface="Symbol"/>
              </a:rPr>
              <a:t>p</a:t>
            </a:r>
            <a:r>
              <a:rPr lang="en-US" sz="3200" b="0" strike="noStrike" spc="-1">
                <a:latin typeface="Arial"/>
                <a:ea typeface="Symbol"/>
              </a:rPr>
              <a:t>[v] = </a:t>
            </a:r>
            <a:r>
              <a:rPr lang="en-US" sz="3200" b="1" strike="noStrike" spc="-1">
                <a:latin typeface="Arial"/>
                <a:ea typeface="Symbol"/>
              </a:rPr>
              <a:t>predecessor</a:t>
            </a:r>
            <a:r>
              <a:rPr lang="en-US" sz="3200" b="0" strike="noStrike" spc="-1">
                <a:latin typeface="Arial"/>
                <a:ea typeface="Symbol"/>
              </a:rPr>
              <a:t> of </a:t>
            </a:r>
            <a:r>
              <a:rPr lang="en-US" sz="3200" b="0" strike="noStrike" spc="-1">
                <a:latin typeface="Comic Sans MS"/>
                <a:ea typeface="Symbol"/>
              </a:rPr>
              <a:t>v</a:t>
            </a:r>
            <a:r>
              <a:rPr lang="en-US" sz="3200" b="0" strike="noStrike" spc="-1">
                <a:latin typeface="Arial"/>
                <a:ea typeface="Symbol"/>
              </a:rPr>
              <a:t> on a shortest path from </a:t>
            </a:r>
            <a:r>
              <a:rPr lang="en-US" sz="3200" b="0" strike="noStrike" spc="-1">
                <a:latin typeface="Comic Sans MS"/>
                <a:ea typeface="Symbol"/>
              </a:rPr>
              <a:t>s</a:t>
            </a:r>
            <a:endParaRPr lang="en-US" sz="32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latin typeface="Arial"/>
                <a:ea typeface="Symbol"/>
              </a:rPr>
              <a:t>If no predecessor, </a:t>
            </a:r>
            <a:r>
              <a:rPr lang="en-US" sz="2800" b="0" strike="noStrike" spc="-1">
                <a:latin typeface="Symbol"/>
                <a:ea typeface="Symbol"/>
              </a:rPr>
              <a:t>p</a:t>
            </a:r>
            <a:r>
              <a:rPr lang="en-US" sz="2800" b="0" strike="noStrike" spc="-1">
                <a:latin typeface="Arial"/>
                <a:ea typeface="Symbol"/>
              </a:rPr>
              <a:t>[v] = NIL</a:t>
            </a:r>
            <a:endParaRPr lang="en-US" sz="2800" b="0" strike="noStrike" spc="-1">
              <a:latin typeface="Arial"/>
            </a:endParaRPr>
          </a:p>
          <a:p>
            <a:pPr marL="864000" lvl="1" indent="-323640">
              <a:lnSpc>
                <a:spcPct val="11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latin typeface="Symbol"/>
                <a:ea typeface="Symbol"/>
              </a:rPr>
              <a:t>p</a:t>
            </a:r>
            <a:r>
              <a:rPr lang="en-US" sz="2800" b="0" strike="noStrike" spc="-1">
                <a:latin typeface="Arial"/>
                <a:ea typeface="Symbol"/>
              </a:rPr>
              <a:t> induces a tree—</a:t>
            </a:r>
            <a:r>
              <a:rPr lang="en-US" sz="2800" b="1" strike="noStrike" spc="-1">
                <a:latin typeface="Arial"/>
                <a:ea typeface="Symbol"/>
              </a:rPr>
              <a:t>shortest-path tree</a:t>
            </a:r>
            <a:endParaRPr lang="en-US" sz="2800" b="0" strike="noStrike" spc="-1">
              <a:latin typeface="Arial"/>
            </a:endParaRPr>
          </a:p>
          <a:p>
            <a:pPr marL="432000" indent="-323640">
              <a:lnSpc>
                <a:spcPct val="11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Shortest paths and shortest path trees are not unique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35" name="Group 4"/>
          <p:cNvGrpSpPr/>
          <p:nvPr/>
        </p:nvGrpSpPr>
        <p:grpSpPr>
          <a:xfrm>
            <a:off x="6154560" y="1676520"/>
            <a:ext cx="2995200" cy="2529720"/>
            <a:chOff x="6154560" y="1676520"/>
            <a:chExt cx="2995200" cy="2529720"/>
          </a:xfrm>
        </p:grpSpPr>
        <p:sp>
          <p:nvSpPr>
            <p:cNvPr id="236" name="Line 5"/>
            <p:cNvSpPr/>
            <p:nvPr/>
          </p:nvSpPr>
          <p:spPr>
            <a:xfrm flipV="1">
              <a:off x="6764400" y="2363760"/>
              <a:ext cx="414000" cy="40752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7" name="Line 6"/>
            <p:cNvSpPr/>
            <p:nvPr/>
          </p:nvSpPr>
          <p:spPr>
            <a:xfrm>
              <a:off x="6761160" y="3119400"/>
              <a:ext cx="407880" cy="41400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8" name="Line 7"/>
            <p:cNvSpPr/>
            <p:nvPr/>
          </p:nvSpPr>
          <p:spPr>
            <a:xfrm>
              <a:off x="7534080" y="2199960"/>
              <a:ext cx="908280" cy="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9" name="Line 8"/>
            <p:cNvSpPr/>
            <p:nvPr/>
          </p:nvSpPr>
          <p:spPr>
            <a:xfrm>
              <a:off x="7535880" y="3701880"/>
              <a:ext cx="907920" cy="0"/>
            </a:xfrm>
            <a:prstGeom prst="line">
              <a:avLst/>
            </a:prstGeom>
            <a:ln w="76320">
              <a:solidFill>
                <a:srgbClr val="80808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grpSp>
          <p:nvGrpSpPr>
            <p:cNvPr id="240" name="Group 9"/>
            <p:cNvGrpSpPr/>
            <p:nvPr/>
          </p:nvGrpSpPr>
          <p:grpSpPr>
            <a:xfrm>
              <a:off x="6154560" y="1676520"/>
              <a:ext cx="2995200" cy="2529720"/>
              <a:chOff x="6154560" y="1676520"/>
              <a:chExt cx="2995200" cy="2529720"/>
            </a:xfrm>
          </p:grpSpPr>
          <p:sp>
            <p:nvSpPr>
              <p:cNvPr id="241" name="CustomShape 10"/>
              <p:cNvSpPr/>
              <p:nvPr/>
            </p:nvSpPr>
            <p:spPr>
              <a:xfrm>
                <a:off x="6433920" y="2741400"/>
                <a:ext cx="42192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0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42" name="CustomShape 11"/>
              <p:cNvSpPr/>
              <p:nvPr/>
            </p:nvSpPr>
            <p:spPr>
              <a:xfrm>
                <a:off x="7115040" y="2003400"/>
                <a:ext cx="42192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43" name="CustomShape 12"/>
              <p:cNvSpPr/>
              <p:nvPr/>
            </p:nvSpPr>
            <p:spPr>
              <a:xfrm>
                <a:off x="8435880" y="2003400"/>
                <a:ext cx="421920" cy="41976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9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44" name="CustomShape 13"/>
              <p:cNvSpPr/>
              <p:nvPr/>
            </p:nvSpPr>
            <p:spPr>
              <a:xfrm>
                <a:off x="7115040" y="3481200"/>
                <a:ext cx="42192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45" name="CustomShape 14"/>
              <p:cNvSpPr/>
              <p:nvPr/>
            </p:nvSpPr>
            <p:spPr>
              <a:xfrm>
                <a:off x="8435880" y="3481200"/>
                <a:ext cx="42192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11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46" name="Line 15"/>
              <p:cNvSpPr/>
              <p:nvPr/>
            </p:nvSpPr>
            <p:spPr>
              <a:xfrm>
                <a:off x="7534080" y="2201760"/>
                <a:ext cx="9223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Line 16"/>
              <p:cNvSpPr/>
              <p:nvPr/>
            </p:nvSpPr>
            <p:spPr>
              <a:xfrm flipV="1">
                <a:off x="6762600" y="2363760"/>
                <a:ext cx="414360" cy="4140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8" name="Line 17"/>
              <p:cNvSpPr/>
              <p:nvPr/>
            </p:nvSpPr>
            <p:spPr>
              <a:xfrm>
                <a:off x="6764400" y="3106440"/>
                <a:ext cx="406080" cy="4284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9" name="CustomShape 18"/>
              <p:cNvSpPr/>
              <p:nvPr/>
            </p:nvSpPr>
            <p:spPr>
              <a:xfrm>
                <a:off x="6730920" y="23112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50" name="CustomShape 19"/>
              <p:cNvSpPr/>
              <p:nvPr/>
            </p:nvSpPr>
            <p:spPr>
              <a:xfrm>
                <a:off x="7842240" y="18856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51" name="CustomShape 20"/>
              <p:cNvSpPr/>
              <p:nvPr/>
            </p:nvSpPr>
            <p:spPr>
              <a:xfrm>
                <a:off x="6748560" y="32130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52" name="CustomShape 21"/>
              <p:cNvSpPr/>
              <p:nvPr/>
            </p:nvSpPr>
            <p:spPr>
              <a:xfrm>
                <a:off x="8856720" y="29476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53" name="CustomShape 22"/>
              <p:cNvSpPr/>
              <p:nvPr/>
            </p:nvSpPr>
            <p:spPr>
              <a:xfrm>
                <a:off x="7851600" y="36576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54" name="CustomShape 23"/>
              <p:cNvSpPr/>
              <p:nvPr/>
            </p:nvSpPr>
            <p:spPr>
              <a:xfrm>
                <a:off x="6154560" y="276048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s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55" name="CustomShape 24"/>
              <p:cNvSpPr/>
              <p:nvPr/>
            </p:nvSpPr>
            <p:spPr>
              <a:xfrm>
                <a:off x="7203960" y="1676520"/>
                <a:ext cx="2444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t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56" name="CustomShape 25"/>
              <p:cNvSpPr/>
              <p:nvPr/>
            </p:nvSpPr>
            <p:spPr>
              <a:xfrm>
                <a:off x="8508600" y="167652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x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57" name="CustomShape 26"/>
              <p:cNvSpPr/>
              <p:nvPr/>
            </p:nvSpPr>
            <p:spPr>
              <a:xfrm>
                <a:off x="7178400" y="383832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58" name="CustomShape 27"/>
              <p:cNvSpPr/>
              <p:nvPr/>
            </p:nvSpPr>
            <p:spPr>
              <a:xfrm>
                <a:off x="8534160" y="383832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z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259" name="Line 28"/>
              <p:cNvSpPr/>
              <p:nvPr/>
            </p:nvSpPr>
            <p:spPr>
              <a:xfrm>
                <a:off x="7543800" y="3705120"/>
                <a:ext cx="9079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0" name="Line 29"/>
              <p:cNvSpPr/>
              <p:nvPr/>
            </p:nvSpPr>
            <p:spPr>
              <a:xfrm flipV="1">
                <a:off x="7434000" y="2349360"/>
                <a:ext cx="1063800" cy="11505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1" name="CustomShape 30"/>
              <p:cNvSpPr/>
              <p:nvPr/>
            </p:nvSpPr>
            <p:spPr>
              <a:xfrm>
                <a:off x="7126200" y="2400120"/>
                <a:ext cx="136080" cy="109152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CustomShape 31"/>
              <p:cNvSpPr/>
              <p:nvPr/>
            </p:nvSpPr>
            <p:spPr>
              <a:xfrm>
                <a:off x="8421480" y="2417760"/>
                <a:ext cx="136440" cy="109116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CustomShape 32"/>
              <p:cNvSpPr/>
              <p:nvPr/>
            </p:nvSpPr>
            <p:spPr>
              <a:xfrm rot="10800000">
                <a:off x="8731080" y="2398680"/>
                <a:ext cx="136080" cy="109152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CustomShape 33"/>
              <p:cNvSpPr/>
              <p:nvPr/>
            </p:nvSpPr>
            <p:spPr>
              <a:xfrm rot="10800000">
                <a:off x="7391520" y="2393640"/>
                <a:ext cx="136440" cy="1091520"/>
              </a:xfrm>
              <a:custGeom>
                <a:avLst/>
                <a:gdLst/>
                <a:ahLst/>
                <a:cxnLst/>
                <a:rect l="l" t="t" r="r" b="b"/>
                <a:pathLst>
                  <a:path w="86" h="688">
                    <a:moveTo>
                      <a:pt x="82" y="0"/>
                    </a:moveTo>
                    <a:cubicBezTo>
                      <a:pt x="41" y="91"/>
                      <a:pt x="0" y="182"/>
                      <a:pt x="1" y="297"/>
                    </a:cubicBezTo>
                    <a:cubicBezTo>
                      <a:pt x="2" y="412"/>
                      <a:pt x="72" y="624"/>
                      <a:pt x="86" y="688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5" name="Line 34"/>
              <p:cNvSpPr/>
              <p:nvPr/>
            </p:nvSpPr>
            <p:spPr>
              <a:xfrm flipH="1" flipV="1">
                <a:off x="6834240" y="3028680"/>
                <a:ext cx="1636560" cy="57744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CustomShape 35"/>
              <p:cNvSpPr/>
              <p:nvPr/>
            </p:nvSpPr>
            <p:spPr>
              <a:xfrm>
                <a:off x="8190000" y="29448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67" name="CustomShape 36"/>
              <p:cNvSpPr/>
              <p:nvPr/>
            </p:nvSpPr>
            <p:spPr>
              <a:xfrm>
                <a:off x="6896160" y="266832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68" name="CustomShape 37"/>
              <p:cNvSpPr/>
              <p:nvPr/>
            </p:nvSpPr>
            <p:spPr>
              <a:xfrm>
                <a:off x="7445520" y="26571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69" name="CustomShape 38"/>
              <p:cNvSpPr/>
              <p:nvPr/>
            </p:nvSpPr>
            <p:spPr>
              <a:xfrm>
                <a:off x="7893000" y="25160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4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270" name="CustomShape 39"/>
              <p:cNvSpPr/>
              <p:nvPr/>
            </p:nvSpPr>
            <p:spPr>
              <a:xfrm>
                <a:off x="7913520" y="31762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600" b="0" strike="noStrike" spc="-1">
                  <a:latin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41AE5A1-1A16-45C1-8F47-CCA12C170B7D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9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72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Initialization</a:t>
            </a:r>
          </a:p>
        </p:txBody>
      </p:sp>
      <p:sp>
        <p:nvSpPr>
          <p:cNvPr id="273" name="CustomShape 3"/>
          <p:cNvSpPr/>
          <p:nvPr/>
        </p:nvSpPr>
        <p:spPr>
          <a:xfrm>
            <a:off x="351000" y="1213920"/>
            <a:ext cx="8229240" cy="50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533160" indent="-5328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DD0111"/>
                </a:solidFill>
                <a:latin typeface="Monotype Corsiva"/>
              </a:rPr>
              <a:t>Alg.: 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</a:rPr>
              <a:t>INITIALIZE-SINGLE-SOURCE(V, s)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DD0111"/>
                </a:solidFill>
                <a:latin typeface="Arial"/>
              </a:rPr>
              <a:t> for 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</a:rPr>
              <a:t>each v </a:t>
            </a:r>
            <a:r>
              <a:rPr lang="en-US" sz="3200" b="0" strike="noStrike" spc="-1">
                <a:solidFill>
                  <a:srgbClr val="DD0111"/>
                </a:solidFill>
                <a:latin typeface="Symbol"/>
                <a:ea typeface="Symbol"/>
              </a:rPr>
              <a:t>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 V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10000"/>
              </a:lnSpc>
              <a:spcBef>
                <a:spcPts val="598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solidFill>
                  <a:srgbClr val="DD0111"/>
                </a:solidFill>
                <a:latin typeface="Arial"/>
                <a:ea typeface="Symbol"/>
              </a:rPr>
              <a:t>       do 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d[v] ← </a:t>
            </a:r>
            <a:r>
              <a:rPr lang="en-US" sz="2800" b="0" strike="noStrike" spc="-1">
                <a:solidFill>
                  <a:srgbClr val="DD0111"/>
                </a:solidFill>
                <a:latin typeface="Arial"/>
                <a:ea typeface="Symbol"/>
              </a:rPr>
              <a:t>∞</a:t>
            </a:r>
            <a:endParaRPr lang="en-US" sz="28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             </a:t>
            </a:r>
            <a:r>
              <a:rPr lang="en-US" sz="3200" b="0" strike="noStrike" spc="-1">
                <a:solidFill>
                  <a:srgbClr val="DD0111"/>
                </a:solidFill>
                <a:latin typeface="Symbol"/>
                <a:ea typeface="Symbol"/>
              </a:rPr>
              <a:t>p</a:t>
            </a: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[v] ← NIL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d[s] ← 0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DD0111"/>
                </a:solidFill>
                <a:latin typeface="Arial"/>
                <a:ea typeface="Symbol"/>
              </a:rPr>
              <a:t>All the shortest-paths algorithms start with INITIALIZE-SINGLE-SOURCE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F236D0B-3D2B-4A21-85DB-A10717FB68BC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10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Relaxation</a:t>
            </a:r>
          </a:p>
        </p:txBody>
      </p:sp>
      <p:sp>
        <p:nvSpPr>
          <p:cNvPr id="276" name="CustomShape 3"/>
          <p:cNvSpPr/>
          <p:nvPr/>
        </p:nvSpPr>
        <p:spPr>
          <a:xfrm>
            <a:off x="112680" y="1062000"/>
            <a:ext cx="8229240" cy="2920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64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latin typeface="Arial"/>
              </a:rPr>
              <a:t>Relaxing </a:t>
            </a:r>
            <a:r>
              <a:rPr lang="en-US" sz="3200" b="0" strike="noStrike" spc="-1">
                <a:latin typeface="Arial"/>
              </a:rPr>
              <a:t>an edge (u, v) = testing whether we can improve the shortest path to v found so far by going through u</a:t>
            </a:r>
          </a:p>
          <a:p>
            <a:pPr marL="742680" indent="-285120">
              <a:lnSpc>
                <a:spcPct val="100000"/>
              </a:lnSpc>
              <a:spcBef>
                <a:spcPts val="598"/>
              </a:spcBef>
              <a:tabLst>
                <a:tab pos="0" algn="l"/>
              </a:tabLst>
            </a:pPr>
            <a:r>
              <a:rPr lang="en-US" sz="2800" b="0" strike="noStrike" spc="-1">
                <a:latin typeface="Arial"/>
              </a:rPr>
              <a:t>	If </a:t>
            </a:r>
            <a:r>
              <a:rPr lang="en-US" sz="2800" b="0" strike="noStrike" spc="-1">
                <a:latin typeface="Comic Sans MS"/>
              </a:rPr>
              <a:t>d[v] &gt; d[u] + w(u, v) :</a:t>
            </a:r>
            <a:r>
              <a:rPr lang="en-US" sz="2800" b="0" strike="noStrike" spc="-1">
                <a:latin typeface="Arial"/>
              </a:rPr>
              <a:t> improve the shortest path to v  </a:t>
            </a:r>
            <a:r>
              <a:rPr lang="en-US" sz="2800" b="0" strike="noStrike" spc="-1">
                <a:latin typeface="Symbol"/>
                <a:ea typeface="Symbol"/>
              </a:rPr>
              <a:t></a:t>
            </a:r>
            <a:r>
              <a:rPr lang="en-US" sz="2800" b="0" strike="noStrike" spc="-1">
                <a:latin typeface="Arial"/>
                <a:ea typeface="Symbol"/>
              </a:rPr>
              <a:t> update d[v] and </a:t>
            </a:r>
            <a:r>
              <a:rPr lang="en-US" sz="2800" b="0" strike="noStrike" spc="-1">
                <a:latin typeface="Symbol"/>
                <a:ea typeface="Symbol"/>
              </a:rPr>
              <a:t>p</a:t>
            </a:r>
            <a:r>
              <a:rPr lang="en-US" sz="2800" b="0" strike="noStrike" spc="-1">
                <a:latin typeface="Arial"/>
                <a:ea typeface="Symbol"/>
              </a:rPr>
              <a:t>[v]</a:t>
            </a:r>
            <a:endParaRPr lang="en-US" sz="2800" b="0" strike="noStrike" spc="-1">
              <a:latin typeface="Arial"/>
            </a:endParaRPr>
          </a:p>
        </p:txBody>
      </p:sp>
      <p:grpSp>
        <p:nvGrpSpPr>
          <p:cNvPr id="277" name="Group 4"/>
          <p:cNvGrpSpPr/>
          <p:nvPr/>
        </p:nvGrpSpPr>
        <p:grpSpPr>
          <a:xfrm>
            <a:off x="730080" y="4110120"/>
            <a:ext cx="1742760" cy="747360"/>
            <a:chOff x="730080" y="4110120"/>
            <a:chExt cx="1742760" cy="747360"/>
          </a:xfrm>
        </p:grpSpPr>
        <p:sp>
          <p:nvSpPr>
            <p:cNvPr id="278" name="CustomShape 5"/>
            <p:cNvSpPr/>
            <p:nvPr/>
          </p:nvSpPr>
          <p:spPr>
            <a:xfrm>
              <a:off x="730080" y="443700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79" name="CustomShape 6"/>
            <p:cNvSpPr/>
            <p:nvPr/>
          </p:nvSpPr>
          <p:spPr>
            <a:xfrm>
              <a:off x="2050920" y="443700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80" name="Line 7"/>
            <p:cNvSpPr/>
            <p:nvPr/>
          </p:nvSpPr>
          <p:spPr>
            <a:xfrm>
              <a:off x="1148760" y="4635360"/>
              <a:ext cx="9226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1" name="CustomShape 8"/>
            <p:cNvSpPr/>
            <p:nvPr/>
          </p:nvSpPr>
          <p:spPr>
            <a:xfrm>
              <a:off x="1457280" y="431964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282" name="CustomShape 9"/>
            <p:cNvSpPr/>
            <p:nvPr/>
          </p:nvSpPr>
          <p:spPr>
            <a:xfrm>
              <a:off x="819360" y="4110120"/>
              <a:ext cx="30672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83" name="CustomShape 10"/>
            <p:cNvSpPr/>
            <p:nvPr/>
          </p:nvSpPr>
          <p:spPr>
            <a:xfrm>
              <a:off x="2123640" y="411012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284" name="Group 11"/>
          <p:cNvGrpSpPr/>
          <p:nvPr/>
        </p:nvGrpSpPr>
        <p:grpSpPr>
          <a:xfrm>
            <a:off x="730080" y="5626080"/>
            <a:ext cx="1742760" cy="747360"/>
            <a:chOff x="730080" y="5626080"/>
            <a:chExt cx="1742760" cy="747360"/>
          </a:xfrm>
        </p:grpSpPr>
        <p:sp>
          <p:nvSpPr>
            <p:cNvPr id="285" name="CustomShape 12"/>
            <p:cNvSpPr/>
            <p:nvPr/>
          </p:nvSpPr>
          <p:spPr>
            <a:xfrm>
              <a:off x="730080" y="595296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86" name="CustomShape 13"/>
            <p:cNvSpPr/>
            <p:nvPr/>
          </p:nvSpPr>
          <p:spPr>
            <a:xfrm>
              <a:off x="2050920" y="595296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87" name="Line 14"/>
            <p:cNvSpPr/>
            <p:nvPr/>
          </p:nvSpPr>
          <p:spPr>
            <a:xfrm>
              <a:off x="1148760" y="6150960"/>
              <a:ext cx="9226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CustomShape 15"/>
            <p:cNvSpPr/>
            <p:nvPr/>
          </p:nvSpPr>
          <p:spPr>
            <a:xfrm>
              <a:off x="1457280" y="583560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289" name="CustomShape 16"/>
            <p:cNvSpPr/>
            <p:nvPr/>
          </p:nvSpPr>
          <p:spPr>
            <a:xfrm>
              <a:off x="819360" y="5626080"/>
              <a:ext cx="30672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90" name="CustomShape 17"/>
            <p:cNvSpPr/>
            <p:nvPr/>
          </p:nvSpPr>
          <p:spPr>
            <a:xfrm>
              <a:off x="2123640" y="562608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291" name="CustomShape 18"/>
          <p:cNvSpPr/>
          <p:nvPr/>
        </p:nvSpPr>
        <p:spPr>
          <a:xfrm rot="5400000">
            <a:off x="1098000" y="5167800"/>
            <a:ext cx="979200" cy="263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2" name="CustomShape 19"/>
          <p:cNvSpPr/>
          <p:nvPr/>
        </p:nvSpPr>
        <p:spPr>
          <a:xfrm>
            <a:off x="1785960" y="5113440"/>
            <a:ext cx="172656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RELAX(u, v, w)</a:t>
            </a:r>
            <a:endParaRPr lang="en-US" sz="1800" b="0" strike="noStrike" spc="-1">
              <a:latin typeface="Arial"/>
            </a:endParaRPr>
          </a:p>
        </p:txBody>
      </p:sp>
      <p:grpSp>
        <p:nvGrpSpPr>
          <p:cNvPr id="293" name="Group 20"/>
          <p:cNvGrpSpPr/>
          <p:nvPr/>
        </p:nvGrpSpPr>
        <p:grpSpPr>
          <a:xfrm>
            <a:off x="3833640" y="4119480"/>
            <a:ext cx="1742760" cy="747360"/>
            <a:chOff x="3833640" y="4119480"/>
            <a:chExt cx="1742760" cy="747360"/>
          </a:xfrm>
        </p:grpSpPr>
        <p:sp>
          <p:nvSpPr>
            <p:cNvPr id="294" name="CustomShape 21"/>
            <p:cNvSpPr/>
            <p:nvPr/>
          </p:nvSpPr>
          <p:spPr>
            <a:xfrm>
              <a:off x="3833640" y="444636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95" name="CustomShape 22"/>
            <p:cNvSpPr/>
            <p:nvPr/>
          </p:nvSpPr>
          <p:spPr>
            <a:xfrm>
              <a:off x="5154480" y="444636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96" name="Line 23"/>
            <p:cNvSpPr/>
            <p:nvPr/>
          </p:nvSpPr>
          <p:spPr>
            <a:xfrm>
              <a:off x="4252680" y="464472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7" name="CustomShape 24"/>
            <p:cNvSpPr/>
            <p:nvPr/>
          </p:nvSpPr>
          <p:spPr>
            <a:xfrm>
              <a:off x="4560840" y="432900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298" name="CustomShape 25"/>
            <p:cNvSpPr/>
            <p:nvPr/>
          </p:nvSpPr>
          <p:spPr>
            <a:xfrm>
              <a:off x="3922920" y="4119480"/>
              <a:ext cx="30672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299" name="CustomShape 26"/>
            <p:cNvSpPr/>
            <p:nvPr/>
          </p:nvSpPr>
          <p:spPr>
            <a:xfrm>
              <a:off x="5227200" y="411948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300" name="Group 27"/>
          <p:cNvGrpSpPr/>
          <p:nvPr/>
        </p:nvGrpSpPr>
        <p:grpSpPr>
          <a:xfrm>
            <a:off x="3833640" y="5635800"/>
            <a:ext cx="1742760" cy="746640"/>
            <a:chOff x="3833640" y="5635800"/>
            <a:chExt cx="1742760" cy="746640"/>
          </a:xfrm>
        </p:grpSpPr>
        <p:sp>
          <p:nvSpPr>
            <p:cNvPr id="301" name="CustomShape 28"/>
            <p:cNvSpPr/>
            <p:nvPr/>
          </p:nvSpPr>
          <p:spPr>
            <a:xfrm>
              <a:off x="3833640" y="5962320"/>
              <a:ext cx="42192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02" name="CustomShape 29"/>
            <p:cNvSpPr/>
            <p:nvPr/>
          </p:nvSpPr>
          <p:spPr>
            <a:xfrm>
              <a:off x="5154480" y="5962320"/>
              <a:ext cx="42192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03" name="Line 30"/>
            <p:cNvSpPr/>
            <p:nvPr/>
          </p:nvSpPr>
          <p:spPr>
            <a:xfrm>
              <a:off x="4252680" y="6160320"/>
              <a:ext cx="9223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4" name="CustomShape 31"/>
            <p:cNvSpPr/>
            <p:nvPr/>
          </p:nvSpPr>
          <p:spPr>
            <a:xfrm>
              <a:off x="4560840" y="584496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05" name="CustomShape 32"/>
            <p:cNvSpPr/>
            <p:nvPr/>
          </p:nvSpPr>
          <p:spPr>
            <a:xfrm>
              <a:off x="3922920" y="5635800"/>
              <a:ext cx="30672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u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06" name="CustomShape 33"/>
            <p:cNvSpPr/>
            <p:nvPr/>
          </p:nvSpPr>
          <p:spPr>
            <a:xfrm>
              <a:off x="5227200" y="563580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v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307" name="CustomShape 34"/>
          <p:cNvSpPr/>
          <p:nvPr/>
        </p:nvSpPr>
        <p:spPr>
          <a:xfrm rot="5400000">
            <a:off x="4201560" y="5177520"/>
            <a:ext cx="979200" cy="263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8" name="CustomShape 35"/>
          <p:cNvSpPr/>
          <p:nvPr/>
        </p:nvSpPr>
        <p:spPr>
          <a:xfrm>
            <a:off x="4889520" y="5122800"/>
            <a:ext cx="1726560" cy="367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DejaVu Sans"/>
              </a:rPr>
              <a:t>RELAX(u, v, w)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09" name="CustomShape 36"/>
          <p:cNvSpPr/>
          <p:nvPr/>
        </p:nvSpPr>
        <p:spPr>
          <a:xfrm>
            <a:off x="5626080" y="4241880"/>
            <a:ext cx="3390480" cy="825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After relaxation:</a:t>
            </a:r>
            <a:endParaRPr lang="en-US" sz="24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d[v] </a:t>
            </a:r>
            <a:r>
              <a:rPr lang="en-US" sz="2400" b="0" strike="noStrike" spc="-1">
                <a:solidFill>
                  <a:srgbClr val="000000"/>
                </a:solidFill>
                <a:latin typeface="Symbol"/>
                <a:ea typeface="Symbol"/>
              </a:rPr>
              <a:t>&lt;=</a:t>
            </a:r>
            <a:r>
              <a:rPr lang="en-US" sz="2400" b="0" strike="noStrike" spc="-1">
                <a:solidFill>
                  <a:srgbClr val="000000"/>
                </a:solidFill>
                <a:latin typeface="Comic Sans MS"/>
                <a:ea typeface="DejaVu Sans"/>
              </a:rPr>
              <a:t> d[u] + w(u, v)</a:t>
            </a:r>
            <a:endParaRPr lang="en-US" sz="2400" b="0" strike="noStrike" spc="-1">
              <a:latin typeface="Arial"/>
            </a:endParaRPr>
          </a:p>
        </p:txBody>
      </p:sp>
      <p:grpSp>
        <p:nvGrpSpPr>
          <p:cNvPr id="310" name="Group 37"/>
          <p:cNvGrpSpPr/>
          <p:nvPr/>
        </p:nvGrpSpPr>
        <p:grpSpPr>
          <a:xfrm>
            <a:off x="258840" y="3787920"/>
            <a:ext cx="1907640" cy="683640"/>
            <a:chOff x="258840" y="3787920"/>
            <a:chExt cx="1907640" cy="683640"/>
          </a:xfrm>
        </p:grpSpPr>
        <p:sp>
          <p:nvSpPr>
            <p:cNvPr id="311" name="CustomShape 38"/>
            <p:cNvSpPr/>
            <p:nvPr/>
          </p:nvSpPr>
          <p:spPr>
            <a:xfrm>
              <a:off x="258840" y="3787920"/>
              <a:ext cx="377280" cy="356760"/>
            </a:xfrm>
            <a:prstGeom prst="ellipse">
              <a:avLst/>
            </a:prstGeom>
            <a:solidFill>
              <a:srgbClr val="BBE0E3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12" name="CustomShape 39"/>
            <p:cNvSpPr/>
            <p:nvPr/>
          </p:nvSpPr>
          <p:spPr>
            <a:xfrm>
              <a:off x="585720" y="4105440"/>
              <a:ext cx="258480" cy="366120"/>
            </a:xfrm>
            <a:custGeom>
              <a:avLst/>
              <a:gdLst/>
              <a:ahLst/>
              <a:cxnLst/>
              <a:rect l="l" t="t" r="r" b="b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3" name="CustomShape 40"/>
            <p:cNvSpPr/>
            <p:nvPr/>
          </p:nvSpPr>
          <p:spPr>
            <a:xfrm>
              <a:off x="561960" y="4059360"/>
              <a:ext cx="1604520" cy="383760"/>
            </a:xfrm>
            <a:custGeom>
              <a:avLst/>
              <a:gdLst/>
              <a:ahLst/>
              <a:cxnLst/>
              <a:rect l="l" t="t" r="r" b="b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14" name="Group 41"/>
          <p:cNvGrpSpPr/>
          <p:nvPr/>
        </p:nvGrpSpPr>
        <p:grpSpPr>
          <a:xfrm>
            <a:off x="3351240" y="3787920"/>
            <a:ext cx="1907640" cy="683640"/>
            <a:chOff x="3351240" y="3787920"/>
            <a:chExt cx="1907640" cy="683640"/>
          </a:xfrm>
        </p:grpSpPr>
        <p:sp>
          <p:nvSpPr>
            <p:cNvPr id="315" name="CustomShape 42"/>
            <p:cNvSpPr/>
            <p:nvPr/>
          </p:nvSpPr>
          <p:spPr>
            <a:xfrm>
              <a:off x="3351240" y="3787920"/>
              <a:ext cx="377280" cy="356760"/>
            </a:xfrm>
            <a:prstGeom prst="ellipse">
              <a:avLst/>
            </a:prstGeom>
            <a:solidFill>
              <a:srgbClr val="BBE0E3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16" name="CustomShape 43"/>
            <p:cNvSpPr/>
            <p:nvPr/>
          </p:nvSpPr>
          <p:spPr>
            <a:xfrm>
              <a:off x="3678120" y="4105440"/>
              <a:ext cx="258480" cy="366120"/>
            </a:xfrm>
            <a:custGeom>
              <a:avLst/>
              <a:gdLst/>
              <a:ahLst/>
              <a:cxnLst/>
              <a:rect l="l" t="t" r="r" b="b"/>
              <a:pathLst>
                <a:path w="163" h="231">
                  <a:moveTo>
                    <a:pt x="0" y="0"/>
                  </a:moveTo>
                  <a:cubicBezTo>
                    <a:pt x="19" y="12"/>
                    <a:pt x="36" y="18"/>
                    <a:pt x="57" y="25"/>
                  </a:cubicBezTo>
                  <a:cubicBezTo>
                    <a:pt x="72" y="48"/>
                    <a:pt x="79" y="55"/>
                    <a:pt x="69" y="81"/>
                  </a:cubicBezTo>
                  <a:cubicBezTo>
                    <a:pt x="77" y="116"/>
                    <a:pt x="80" y="121"/>
                    <a:pt x="113" y="131"/>
                  </a:cubicBezTo>
                  <a:cubicBezTo>
                    <a:pt x="145" y="153"/>
                    <a:pt x="130" y="169"/>
                    <a:pt x="151" y="200"/>
                  </a:cubicBezTo>
                  <a:cubicBezTo>
                    <a:pt x="158" y="223"/>
                    <a:pt x="154" y="213"/>
                    <a:pt x="163" y="231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7" name="CustomShape 44"/>
            <p:cNvSpPr/>
            <p:nvPr/>
          </p:nvSpPr>
          <p:spPr>
            <a:xfrm>
              <a:off x="3654360" y="4059360"/>
              <a:ext cx="1604520" cy="383760"/>
            </a:xfrm>
            <a:custGeom>
              <a:avLst/>
              <a:gdLst/>
              <a:ahLst/>
              <a:cxnLst/>
              <a:rect l="l" t="t" r="r" b="b"/>
              <a:pathLst>
                <a:path w="1011" h="242">
                  <a:moveTo>
                    <a:pt x="28" y="10"/>
                  </a:moveTo>
                  <a:cubicBezTo>
                    <a:pt x="85" y="28"/>
                    <a:pt x="0" y="0"/>
                    <a:pt x="72" y="29"/>
                  </a:cubicBezTo>
                  <a:cubicBezTo>
                    <a:pt x="84" y="34"/>
                    <a:pt x="109" y="41"/>
                    <a:pt x="109" y="41"/>
                  </a:cubicBezTo>
                  <a:cubicBezTo>
                    <a:pt x="153" y="27"/>
                    <a:pt x="135" y="34"/>
                    <a:pt x="166" y="22"/>
                  </a:cubicBezTo>
                  <a:cubicBezTo>
                    <a:pt x="215" y="26"/>
                    <a:pt x="247" y="27"/>
                    <a:pt x="291" y="41"/>
                  </a:cubicBezTo>
                  <a:cubicBezTo>
                    <a:pt x="343" y="76"/>
                    <a:pt x="375" y="79"/>
                    <a:pt x="441" y="85"/>
                  </a:cubicBezTo>
                  <a:cubicBezTo>
                    <a:pt x="501" y="77"/>
                    <a:pt x="552" y="84"/>
                    <a:pt x="610" y="98"/>
                  </a:cubicBezTo>
                  <a:cubicBezTo>
                    <a:pt x="631" y="103"/>
                    <a:pt x="673" y="116"/>
                    <a:pt x="673" y="116"/>
                  </a:cubicBezTo>
                  <a:cubicBezTo>
                    <a:pt x="714" y="157"/>
                    <a:pt x="768" y="162"/>
                    <a:pt x="823" y="166"/>
                  </a:cubicBezTo>
                  <a:cubicBezTo>
                    <a:pt x="873" y="175"/>
                    <a:pt x="909" y="195"/>
                    <a:pt x="955" y="210"/>
                  </a:cubicBezTo>
                  <a:cubicBezTo>
                    <a:pt x="964" y="217"/>
                    <a:pt x="982" y="230"/>
                    <a:pt x="992" y="235"/>
                  </a:cubicBezTo>
                  <a:cubicBezTo>
                    <a:pt x="998" y="238"/>
                    <a:pt x="1011" y="242"/>
                    <a:pt x="1011" y="242"/>
                  </a:cubicBezTo>
                </a:path>
              </a:pathLst>
            </a:custGeom>
            <a:noFill/>
            <a:ln w="9360">
              <a:solidFill>
                <a:srgbClr val="000000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CD46CB0-65C4-4091-8AD3-994932DAF5A6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11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19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RELAX(u, v, w)</a:t>
            </a:r>
          </a:p>
        </p:txBody>
      </p:sp>
      <p:sp>
        <p:nvSpPr>
          <p:cNvPr id="320" name="CustomShape 3"/>
          <p:cNvSpPr/>
          <p:nvPr/>
        </p:nvSpPr>
        <p:spPr>
          <a:xfrm>
            <a:off x="351000" y="1213920"/>
            <a:ext cx="8229240" cy="50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4000" lnSpcReduction="10000"/>
          </a:bodyPr>
          <a:lstStyle/>
          <a:p>
            <a:pPr marL="533160" indent="-53280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latin typeface="Arial"/>
              </a:rPr>
              <a:t>if </a:t>
            </a:r>
            <a:r>
              <a:rPr lang="en-US" sz="3200" b="0" strike="noStrike" spc="-1">
                <a:latin typeface="Comic Sans MS"/>
              </a:rPr>
              <a:t>d[v] &gt; d[u] + w(u, v)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1" strike="noStrike" spc="-1">
                <a:latin typeface="Arial"/>
              </a:rPr>
              <a:t>   then </a:t>
            </a:r>
            <a:r>
              <a:rPr lang="en-US" sz="3200" b="0" strike="noStrike" spc="-1">
                <a:latin typeface="Comic Sans MS"/>
              </a:rPr>
              <a:t>d[v] ← d[u] + w(u, v)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</a:rPr>
              <a:t>            </a:t>
            </a:r>
            <a:r>
              <a:rPr lang="en-US" sz="3200" b="0" strike="noStrike" spc="-1">
                <a:latin typeface="Symbol"/>
              </a:rPr>
              <a:t>p</a:t>
            </a:r>
            <a:r>
              <a:rPr lang="en-US" sz="3200" b="0" strike="noStrike" spc="-1">
                <a:latin typeface="Comic Sans MS"/>
                <a:ea typeface="Symbol"/>
              </a:rPr>
              <a:t>[v] ← u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All the single-source shortest-paths algorithms </a:t>
            </a:r>
            <a:endParaRPr lang="en-US" sz="3200" b="0" strike="noStrike" spc="-1">
              <a:latin typeface="Arial"/>
            </a:endParaRPr>
          </a:p>
          <a:p>
            <a:pPr marL="914400" lvl="1" indent="-4568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Arial"/>
              <a:buChar char="–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latin typeface="Arial"/>
                <a:ea typeface="Symbol"/>
              </a:rPr>
              <a:t>start by calling INIT-SINGLE-SOURCE</a:t>
            </a:r>
            <a:endParaRPr lang="en-US" sz="2800" b="0" strike="noStrike" spc="-1">
              <a:latin typeface="Arial"/>
            </a:endParaRPr>
          </a:p>
          <a:p>
            <a:pPr marL="914400" lvl="1" indent="-456840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Font typeface="Arial"/>
              <a:buChar char="–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latin typeface="Arial"/>
                <a:ea typeface="Symbol"/>
              </a:rPr>
              <a:t>then relax edges</a:t>
            </a:r>
            <a:endParaRPr lang="en-US" sz="2800" b="0" strike="noStrike" spc="-1">
              <a:latin typeface="Arial"/>
            </a:endParaRPr>
          </a:p>
          <a:p>
            <a:pPr marL="533160" indent="-532800">
              <a:lnSpc>
                <a:spcPct val="100000"/>
              </a:lnSpc>
              <a:spcBef>
                <a:spcPts val="697"/>
              </a:spcBef>
              <a:buClr>
                <a:srgbClr val="333399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The algorithms differ in the order and how many times they relax each edge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0B2242E-AF6F-400C-BC39-9711553C66A8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12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22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Dijkstra’s Algorithm</a:t>
            </a:r>
          </a:p>
        </p:txBody>
      </p:sp>
      <p:sp>
        <p:nvSpPr>
          <p:cNvPr id="323" name="CustomShape 3"/>
          <p:cNvSpPr/>
          <p:nvPr/>
        </p:nvSpPr>
        <p:spPr>
          <a:xfrm>
            <a:off x="351000" y="1213920"/>
            <a:ext cx="8229240" cy="50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0000" lnSpcReduction="10000"/>
          </a:bodyPr>
          <a:lstStyle/>
          <a:p>
            <a:pPr marL="432000" indent="-323640">
              <a:lnSpc>
                <a:spcPct val="13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</a:rPr>
              <a:t>Single-source shortest path problem:</a:t>
            </a:r>
          </a:p>
          <a:p>
            <a:pPr marL="864000" lvl="1" indent="-323640">
              <a:lnSpc>
                <a:spcPct val="13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latin typeface="Arial"/>
              </a:rPr>
              <a:t>No negative-weight edges: w(u, v) &gt; 0 </a:t>
            </a:r>
            <a:r>
              <a:rPr lang="en-US" sz="2800" b="0" strike="noStrike" spc="-1">
                <a:latin typeface="Symbol"/>
                <a:ea typeface="Symbol"/>
              </a:rPr>
              <a:t></a:t>
            </a:r>
            <a:r>
              <a:rPr lang="en-US" sz="2800" b="0" strike="noStrike" spc="-1">
                <a:latin typeface="Arial"/>
                <a:ea typeface="Symbol"/>
              </a:rPr>
              <a:t> (u, v) </a:t>
            </a:r>
            <a:r>
              <a:rPr lang="en-US" sz="2800" b="0" strike="noStrike" spc="-1">
                <a:latin typeface="Symbol"/>
                <a:ea typeface="Symbol"/>
              </a:rPr>
              <a:t></a:t>
            </a:r>
            <a:r>
              <a:rPr lang="en-US" sz="2800" b="0" strike="noStrike" spc="-1">
                <a:latin typeface="Arial"/>
                <a:ea typeface="Symbol"/>
              </a:rPr>
              <a:t> E</a:t>
            </a:r>
            <a:endParaRPr lang="en-US" sz="2800" b="0" strike="noStrike" spc="-1">
              <a:latin typeface="Arial"/>
            </a:endParaRPr>
          </a:p>
          <a:p>
            <a:pPr marL="432000" indent="-323640">
              <a:lnSpc>
                <a:spcPct val="13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Maintains two sets of vertices:</a:t>
            </a:r>
            <a:endParaRPr lang="en-US" sz="3200" b="0" strike="noStrike" spc="-1">
              <a:latin typeface="Arial"/>
            </a:endParaRPr>
          </a:p>
          <a:p>
            <a:pPr marL="864000" lvl="1" indent="-323640">
              <a:lnSpc>
                <a:spcPct val="13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latin typeface="Arial"/>
                <a:ea typeface="Symbol"/>
              </a:rPr>
              <a:t>S = vertices whose final shortest-path weights have already been determined</a:t>
            </a:r>
            <a:endParaRPr lang="en-US" sz="2800" b="0" strike="noStrike" spc="-1">
              <a:latin typeface="Arial"/>
            </a:endParaRPr>
          </a:p>
          <a:p>
            <a:pPr marL="864000" lvl="1" indent="-323640">
              <a:lnSpc>
                <a:spcPct val="130000"/>
              </a:lnSpc>
              <a:spcBef>
                <a:spcPts val="598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b="0" strike="noStrike" spc="-1">
                <a:latin typeface="Arial"/>
                <a:ea typeface="Symbol"/>
              </a:rPr>
              <a:t>Q = vertices in V – S: min-priority queue</a:t>
            </a:r>
            <a:endParaRPr lang="en-US" sz="2800" b="0" strike="noStrike" spc="-1">
              <a:latin typeface="Arial"/>
            </a:endParaRPr>
          </a:p>
          <a:p>
            <a:pPr marL="1296000" lvl="2" indent="-287640">
              <a:lnSpc>
                <a:spcPct val="13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latin typeface="Arial"/>
                <a:ea typeface="Symbol"/>
              </a:rPr>
              <a:t>Keys in Q are estimates of shortest-path weights (d[v])</a:t>
            </a:r>
            <a:endParaRPr lang="en-US" sz="2400" b="0" strike="noStrike" spc="-1">
              <a:latin typeface="Arial"/>
            </a:endParaRPr>
          </a:p>
          <a:p>
            <a:pPr marL="432000" indent="-323640">
              <a:lnSpc>
                <a:spcPct val="13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Repeatedly select a vertex u </a:t>
            </a:r>
            <a:r>
              <a:rPr lang="en-US" sz="3200" b="0" strike="noStrike" spc="-1">
                <a:latin typeface="Symbol"/>
                <a:ea typeface="Symbol"/>
              </a:rPr>
              <a:t></a:t>
            </a:r>
            <a:r>
              <a:rPr lang="en-US" sz="3200" b="0" strike="noStrike" spc="-1">
                <a:latin typeface="Arial"/>
                <a:ea typeface="Symbol"/>
              </a:rPr>
              <a:t> V – S, with the minimum shortest-path estimate d[v]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38694ED-A82B-4BB5-B690-1D3B7A15DBE3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13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25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Dijkstra (G, w, s)</a:t>
            </a:r>
          </a:p>
        </p:txBody>
      </p:sp>
      <p:sp>
        <p:nvSpPr>
          <p:cNvPr id="326" name="CustomShape 3"/>
          <p:cNvSpPr/>
          <p:nvPr/>
        </p:nvSpPr>
        <p:spPr>
          <a:xfrm>
            <a:off x="150840" y="1213920"/>
            <a:ext cx="8229240" cy="50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8500" lnSpcReduction="10000"/>
          </a:bodyPr>
          <a:lstStyle/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</a:rPr>
              <a:t> INITIALIZE-SINGLE-SOURCE(</a:t>
            </a:r>
            <a:r>
              <a:rPr lang="en-US" sz="3200" b="0" strike="noStrike" spc="-1">
                <a:latin typeface="Comic Sans MS"/>
              </a:rPr>
              <a:t>V, s</a:t>
            </a:r>
            <a:r>
              <a:rPr lang="en-US" sz="3200" b="0" strike="noStrike" spc="-1">
                <a:latin typeface="Arial"/>
              </a:rPr>
              <a:t>)</a:t>
            </a:r>
          </a:p>
          <a:p>
            <a:pPr>
              <a:lnSpc>
                <a:spcPct val="12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Noto Sans CJK SC"/>
              </a:rPr>
              <a:t> S ← empty</a:t>
            </a:r>
            <a:r>
              <a:rPr lang="en-US" sz="3200" b="0" strike="noStrike" spc="-1">
                <a:latin typeface="Arial"/>
              </a:rPr>
              <a:t> </a:t>
            </a:r>
            <a:r>
              <a:rPr lang="en-US" sz="3200" b="0" strike="noStrike" spc="-1">
                <a:latin typeface="Arial"/>
                <a:ea typeface="Symbol"/>
              </a:rPr>
              <a:t> 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Q ← V[G]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20000"/>
              </a:lnSpc>
              <a:spcBef>
                <a:spcPts val="697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</a:t>
            </a:r>
            <a:r>
              <a:rPr lang="en-US" sz="3200" b="1" strike="noStrike" spc="-1">
                <a:latin typeface="Arial"/>
                <a:ea typeface="Symbol"/>
              </a:rPr>
              <a:t>while </a:t>
            </a:r>
            <a:r>
              <a:rPr lang="en-US" sz="3200" b="0" strike="noStrike" spc="-1">
                <a:latin typeface="Arial"/>
                <a:ea typeface="Symbol"/>
              </a:rPr>
              <a:t>Q </a:t>
            </a:r>
            <a:r>
              <a:rPr lang="en-US" sz="3200" b="0" strike="noStrike" spc="-1">
                <a:latin typeface="Symbol"/>
                <a:ea typeface="Symbol"/>
              </a:rPr>
              <a:t></a:t>
            </a:r>
            <a:r>
              <a:rPr lang="en-US" sz="3200" b="0" strike="noStrike" spc="-1">
                <a:latin typeface="Arial"/>
                <a:ea typeface="Symbol"/>
              </a:rPr>
              <a:t>not empty 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     </a:t>
            </a:r>
            <a:r>
              <a:rPr lang="en-US" sz="3200" b="1" strike="noStrike" spc="-1">
                <a:latin typeface="Arial"/>
                <a:ea typeface="Symbol"/>
              </a:rPr>
              <a:t>do</a:t>
            </a:r>
            <a:r>
              <a:rPr lang="en-US" sz="3200" b="0" strike="noStrike" spc="-1">
                <a:latin typeface="Arial"/>
                <a:ea typeface="Symbol"/>
              </a:rPr>
              <a:t> </a:t>
            </a:r>
            <a:r>
              <a:rPr lang="en-US" sz="3200" b="0" strike="noStrike" spc="-1">
                <a:latin typeface="Comic Sans MS"/>
                <a:ea typeface="Symbol"/>
              </a:rPr>
              <a:t>u</a:t>
            </a:r>
            <a:r>
              <a:rPr lang="en-US" sz="3200" b="0" strike="noStrike" spc="-1">
                <a:latin typeface="Arial"/>
                <a:ea typeface="Symbol"/>
              </a:rPr>
              <a:t> ← EXTRACT-MIN(Q)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          S ← S union {</a:t>
            </a:r>
            <a:r>
              <a:rPr lang="en-US" sz="3200" b="0" strike="noStrike" spc="-1">
                <a:latin typeface="Comic Sans MS"/>
                <a:ea typeface="Symbol"/>
              </a:rPr>
              <a:t>u</a:t>
            </a:r>
            <a:r>
              <a:rPr lang="en-US" sz="3200" b="0" strike="noStrike" spc="-1">
                <a:latin typeface="Arial"/>
                <a:ea typeface="Symbol"/>
              </a:rPr>
              <a:t>} 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          </a:t>
            </a:r>
            <a:r>
              <a:rPr lang="en-US" sz="3200" b="1" strike="noStrike" spc="-1">
                <a:latin typeface="Arial"/>
                <a:ea typeface="Symbol"/>
              </a:rPr>
              <a:t>for </a:t>
            </a:r>
            <a:r>
              <a:rPr lang="en-US" sz="3200" b="0" strike="noStrike" spc="-1">
                <a:latin typeface="Arial"/>
                <a:ea typeface="Symbol"/>
              </a:rPr>
              <a:t>each vertex </a:t>
            </a:r>
            <a:r>
              <a:rPr lang="en-US" sz="3200" b="0" strike="noStrike" spc="-1">
                <a:latin typeface="Comic Sans MS"/>
                <a:ea typeface="Symbol"/>
              </a:rPr>
              <a:t>v  </a:t>
            </a:r>
            <a:r>
              <a:rPr lang="en-US" sz="3200" b="0" strike="noStrike" spc="-1">
                <a:latin typeface="Symbol"/>
                <a:ea typeface="Symbol"/>
              </a:rPr>
              <a:t>e</a:t>
            </a:r>
            <a:r>
              <a:rPr lang="en-US" sz="3200" b="0" strike="noStrike" spc="-1">
                <a:latin typeface="Comic Sans MS"/>
                <a:ea typeface="Symbol"/>
              </a:rPr>
              <a:t> Adj[u]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                </a:t>
            </a:r>
            <a:r>
              <a:rPr lang="en-US" sz="3200" b="1" strike="noStrike" spc="-1">
                <a:latin typeface="Arial"/>
                <a:ea typeface="Symbol"/>
              </a:rPr>
              <a:t>do </a:t>
            </a:r>
            <a:r>
              <a:rPr lang="en-US" sz="3200" b="0" strike="noStrike" spc="-1">
                <a:latin typeface="Arial"/>
                <a:ea typeface="Symbol"/>
              </a:rPr>
              <a:t>RELAX(</a:t>
            </a:r>
            <a:r>
              <a:rPr lang="en-US" sz="3200" b="0" strike="noStrike" spc="-1">
                <a:latin typeface="Comic Sans MS"/>
                <a:ea typeface="Symbol"/>
              </a:rPr>
              <a:t>u, v, w</a:t>
            </a:r>
            <a:r>
              <a:rPr lang="en-US" sz="3200" b="0" strike="noStrike" spc="-1">
                <a:latin typeface="Arial"/>
                <a:ea typeface="Symbol"/>
              </a:rPr>
              <a:t>)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327" name="Group 4"/>
          <p:cNvGrpSpPr/>
          <p:nvPr/>
        </p:nvGrpSpPr>
        <p:grpSpPr>
          <a:xfrm>
            <a:off x="6100560" y="1090440"/>
            <a:ext cx="2879280" cy="2530080"/>
            <a:chOff x="6100560" y="1090440"/>
            <a:chExt cx="2879280" cy="2530080"/>
          </a:xfrm>
        </p:grpSpPr>
        <p:sp>
          <p:nvSpPr>
            <p:cNvPr id="328" name="CustomShape 5"/>
            <p:cNvSpPr/>
            <p:nvPr/>
          </p:nvSpPr>
          <p:spPr>
            <a:xfrm>
              <a:off x="6380280" y="2155680"/>
              <a:ext cx="421920" cy="420120"/>
            </a:xfrm>
            <a:prstGeom prst="ellipse">
              <a:avLst/>
            </a:prstGeom>
            <a:solidFill>
              <a:srgbClr val="EAEAEA"/>
            </a:solidFill>
            <a:ln w="316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29" name="CustomShape 6"/>
            <p:cNvSpPr/>
            <p:nvPr/>
          </p:nvSpPr>
          <p:spPr>
            <a:xfrm>
              <a:off x="7061400" y="141732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30" name="CustomShape 7"/>
            <p:cNvSpPr/>
            <p:nvPr/>
          </p:nvSpPr>
          <p:spPr>
            <a:xfrm>
              <a:off x="8382240" y="1417320"/>
              <a:ext cx="42156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31" name="CustomShape 8"/>
            <p:cNvSpPr/>
            <p:nvPr/>
          </p:nvSpPr>
          <p:spPr>
            <a:xfrm>
              <a:off x="7061400" y="2895480"/>
              <a:ext cx="42192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32" name="CustomShape 9"/>
            <p:cNvSpPr/>
            <p:nvPr/>
          </p:nvSpPr>
          <p:spPr>
            <a:xfrm>
              <a:off x="8382240" y="289548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33" name="Line 10"/>
            <p:cNvSpPr/>
            <p:nvPr/>
          </p:nvSpPr>
          <p:spPr>
            <a:xfrm flipV="1">
              <a:off x="6708960" y="1777320"/>
              <a:ext cx="414360" cy="414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4" name="Line 11"/>
            <p:cNvSpPr/>
            <p:nvPr/>
          </p:nvSpPr>
          <p:spPr>
            <a:xfrm>
              <a:off x="6710400" y="2520720"/>
              <a:ext cx="406440" cy="4287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5" name="CustomShape 12"/>
            <p:cNvSpPr/>
            <p:nvPr/>
          </p:nvSpPr>
          <p:spPr>
            <a:xfrm>
              <a:off x="6572160" y="1734840"/>
              <a:ext cx="40608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36" name="CustomShape 13"/>
            <p:cNvSpPr/>
            <p:nvPr/>
          </p:nvSpPr>
          <p:spPr>
            <a:xfrm>
              <a:off x="7766280" y="119988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37" name="CustomShape 14"/>
            <p:cNvSpPr/>
            <p:nvPr/>
          </p:nvSpPr>
          <p:spPr>
            <a:xfrm>
              <a:off x="6694560" y="262728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38" name="CustomShape 15"/>
            <p:cNvSpPr/>
            <p:nvPr/>
          </p:nvSpPr>
          <p:spPr>
            <a:xfrm>
              <a:off x="7797960" y="307152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39" name="CustomShape 16"/>
            <p:cNvSpPr/>
            <p:nvPr/>
          </p:nvSpPr>
          <p:spPr>
            <a:xfrm>
              <a:off x="6100560" y="217476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40" name="CustomShape 17"/>
            <p:cNvSpPr/>
            <p:nvPr/>
          </p:nvSpPr>
          <p:spPr>
            <a:xfrm>
              <a:off x="7149960" y="1090440"/>
              <a:ext cx="2444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41" name="CustomShape 18"/>
            <p:cNvSpPr/>
            <p:nvPr/>
          </p:nvSpPr>
          <p:spPr>
            <a:xfrm>
              <a:off x="8454960" y="109044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42" name="CustomShape 19"/>
            <p:cNvSpPr/>
            <p:nvPr/>
          </p:nvSpPr>
          <p:spPr>
            <a:xfrm>
              <a:off x="7124760" y="325260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43" name="CustomShape 20"/>
            <p:cNvSpPr/>
            <p:nvPr/>
          </p:nvSpPr>
          <p:spPr>
            <a:xfrm>
              <a:off x="8480520" y="325260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44" name="Line 21"/>
            <p:cNvSpPr/>
            <p:nvPr/>
          </p:nvSpPr>
          <p:spPr>
            <a:xfrm>
              <a:off x="7489800" y="3119400"/>
              <a:ext cx="9082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5" name="Line 22"/>
            <p:cNvSpPr/>
            <p:nvPr/>
          </p:nvSpPr>
          <p:spPr>
            <a:xfrm flipV="1">
              <a:off x="7380360" y="1763280"/>
              <a:ext cx="1063440" cy="11509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6" name="Line 23"/>
            <p:cNvSpPr/>
            <p:nvPr/>
          </p:nvSpPr>
          <p:spPr>
            <a:xfrm flipH="1" flipV="1">
              <a:off x="6779880" y="2442600"/>
              <a:ext cx="1636920" cy="5778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7" name="CustomShape 24"/>
            <p:cNvSpPr/>
            <p:nvPr/>
          </p:nvSpPr>
          <p:spPr>
            <a:xfrm>
              <a:off x="6885000" y="206820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48" name="CustomShape 25"/>
            <p:cNvSpPr/>
            <p:nvPr/>
          </p:nvSpPr>
          <p:spPr>
            <a:xfrm>
              <a:off x="7363080" y="210024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49" name="CustomShape 26"/>
            <p:cNvSpPr/>
            <p:nvPr/>
          </p:nvSpPr>
          <p:spPr>
            <a:xfrm>
              <a:off x="8018640" y="172548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50" name="CustomShape 27"/>
            <p:cNvSpPr/>
            <p:nvPr/>
          </p:nvSpPr>
          <p:spPr>
            <a:xfrm>
              <a:off x="7859880" y="259056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51" name="CustomShape 28"/>
            <p:cNvSpPr/>
            <p:nvPr/>
          </p:nvSpPr>
          <p:spPr>
            <a:xfrm rot="5400000">
              <a:off x="6813360" y="2325240"/>
              <a:ext cx="1104840" cy="7920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2" name="CustomShape 29"/>
            <p:cNvSpPr/>
            <p:nvPr/>
          </p:nvSpPr>
          <p:spPr>
            <a:xfrm rot="5400000" flipH="1" flipV="1">
              <a:off x="6609960" y="2324880"/>
              <a:ext cx="11048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3" name="Line 30"/>
            <p:cNvSpPr/>
            <p:nvPr/>
          </p:nvSpPr>
          <p:spPr>
            <a:xfrm>
              <a:off x="7518600" y="1623960"/>
              <a:ext cx="9079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4" name="CustomShape 31"/>
            <p:cNvSpPr/>
            <p:nvPr/>
          </p:nvSpPr>
          <p:spPr>
            <a:xfrm>
              <a:off x="8209080" y="206820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55" name="CustomShape 32"/>
            <p:cNvSpPr/>
            <p:nvPr/>
          </p:nvSpPr>
          <p:spPr>
            <a:xfrm>
              <a:off x="8686800" y="210024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56" name="CustomShape 33"/>
            <p:cNvSpPr/>
            <p:nvPr/>
          </p:nvSpPr>
          <p:spPr>
            <a:xfrm rot="5400000">
              <a:off x="8137800" y="2325600"/>
              <a:ext cx="11048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7" name="CustomShape 34"/>
            <p:cNvSpPr/>
            <p:nvPr/>
          </p:nvSpPr>
          <p:spPr>
            <a:xfrm rot="5400000" flipH="1" flipV="1">
              <a:off x="7933320" y="2324520"/>
              <a:ext cx="1104840" cy="7920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58" name="Group 35"/>
          <p:cNvGrpSpPr/>
          <p:nvPr/>
        </p:nvGrpSpPr>
        <p:grpSpPr>
          <a:xfrm>
            <a:off x="6100560" y="3576600"/>
            <a:ext cx="2879280" cy="2530080"/>
            <a:chOff x="6100560" y="3576600"/>
            <a:chExt cx="2879280" cy="2530080"/>
          </a:xfrm>
        </p:grpSpPr>
        <p:sp>
          <p:nvSpPr>
            <p:cNvPr id="359" name="CustomShape 36"/>
            <p:cNvSpPr/>
            <p:nvPr/>
          </p:nvSpPr>
          <p:spPr>
            <a:xfrm>
              <a:off x="6380280" y="4641840"/>
              <a:ext cx="421920" cy="420120"/>
            </a:xfrm>
            <a:prstGeom prst="ellipse">
              <a:avLst/>
            </a:prstGeom>
            <a:solidFill>
              <a:srgbClr val="EAEAEA"/>
            </a:solidFill>
            <a:ln w="316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60" name="CustomShape 37"/>
            <p:cNvSpPr/>
            <p:nvPr/>
          </p:nvSpPr>
          <p:spPr>
            <a:xfrm>
              <a:off x="7061400" y="390348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61" name="CustomShape 38"/>
            <p:cNvSpPr/>
            <p:nvPr/>
          </p:nvSpPr>
          <p:spPr>
            <a:xfrm>
              <a:off x="8382240" y="3903480"/>
              <a:ext cx="42156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62" name="CustomShape 39"/>
            <p:cNvSpPr/>
            <p:nvPr/>
          </p:nvSpPr>
          <p:spPr>
            <a:xfrm>
              <a:off x="7061400" y="5381640"/>
              <a:ext cx="42192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63" name="CustomShape 40"/>
            <p:cNvSpPr/>
            <p:nvPr/>
          </p:nvSpPr>
          <p:spPr>
            <a:xfrm>
              <a:off x="8382240" y="5381640"/>
              <a:ext cx="42156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64" name="Line 41"/>
            <p:cNvSpPr/>
            <p:nvPr/>
          </p:nvSpPr>
          <p:spPr>
            <a:xfrm flipV="1">
              <a:off x="6708960" y="4263480"/>
              <a:ext cx="414360" cy="414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5" name="Line 42"/>
            <p:cNvSpPr/>
            <p:nvPr/>
          </p:nvSpPr>
          <p:spPr>
            <a:xfrm>
              <a:off x="6710400" y="5006880"/>
              <a:ext cx="406440" cy="4287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6" name="CustomShape 43"/>
            <p:cNvSpPr/>
            <p:nvPr/>
          </p:nvSpPr>
          <p:spPr>
            <a:xfrm>
              <a:off x="6572160" y="4221000"/>
              <a:ext cx="40608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67" name="CustomShape 44"/>
            <p:cNvSpPr/>
            <p:nvPr/>
          </p:nvSpPr>
          <p:spPr>
            <a:xfrm>
              <a:off x="7766280" y="368604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68" name="CustomShape 45"/>
            <p:cNvSpPr/>
            <p:nvPr/>
          </p:nvSpPr>
          <p:spPr>
            <a:xfrm>
              <a:off x="6694560" y="511344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69" name="CustomShape 46"/>
            <p:cNvSpPr/>
            <p:nvPr/>
          </p:nvSpPr>
          <p:spPr>
            <a:xfrm>
              <a:off x="7797960" y="555768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70" name="CustomShape 47"/>
            <p:cNvSpPr/>
            <p:nvPr/>
          </p:nvSpPr>
          <p:spPr>
            <a:xfrm>
              <a:off x="6100560" y="466092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1" name="CustomShape 48"/>
            <p:cNvSpPr/>
            <p:nvPr/>
          </p:nvSpPr>
          <p:spPr>
            <a:xfrm>
              <a:off x="7149960" y="3576600"/>
              <a:ext cx="2444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2" name="CustomShape 49"/>
            <p:cNvSpPr/>
            <p:nvPr/>
          </p:nvSpPr>
          <p:spPr>
            <a:xfrm>
              <a:off x="8454960" y="357660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3" name="CustomShape 50"/>
            <p:cNvSpPr/>
            <p:nvPr/>
          </p:nvSpPr>
          <p:spPr>
            <a:xfrm>
              <a:off x="7124760" y="573876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4" name="CustomShape 51"/>
            <p:cNvSpPr/>
            <p:nvPr/>
          </p:nvSpPr>
          <p:spPr>
            <a:xfrm>
              <a:off x="8480520" y="573876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75" name="Line 52"/>
            <p:cNvSpPr/>
            <p:nvPr/>
          </p:nvSpPr>
          <p:spPr>
            <a:xfrm>
              <a:off x="7489800" y="5605560"/>
              <a:ext cx="9082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6" name="Line 53"/>
            <p:cNvSpPr/>
            <p:nvPr/>
          </p:nvSpPr>
          <p:spPr>
            <a:xfrm flipV="1">
              <a:off x="7380360" y="4249440"/>
              <a:ext cx="1063440" cy="11509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7" name="Line 54"/>
            <p:cNvSpPr/>
            <p:nvPr/>
          </p:nvSpPr>
          <p:spPr>
            <a:xfrm flipH="1" flipV="1">
              <a:off x="6779880" y="4928760"/>
              <a:ext cx="1636920" cy="5778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8" name="CustomShape 55"/>
            <p:cNvSpPr/>
            <p:nvPr/>
          </p:nvSpPr>
          <p:spPr>
            <a:xfrm>
              <a:off x="6885000" y="455436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79" name="CustomShape 56"/>
            <p:cNvSpPr/>
            <p:nvPr/>
          </p:nvSpPr>
          <p:spPr>
            <a:xfrm>
              <a:off x="7363080" y="458640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80" name="CustomShape 57"/>
            <p:cNvSpPr/>
            <p:nvPr/>
          </p:nvSpPr>
          <p:spPr>
            <a:xfrm>
              <a:off x="8018640" y="421164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81" name="CustomShape 58"/>
            <p:cNvSpPr/>
            <p:nvPr/>
          </p:nvSpPr>
          <p:spPr>
            <a:xfrm>
              <a:off x="7859880" y="507672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82" name="CustomShape 59"/>
            <p:cNvSpPr/>
            <p:nvPr/>
          </p:nvSpPr>
          <p:spPr>
            <a:xfrm rot="5400000">
              <a:off x="6813360" y="4811400"/>
              <a:ext cx="1104840" cy="7920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3" name="CustomShape 60"/>
            <p:cNvSpPr/>
            <p:nvPr/>
          </p:nvSpPr>
          <p:spPr>
            <a:xfrm rot="5400000" flipH="1" flipV="1">
              <a:off x="6609960" y="4811040"/>
              <a:ext cx="11048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4" name="Line 61"/>
            <p:cNvSpPr/>
            <p:nvPr/>
          </p:nvSpPr>
          <p:spPr>
            <a:xfrm>
              <a:off x="7518600" y="4110120"/>
              <a:ext cx="9079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5" name="CustomShape 62"/>
            <p:cNvSpPr/>
            <p:nvPr/>
          </p:nvSpPr>
          <p:spPr>
            <a:xfrm>
              <a:off x="8209080" y="455436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86" name="CustomShape 63"/>
            <p:cNvSpPr/>
            <p:nvPr/>
          </p:nvSpPr>
          <p:spPr>
            <a:xfrm>
              <a:off x="8686800" y="458640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387" name="CustomShape 64"/>
            <p:cNvSpPr/>
            <p:nvPr/>
          </p:nvSpPr>
          <p:spPr>
            <a:xfrm rot="5400000">
              <a:off x="8137800" y="4811760"/>
              <a:ext cx="11048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8" name="CustomShape 65"/>
            <p:cNvSpPr/>
            <p:nvPr/>
          </p:nvSpPr>
          <p:spPr>
            <a:xfrm rot="5400000" flipH="1" flipV="1">
              <a:off x="7933320" y="4810680"/>
              <a:ext cx="1104840" cy="7920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389" name="Group 66"/>
          <p:cNvGrpSpPr/>
          <p:nvPr/>
        </p:nvGrpSpPr>
        <p:grpSpPr>
          <a:xfrm>
            <a:off x="6699240" y="3962520"/>
            <a:ext cx="738000" cy="695160"/>
            <a:chOff x="6699240" y="3962520"/>
            <a:chExt cx="738000" cy="695160"/>
          </a:xfrm>
        </p:grpSpPr>
        <p:sp>
          <p:nvSpPr>
            <p:cNvPr id="390" name="Line 67"/>
            <p:cNvSpPr/>
            <p:nvPr/>
          </p:nvSpPr>
          <p:spPr>
            <a:xfrm flipV="1">
              <a:off x="6699240" y="4248000"/>
              <a:ext cx="447840" cy="40968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1" name="CustomShape 68"/>
            <p:cNvSpPr/>
            <p:nvPr/>
          </p:nvSpPr>
          <p:spPr>
            <a:xfrm>
              <a:off x="7088040" y="3962520"/>
              <a:ext cx="349200" cy="3139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392" name="Group 69"/>
          <p:cNvGrpSpPr/>
          <p:nvPr/>
        </p:nvGrpSpPr>
        <p:grpSpPr>
          <a:xfrm>
            <a:off x="6727680" y="5010120"/>
            <a:ext cx="709560" cy="752040"/>
            <a:chOff x="6727680" y="5010120"/>
            <a:chExt cx="709560" cy="752040"/>
          </a:xfrm>
        </p:grpSpPr>
        <p:sp>
          <p:nvSpPr>
            <p:cNvPr id="393" name="Line 70"/>
            <p:cNvSpPr/>
            <p:nvPr/>
          </p:nvSpPr>
          <p:spPr>
            <a:xfrm>
              <a:off x="6727680" y="5010120"/>
              <a:ext cx="409680" cy="44784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4" name="CustomShape 71"/>
            <p:cNvSpPr/>
            <p:nvPr/>
          </p:nvSpPr>
          <p:spPr>
            <a:xfrm>
              <a:off x="7088040" y="5448240"/>
              <a:ext cx="349200" cy="3139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83AF5AB-4CB5-4626-8391-37BC693D6547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14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396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Example</a:t>
            </a:r>
          </a:p>
        </p:txBody>
      </p:sp>
      <p:grpSp>
        <p:nvGrpSpPr>
          <p:cNvPr id="397" name="Group 3"/>
          <p:cNvGrpSpPr/>
          <p:nvPr/>
        </p:nvGrpSpPr>
        <p:grpSpPr>
          <a:xfrm>
            <a:off x="871560" y="1204920"/>
            <a:ext cx="2879280" cy="2530080"/>
            <a:chOff x="871560" y="1204920"/>
            <a:chExt cx="2879280" cy="2530080"/>
          </a:xfrm>
        </p:grpSpPr>
        <p:sp>
          <p:nvSpPr>
            <p:cNvPr id="398" name="CustomShape 4"/>
            <p:cNvSpPr/>
            <p:nvPr/>
          </p:nvSpPr>
          <p:spPr>
            <a:xfrm>
              <a:off x="1150920" y="2270160"/>
              <a:ext cx="421920" cy="420120"/>
            </a:xfrm>
            <a:prstGeom prst="ellipse">
              <a:avLst/>
            </a:prstGeom>
            <a:solidFill>
              <a:srgbClr val="EAEAEA"/>
            </a:solidFill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399" name="CustomShape 5"/>
            <p:cNvSpPr/>
            <p:nvPr/>
          </p:nvSpPr>
          <p:spPr>
            <a:xfrm>
              <a:off x="1832040" y="153180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00" name="CustomShape 6"/>
            <p:cNvSpPr/>
            <p:nvPr/>
          </p:nvSpPr>
          <p:spPr>
            <a:xfrm>
              <a:off x="3152880" y="1531800"/>
              <a:ext cx="421920" cy="42048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01" name="CustomShape 7"/>
            <p:cNvSpPr/>
            <p:nvPr/>
          </p:nvSpPr>
          <p:spPr>
            <a:xfrm>
              <a:off x="1832040" y="3009960"/>
              <a:ext cx="421920" cy="420120"/>
            </a:xfrm>
            <a:prstGeom prst="ellipse">
              <a:avLst/>
            </a:prstGeom>
            <a:solidFill>
              <a:srgbClr val="EAEAEA"/>
            </a:solidFill>
            <a:ln w="316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02" name="CustomShape 8"/>
            <p:cNvSpPr/>
            <p:nvPr/>
          </p:nvSpPr>
          <p:spPr>
            <a:xfrm>
              <a:off x="3152880" y="3009960"/>
              <a:ext cx="421920" cy="420120"/>
            </a:xfrm>
            <a:prstGeom prst="ellipse">
              <a:avLst/>
            </a:prstGeom>
            <a:noFill/>
            <a:ln w="1908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Symbol"/>
                  <a:ea typeface="Symbol"/>
                </a:rPr>
                <a:t>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03" name="Line 9"/>
            <p:cNvSpPr/>
            <p:nvPr/>
          </p:nvSpPr>
          <p:spPr>
            <a:xfrm flipV="1">
              <a:off x="1479600" y="1891800"/>
              <a:ext cx="414360" cy="4143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4" name="Line 10"/>
            <p:cNvSpPr/>
            <p:nvPr/>
          </p:nvSpPr>
          <p:spPr>
            <a:xfrm>
              <a:off x="1481400" y="2635200"/>
              <a:ext cx="406440" cy="4287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5" name="CustomShape 11"/>
            <p:cNvSpPr/>
            <p:nvPr/>
          </p:nvSpPr>
          <p:spPr>
            <a:xfrm>
              <a:off x="1343160" y="1849320"/>
              <a:ext cx="40608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10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06" name="CustomShape 12"/>
            <p:cNvSpPr/>
            <p:nvPr/>
          </p:nvSpPr>
          <p:spPr>
            <a:xfrm>
              <a:off x="2536920" y="131436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07" name="CustomShape 13"/>
            <p:cNvSpPr/>
            <p:nvPr/>
          </p:nvSpPr>
          <p:spPr>
            <a:xfrm>
              <a:off x="1465560" y="274176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5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08" name="CustomShape 14"/>
            <p:cNvSpPr/>
            <p:nvPr/>
          </p:nvSpPr>
          <p:spPr>
            <a:xfrm>
              <a:off x="2568960" y="318600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09" name="CustomShape 15"/>
            <p:cNvSpPr/>
            <p:nvPr/>
          </p:nvSpPr>
          <p:spPr>
            <a:xfrm>
              <a:off x="871560" y="228924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s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10" name="CustomShape 16"/>
            <p:cNvSpPr/>
            <p:nvPr/>
          </p:nvSpPr>
          <p:spPr>
            <a:xfrm>
              <a:off x="1920960" y="1204920"/>
              <a:ext cx="2444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t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11" name="CustomShape 17"/>
            <p:cNvSpPr/>
            <p:nvPr/>
          </p:nvSpPr>
          <p:spPr>
            <a:xfrm>
              <a:off x="3225960" y="120492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x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12" name="CustomShape 18"/>
            <p:cNvSpPr/>
            <p:nvPr/>
          </p:nvSpPr>
          <p:spPr>
            <a:xfrm>
              <a:off x="1895400" y="336708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y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13" name="CustomShape 19"/>
            <p:cNvSpPr/>
            <p:nvPr/>
          </p:nvSpPr>
          <p:spPr>
            <a:xfrm>
              <a:off x="3251160" y="3367080"/>
              <a:ext cx="294840" cy="3679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z</a:t>
              </a:r>
              <a:endParaRPr lang="en-US" sz="1800" b="0" strike="noStrike" spc="-1">
                <a:latin typeface="Arial"/>
              </a:endParaRPr>
            </a:p>
          </p:txBody>
        </p:sp>
        <p:sp>
          <p:nvSpPr>
            <p:cNvPr id="414" name="Line 20"/>
            <p:cNvSpPr/>
            <p:nvPr/>
          </p:nvSpPr>
          <p:spPr>
            <a:xfrm>
              <a:off x="2260800" y="3233880"/>
              <a:ext cx="90792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5" name="Line 21"/>
            <p:cNvSpPr/>
            <p:nvPr/>
          </p:nvSpPr>
          <p:spPr>
            <a:xfrm flipV="1">
              <a:off x="2151360" y="1877760"/>
              <a:ext cx="1063440" cy="115092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6" name="Line 22"/>
            <p:cNvSpPr/>
            <p:nvPr/>
          </p:nvSpPr>
          <p:spPr>
            <a:xfrm flipH="1" flipV="1">
              <a:off x="1551240" y="2557080"/>
              <a:ext cx="1636560" cy="57780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7" name="CustomShape 23"/>
            <p:cNvSpPr/>
            <p:nvPr/>
          </p:nvSpPr>
          <p:spPr>
            <a:xfrm>
              <a:off x="1656000" y="218268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2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18" name="CustomShape 24"/>
            <p:cNvSpPr/>
            <p:nvPr/>
          </p:nvSpPr>
          <p:spPr>
            <a:xfrm>
              <a:off x="2133720" y="221472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3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19" name="CustomShape 25"/>
            <p:cNvSpPr/>
            <p:nvPr/>
          </p:nvSpPr>
          <p:spPr>
            <a:xfrm>
              <a:off x="2789640" y="183996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20" name="CustomShape 26"/>
            <p:cNvSpPr/>
            <p:nvPr/>
          </p:nvSpPr>
          <p:spPr>
            <a:xfrm>
              <a:off x="2630880" y="270504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21" name="CustomShape 27"/>
            <p:cNvSpPr/>
            <p:nvPr/>
          </p:nvSpPr>
          <p:spPr>
            <a:xfrm rot="5400000">
              <a:off x="1584720" y="2440080"/>
              <a:ext cx="11048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2" name="CustomShape 28"/>
            <p:cNvSpPr/>
            <p:nvPr/>
          </p:nvSpPr>
          <p:spPr>
            <a:xfrm rot="5400000" flipH="1" flipV="1">
              <a:off x="1380240" y="2439000"/>
              <a:ext cx="1104840" cy="7920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3" name="Line 29"/>
            <p:cNvSpPr/>
            <p:nvPr/>
          </p:nvSpPr>
          <p:spPr>
            <a:xfrm>
              <a:off x="2289240" y="1738440"/>
              <a:ext cx="908280" cy="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4" name="CustomShape 30"/>
            <p:cNvSpPr/>
            <p:nvPr/>
          </p:nvSpPr>
          <p:spPr>
            <a:xfrm>
              <a:off x="2980080" y="218268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4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25" name="CustomShape 31"/>
            <p:cNvSpPr/>
            <p:nvPr/>
          </p:nvSpPr>
          <p:spPr>
            <a:xfrm>
              <a:off x="3457800" y="2214720"/>
              <a:ext cx="293040" cy="33696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6</a:t>
              </a:r>
              <a:endParaRPr lang="en-US" sz="1600" b="0" strike="noStrike" spc="-1">
                <a:latin typeface="Arial"/>
              </a:endParaRPr>
            </a:p>
          </p:txBody>
        </p:sp>
        <p:sp>
          <p:nvSpPr>
            <p:cNvPr id="426" name="CustomShape 32"/>
            <p:cNvSpPr/>
            <p:nvPr/>
          </p:nvSpPr>
          <p:spPr>
            <a:xfrm rot="5400000">
              <a:off x="2908080" y="2439720"/>
              <a:ext cx="1104840" cy="7920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7" name="CustomShape 33"/>
            <p:cNvSpPr/>
            <p:nvPr/>
          </p:nvSpPr>
          <p:spPr>
            <a:xfrm rot="5400000" flipH="1" flipV="1">
              <a:off x="2704680" y="2439360"/>
              <a:ext cx="110484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8" name="Line 34"/>
            <p:cNvSpPr/>
            <p:nvPr/>
          </p:nvSpPr>
          <p:spPr>
            <a:xfrm>
              <a:off x="1498680" y="2638440"/>
              <a:ext cx="409680" cy="44784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29" name="Line 35"/>
          <p:cNvSpPr/>
          <p:nvPr/>
        </p:nvSpPr>
        <p:spPr>
          <a:xfrm flipV="1">
            <a:off x="1469880" y="1885680"/>
            <a:ext cx="447840" cy="409320"/>
          </a:xfrm>
          <a:prstGeom prst="line">
            <a:avLst/>
          </a:prstGeom>
          <a:ln w="57240">
            <a:solidFill>
              <a:srgbClr val="80808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430" name="Group 36"/>
          <p:cNvGrpSpPr/>
          <p:nvPr/>
        </p:nvGrpSpPr>
        <p:grpSpPr>
          <a:xfrm>
            <a:off x="1868400" y="1571760"/>
            <a:ext cx="348840" cy="1431360"/>
            <a:chOff x="1868400" y="1571760"/>
            <a:chExt cx="348840" cy="1431360"/>
          </a:xfrm>
        </p:grpSpPr>
        <p:sp>
          <p:nvSpPr>
            <p:cNvPr id="431" name="CustomShape 37"/>
            <p:cNvSpPr/>
            <p:nvPr/>
          </p:nvSpPr>
          <p:spPr>
            <a:xfrm rot="5400000">
              <a:off x="1584360" y="2411280"/>
              <a:ext cx="1104480" cy="7884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2" name="CustomShape 38"/>
            <p:cNvSpPr/>
            <p:nvPr/>
          </p:nvSpPr>
          <p:spPr>
            <a:xfrm>
              <a:off x="1868400" y="1571760"/>
              <a:ext cx="348840" cy="3139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8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433" name="Line 39"/>
          <p:cNvSpPr/>
          <p:nvPr/>
        </p:nvSpPr>
        <p:spPr>
          <a:xfrm flipV="1">
            <a:off x="1460520" y="1895400"/>
            <a:ext cx="447480" cy="409680"/>
          </a:xfrm>
          <a:prstGeom prst="line">
            <a:avLst/>
          </a:prstGeom>
          <a:ln w="76320">
            <a:solidFill>
              <a:srgbClr val="000000"/>
            </a:solidFill>
            <a:prstDash val="sysDot"/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434" name="Group 40"/>
          <p:cNvGrpSpPr/>
          <p:nvPr/>
        </p:nvGrpSpPr>
        <p:grpSpPr>
          <a:xfrm>
            <a:off x="2160720" y="1571760"/>
            <a:ext cx="1380240" cy="1418760"/>
            <a:chOff x="2160720" y="1571760"/>
            <a:chExt cx="1380240" cy="1418760"/>
          </a:xfrm>
        </p:grpSpPr>
        <p:sp>
          <p:nvSpPr>
            <p:cNvPr id="435" name="Line 41"/>
            <p:cNvSpPr/>
            <p:nvPr/>
          </p:nvSpPr>
          <p:spPr>
            <a:xfrm flipV="1">
              <a:off x="2160720" y="1839600"/>
              <a:ext cx="1063440" cy="115092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6" name="CustomShape 42"/>
            <p:cNvSpPr/>
            <p:nvPr/>
          </p:nvSpPr>
          <p:spPr>
            <a:xfrm>
              <a:off x="3192120" y="1571760"/>
              <a:ext cx="348840" cy="3139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14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437" name="Group 43"/>
          <p:cNvGrpSpPr/>
          <p:nvPr/>
        </p:nvGrpSpPr>
        <p:grpSpPr>
          <a:xfrm>
            <a:off x="2279520" y="3048120"/>
            <a:ext cx="1271160" cy="313920"/>
            <a:chOff x="2279520" y="3048120"/>
            <a:chExt cx="1271160" cy="313920"/>
          </a:xfrm>
        </p:grpSpPr>
        <p:sp>
          <p:nvSpPr>
            <p:cNvPr id="438" name="Line 44"/>
            <p:cNvSpPr/>
            <p:nvPr/>
          </p:nvSpPr>
          <p:spPr>
            <a:xfrm>
              <a:off x="2279520" y="3214440"/>
              <a:ext cx="90792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9" name="CustomShape 45"/>
            <p:cNvSpPr/>
            <p:nvPr/>
          </p:nvSpPr>
          <p:spPr>
            <a:xfrm>
              <a:off x="3201840" y="3048120"/>
              <a:ext cx="348840" cy="3139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7</a:t>
              </a:r>
              <a:endParaRPr lang="en-US" sz="1800" b="0" strike="noStrike" spc="-1">
                <a:latin typeface="Arial"/>
              </a:endParaRPr>
            </a:p>
          </p:txBody>
        </p:sp>
      </p:grpSp>
      <p:sp>
        <p:nvSpPr>
          <p:cNvPr id="440" name="Line 46"/>
          <p:cNvSpPr/>
          <p:nvPr/>
        </p:nvSpPr>
        <p:spPr>
          <a:xfrm flipV="1">
            <a:off x="6018120" y="1848960"/>
            <a:ext cx="1063800" cy="1150920"/>
          </a:xfrm>
          <a:prstGeom prst="line">
            <a:avLst/>
          </a:prstGeom>
          <a:ln w="57240">
            <a:solidFill>
              <a:srgbClr val="80808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441" name="Group 47"/>
          <p:cNvGrpSpPr/>
          <p:nvPr/>
        </p:nvGrpSpPr>
        <p:grpSpPr>
          <a:xfrm>
            <a:off x="4728960" y="1195560"/>
            <a:ext cx="2879280" cy="2529720"/>
            <a:chOff x="4728960" y="1195560"/>
            <a:chExt cx="2879280" cy="2529720"/>
          </a:xfrm>
        </p:grpSpPr>
        <p:grpSp>
          <p:nvGrpSpPr>
            <p:cNvPr id="442" name="Group 48"/>
            <p:cNvGrpSpPr/>
            <p:nvPr/>
          </p:nvGrpSpPr>
          <p:grpSpPr>
            <a:xfrm>
              <a:off x="4728960" y="1195560"/>
              <a:ext cx="2879280" cy="2529720"/>
              <a:chOff x="4728960" y="1195560"/>
              <a:chExt cx="2879280" cy="2529720"/>
            </a:xfrm>
          </p:grpSpPr>
          <p:sp>
            <p:nvSpPr>
              <p:cNvPr id="443" name="CustomShape 49"/>
              <p:cNvSpPr/>
              <p:nvPr/>
            </p:nvSpPr>
            <p:spPr>
              <a:xfrm>
                <a:off x="5008320" y="2260440"/>
                <a:ext cx="421920" cy="419760"/>
              </a:xfrm>
              <a:prstGeom prst="ellipse">
                <a:avLst/>
              </a:prstGeom>
              <a:solidFill>
                <a:srgbClr val="EAEAEA"/>
              </a:solidFill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0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44" name="CustomShape 50"/>
              <p:cNvSpPr/>
              <p:nvPr/>
            </p:nvSpPr>
            <p:spPr>
              <a:xfrm>
                <a:off x="5689440" y="1522080"/>
                <a:ext cx="42192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8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45" name="CustomShape 51"/>
              <p:cNvSpPr/>
              <p:nvPr/>
            </p:nvSpPr>
            <p:spPr>
              <a:xfrm>
                <a:off x="7010280" y="1522080"/>
                <a:ext cx="42192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14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46" name="CustomShape 52"/>
              <p:cNvSpPr/>
              <p:nvPr/>
            </p:nvSpPr>
            <p:spPr>
              <a:xfrm>
                <a:off x="5689440" y="3000240"/>
                <a:ext cx="421920" cy="419760"/>
              </a:xfrm>
              <a:prstGeom prst="ellipse">
                <a:avLst/>
              </a:prstGeom>
              <a:solidFill>
                <a:srgbClr val="EAEAEA"/>
              </a:solidFill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47" name="CustomShape 53"/>
              <p:cNvSpPr/>
              <p:nvPr/>
            </p:nvSpPr>
            <p:spPr>
              <a:xfrm>
                <a:off x="7010280" y="3000240"/>
                <a:ext cx="421920" cy="419760"/>
              </a:xfrm>
              <a:prstGeom prst="ellipse">
                <a:avLst/>
              </a:prstGeom>
              <a:solidFill>
                <a:srgbClr val="EAEAEA"/>
              </a:solidFill>
              <a:ln w="316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48" name="Line 54"/>
              <p:cNvSpPr/>
              <p:nvPr/>
            </p:nvSpPr>
            <p:spPr>
              <a:xfrm flipV="1">
                <a:off x="5337000" y="1882440"/>
                <a:ext cx="414360" cy="4140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49" name="Line 55"/>
              <p:cNvSpPr/>
              <p:nvPr/>
            </p:nvSpPr>
            <p:spPr>
              <a:xfrm>
                <a:off x="5338800" y="2625480"/>
                <a:ext cx="406440" cy="4284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CustomShape 56"/>
              <p:cNvSpPr/>
              <p:nvPr/>
            </p:nvSpPr>
            <p:spPr>
              <a:xfrm>
                <a:off x="5200560" y="1839600"/>
                <a:ext cx="40608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10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51" name="CustomShape 57"/>
              <p:cNvSpPr/>
              <p:nvPr/>
            </p:nvSpPr>
            <p:spPr>
              <a:xfrm>
                <a:off x="6394320" y="13046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52" name="CustomShape 58"/>
              <p:cNvSpPr/>
              <p:nvPr/>
            </p:nvSpPr>
            <p:spPr>
              <a:xfrm>
                <a:off x="5322960" y="27320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53" name="CustomShape 59"/>
              <p:cNvSpPr/>
              <p:nvPr/>
            </p:nvSpPr>
            <p:spPr>
              <a:xfrm>
                <a:off x="6426360" y="31762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54" name="CustomShape 60"/>
              <p:cNvSpPr/>
              <p:nvPr/>
            </p:nvSpPr>
            <p:spPr>
              <a:xfrm>
                <a:off x="4728960" y="227952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s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55" name="CustomShape 61"/>
              <p:cNvSpPr/>
              <p:nvPr/>
            </p:nvSpPr>
            <p:spPr>
              <a:xfrm>
                <a:off x="5778360" y="1195560"/>
                <a:ext cx="2444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t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56" name="CustomShape 62"/>
              <p:cNvSpPr/>
              <p:nvPr/>
            </p:nvSpPr>
            <p:spPr>
              <a:xfrm>
                <a:off x="7083360" y="119556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x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57" name="CustomShape 63"/>
              <p:cNvSpPr/>
              <p:nvPr/>
            </p:nvSpPr>
            <p:spPr>
              <a:xfrm>
                <a:off x="5752800" y="335736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58" name="CustomShape 64"/>
              <p:cNvSpPr/>
              <p:nvPr/>
            </p:nvSpPr>
            <p:spPr>
              <a:xfrm>
                <a:off x="7108560" y="335736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z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59" name="Line 65"/>
              <p:cNvSpPr/>
              <p:nvPr/>
            </p:nvSpPr>
            <p:spPr>
              <a:xfrm>
                <a:off x="6118200" y="3224160"/>
                <a:ext cx="9079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0" name="Line 66"/>
              <p:cNvSpPr/>
              <p:nvPr/>
            </p:nvSpPr>
            <p:spPr>
              <a:xfrm flipV="1">
                <a:off x="6008760" y="1868400"/>
                <a:ext cx="1063440" cy="11505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1" name="Line 67"/>
              <p:cNvSpPr/>
              <p:nvPr/>
            </p:nvSpPr>
            <p:spPr>
              <a:xfrm flipH="1" flipV="1">
                <a:off x="5408640" y="2547720"/>
                <a:ext cx="1636560" cy="57744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2" name="CustomShape 68"/>
              <p:cNvSpPr/>
              <p:nvPr/>
            </p:nvSpPr>
            <p:spPr>
              <a:xfrm>
                <a:off x="5513400" y="21729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63" name="CustomShape 69"/>
              <p:cNvSpPr/>
              <p:nvPr/>
            </p:nvSpPr>
            <p:spPr>
              <a:xfrm>
                <a:off x="5991120" y="22050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64" name="CustomShape 70"/>
              <p:cNvSpPr/>
              <p:nvPr/>
            </p:nvSpPr>
            <p:spPr>
              <a:xfrm>
                <a:off x="6647040" y="18302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9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65" name="CustomShape 71"/>
              <p:cNvSpPr/>
              <p:nvPr/>
            </p:nvSpPr>
            <p:spPr>
              <a:xfrm>
                <a:off x="6488280" y="269532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66" name="CustomShape 72"/>
              <p:cNvSpPr/>
              <p:nvPr/>
            </p:nvSpPr>
            <p:spPr>
              <a:xfrm rot="5400000">
                <a:off x="5442120" y="2430000"/>
                <a:ext cx="110448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7" name="CustomShape 73"/>
              <p:cNvSpPr/>
              <p:nvPr/>
            </p:nvSpPr>
            <p:spPr>
              <a:xfrm rot="5400000" flipH="1" flipV="1">
                <a:off x="5238000" y="2429280"/>
                <a:ext cx="110448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8" name="Line 74"/>
              <p:cNvSpPr/>
              <p:nvPr/>
            </p:nvSpPr>
            <p:spPr>
              <a:xfrm>
                <a:off x="6146640" y="1728720"/>
                <a:ext cx="90828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69" name="CustomShape 75"/>
              <p:cNvSpPr/>
              <p:nvPr/>
            </p:nvSpPr>
            <p:spPr>
              <a:xfrm>
                <a:off x="6837480" y="21729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4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70" name="CustomShape 76"/>
              <p:cNvSpPr/>
              <p:nvPr/>
            </p:nvSpPr>
            <p:spPr>
              <a:xfrm>
                <a:off x="7315200" y="22050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71" name="CustomShape 77"/>
              <p:cNvSpPr/>
              <p:nvPr/>
            </p:nvSpPr>
            <p:spPr>
              <a:xfrm rot="5400000">
                <a:off x="6765840" y="2430000"/>
                <a:ext cx="110448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72" name="CustomShape 78"/>
              <p:cNvSpPr/>
              <p:nvPr/>
            </p:nvSpPr>
            <p:spPr>
              <a:xfrm rot="5400000" flipH="1" flipV="1">
                <a:off x="6562080" y="2429280"/>
                <a:ext cx="110448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73" name="Line 79"/>
              <p:cNvSpPr/>
              <p:nvPr/>
            </p:nvSpPr>
            <p:spPr>
              <a:xfrm>
                <a:off x="5356080" y="2628000"/>
                <a:ext cx="409680" cy="447480"/>
              </a:xfrm>
              <a:prstGeom prst="line">
                <a:avLst/>
              </a:prstGeom>
              <a:ln w="57240">
                <a:solidFill>
                  <a:srgbClr val="80808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4" name="CustomShape 80"/>
            <p:cNvSpPr/>
            <p:nvPr/>
          </p:nvSpPr>
          <p:spPr>
            <a:xfrm rot="5400000">
              <a:off x="5442120" y="2420280"/>
              <a:ext cx="1104120" cy="7920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5" name="Line 81"/>
            <p:cNvSpPr/>
            <p:nvPr/>
          </p:nvSpPr>
          <p:spPr>
            <a:xfrm>
              <a:off x="6137280" y="3224160"/>
              <a:ext cx="90828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76" name="Line 82"/>
          <p:cNvSpPr/>
          <p:nvPr/>
        </p:nvSpPr>
        <p:spPr>
          <a:xfrm flipV="1">
            <a:off x="6018120" y="1858680"/>
            <a:ext cx="1063800" cy="1150920"/>
          </a:xfrm>
          <a:prstGeom prst="line">
            <a:avLst/>
          </a:prstGeom>
          <a:ln w="76320">
            <a:solidFill>
              <a:srgbClr val="000000"/>
            </a:solidFill>
            <a:prstDash val="sysDot"/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477" name="Group 83"/>
          <p:cNvGrpSpPr/>
          <p:nvPr/>
        </p:nvGrpSpPr>
        <p:grpSpPr>
          <a:xfrm>
            <a:off x="7059600" y="1571760"/>
            <a:ext cx="348840" cy="1450080"/>
            <a:chOff x="7059600" y="1571760"/>
            <a:chExt cx="348840" cy="1450080"/>
          </a:xfrm>
        </p:grpSpPr>
        <p:sp>
          <p:nvSpPr>
            <p:cNvPr id="478" name="CustomShape 84"/>
            <p:cNvSpPr/>
            <p:nvPr/>
          </p:nvSpPr>
          <p:spPr>
            <a:xfrm rot="5400000">
              <a:off x="6775560" y="2430000"/>
              <a:ext cx="1104120" cy="7920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9" name="CustomShape 85"/>
            <p:cNvSpPr/>
            <p:nvPr/>
          </p:nvSpPr>
          <p:spPr>
            <a:xfrm>
              <a:off x="7059600" y="1571760"/>
              <a:ext cx="348840" cy="3135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13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480" name="Group 86"/>
          <p:cNvGrpSpPr/>
          <p:nvPr/>
        </p:nvGrpSpPr>
        <p:grpSpPr>
          <a:xfrm>
            <a:off x="861840" y="3919680"/>
            <a:ext cx="2879280" cy="2529720"/>
            <a:chOff x="861840" y="3919680"/>
            <a:chExt cx="2879280" cy="2529720"/>
          </a:xfrm>
        </p:grpSpPr>
        <p:grpSp>
          <p:nvGrpSpPr>
            <p:cNvPr id="481" name="Group 87"/>
            <p:cNvGrpSpPr/>
            <p:nvPr/>
          </p:nvGrpSpPr>
          <p:grpSpPr>
            <a:xfrm>
              <a:off x="861840" y="3919680"/>
              <a:ext cx="2879280" cy="2529720"/>
              <a:chOff x="861840" y="3919680"/>
              <a:chExt cx="2879280" cy="2529720"/>
            </a:xfrm>
          </p:grpSpPr>
          <p:sp>
            <p:nvSpPr>
              <p:cNvPr id="482" name="CustomShape 88"/>
              <p:cNvSpPr/>
              <p:nvPr/>
            </p:nvSpPr>
            <p:spPr>
              <a:xfrm>
                <a:off x="1141200" y="4984560"/>
                <a:ext cx="421920" cy="419760"/>
              </a:xfrm>
              <a:prstGeom prst="ellipse">
                <a:avLst/>
              </a:prstGeom>
              <a:solidFill>
                <a:srgbClr val="EAEAEA"/>
              </a:solidFill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0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83" name="CustomShape 89"/>
              <p:cNvSpPr/>
              <p:nvPr/>
            </p:nvSpPr>
            <p:spPr>
              <a:xfrm>
                <a:off x="1822320" y="4246200"/>
                <a:ext cx="421920" cy="420120"/>
              </a:xfrm>
              <a:prstGeom prst="ellipse">
                <a:avLst/>
              </a:prstGeom>
              <a:solidFill>
                <a:srgbClr val="EAEAEA"/>
              </a:solidFill>
              <a:ln w="316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8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84" name="CustomShape 90"/>
              <p:cNvSpPr/>
              <p:nvPr/>
            </p:nvSpPr>
            <p:spPr>
              <a:xfrm>
                <a:off x="3143160" y="4246200"/>
                <a:ext cx="421920" cy="420120"/>
              </a:xfrm>
              <a:prstGeom prst="ellipse">
                <a:avLst/>
              </a:prstGeom>
              <a:noFill/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13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85" name="CustomShape 91"/>
              <p:cNvSpPr/>
              <p:nvPr/>
            </p:nvSpPr>
            <p:spPr>
              <a:xfrm>
                <a:off x="1822320" y="5724360"/>
                <a:ext cx="421920" cy="419760"/>
              </a:xfrm>
              <a:prstGeom prst="ellipse">
                <a:avLst/>
              </a:prstGeom>
              <a:solidFill>
                <a:srgbClr val="EAEAEA"/>
              </a:solidFill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86" name="CustomShape 92"/>
              <p:cNvSpPr/>
              <p:nvPr/>
            </p:nvSpPr>
            <p:spPr>
              <a:xfrm>
                <a:off x="3143160" y="5724360"/>
                <a:ext cx="421920" cy="419760"/>
              </a:xfrm>
              <a:prstGeom prst="ellipse">
                <a:avLst/>
              </a:prstGeom>
              <a:solidFill>
                <a:srgbClr val="EAEAEA"/>
              </a:solidFill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87" name="Line 93"/>
              <p:cNvSpPr/>
              <p:nvPr/>
            </p:nvSpPr>
            <p:spPr>
              <a:xfrm flipV="1">
                <a:off x="1469880" y="4606560"/>
                <a:ext cx="414360" cy="4140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Line 94"/>
              <p:cNvSpPr/>
              <p:nvPr/>
            </p:nvSpPr>
            <p:spPr>
              <a:xfrm>
                <a:off x="1471680" y="5349600"/>
                <a:ext cx="406440" cy="4284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CustomShape 95"/>
              <p:cNvSpPr/>
              <p:nvPr/>
            </p:nvSpPr>
            <p:spPr>
              <a:xfrm>
                <a:off x="1333440" y="4563720"/>
                <a:ext cx="40608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10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90" name="CustomShape 96"/>
              <p:cNvSpPr/>
              <p:nvPr/>
            </p:nvSpPr>
            <p:spPr>
              <a:xfrm>
                <a:off x="2527200" y="40287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91" name="CustomShape 97"/>
              <p:cNvSpPr/>
              <p:nvPr/>
            </p:nvSpPr>
            <p:spPr>
              <a:xfrm>
                <a:off x="1455840" y="54561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92" name="CustomShape 98"/>
              <p:cNvSpPr/>
              <p:nvPr/>
            </p:nvSpPr>
            <p:spPr>
              <a:xfrm>
                <a:off x="2559240" y="59004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493" name="CustomShape 99"/>
              <p:cNvSpPr/>
              <p:nvPr/>
            </p:nvSpPr>
            <p:spPr>
              <a:xfrm>
                <a:off x="861840" y="500364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s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94" name="CustomShape 100"/>
              <p:cNvSpPr/>
              <p:nvPr/>
            </p:nvSpPr>
            <p:spPr>
              <a:xfrm>
                <a:off x="1911240" y="3919680"/>
                <a:ext cx="2444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t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95" name="CustomShape 101"/>
              <p:cNvSpPr/>
              <p:nvPr/>
            </p:nvSpPr>
            <p:spPr>
              <a:xfrm>
                <a:off x="3216240" y="391968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x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96" name="CustomShape 102"/>
              <p:cNvSpPr/>
              <p:nvPr/>
            </p:nvSpPr>
            <p:spPr>
              <a:xfrm>
                <a:off x="1885680" y="608148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97" name="CustomShape 103"/>
              <p:cNvSpPr/>
              <p:nvPr/>
            </p:nvSpPr>
            <p:spPr>
              <a:xfrm>
                <a:off x="3241440" y="608148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z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498" name="Line 104"/>
              <p:cNvSpPr/>
              <p:nvPr/>
            </p:nvSpPr>
            <p:spPr>
              <a:xfrm>
                <a:off x="2251080" y="5948280"/>
                <a:ext cx="9079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Line 105"/>
              <p:cNvSpPr/>
              <p:nvPr/>
            </p:nvSpPr>
            <p:spPr>
              <a:xfrm flipV="1">
                <a:off x="2141640" y="4592520"/>
                <a:ext cx="1063440" cy="11505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Line 106"/>
              <p:cNvSpPr/>
              <p:nvPr/>
            </p:nvSpPr>
            <p:spPr>
              <a:xfrm flipH="1" flipV="1">
                <a:off x="1541520" y="5271840"/>
                <a:ext cx="1636560" cy="57744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CustomShape 107"/>
              <p:cNvSpPr/>
              <p:nvPr/>
            </p:nvSpPr>
            <p:spPr>
              <a:xfrm>
                <a:off x="1646280" y="48970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02" name="CustomShape 108"/>
              <p:cNvSpPr/>
              <p:nvPr/>
            </p:nvSpPr>
            <p:spPr>
              <a:xfrm>
                <a:off x="2124000" y="492912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03" name="CustomShape 109"/>
              <p:cNvSpPr/>
              <p:nvPr/>
            </p:nvSpPr>
            <p:spPr>
              <a:xfrm>
                <a:off x="2779920" y="45543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9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04" name="CustomShape 110"/>
              <p:cNvSpPr/>
              <p:nvPr/>
            </p:nvSpPr>
            <p:spPr>
              <a:xfrm>
                <a:off x="2621160" y="54194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05" name="CustomShape 111"/>
              <p:cNvSpPr/>
              <p:nvPr/>
            </p:nvSpPr>
            <p:spPr>
              <a:xfrm rot="5400000">
                <a:off x="1575000" y="5154120"/>
                <a:ext cx="110448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CustomShape 112"/>
              <p:cNvSpPr/>
              <p:nvPr/>
            </p:nvSpPr>
            <p:spPr>
              <a:xfrm rot="5400000" flipH="1" flipV="1">
                <a:off x="1370880" y="5153400"/>
                <a:ext cx="110448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Line 113"/>
              <p:cNvSpPr/>
              <p:nvPr/>
            </p:nvSpPr>
            <p:spPr>
              <a:xfrm>
                <a:off x="2279520" y="4452840"/>
                <a:ext cx="90828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08" name="CustomShape 114"/>
              <p:cNvSpPr/>
              <p:nvPr/>
            </p:nvSpPr>
            <p:spPr>
              <a:xfrm>
                <a:off x="2970360" y="48970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4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09" name="CustomShape 115"/>
              <p:cNvSpPr/>
              <p:nvPr/>
            </p:nvSpPr>
            <p:spPr>
              <a:xfrm>
                <a:off x="3448080" y="492912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10" name="CustomShape 116"/>
              <p:cNvSpPr/>
              <p:nvPr/>
            </p:nvSpPr>
            <p:spPr>
              <a:xfrm rot="5400000">
                <a:off x="2898720" y="5154120"/>
                <a:ext cx="110448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11" name="CustomShape 117"/>
              <p:cNvSpPr/>
              <p:nvPr/>
            </p:nvSpPr>
            <p:spPr>
              <a:xfrm rot="5400000" flipH="1" flipV="1">
                <a:off x="2694960" y="5153400"/>
                <a:ext cx="110448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12" name="Line 118"/>
              <p:cNvSpPr/>
              <p:nvPr/>
            </p:nvSpPr>
            <p:spPr>
              <a:xfrm>
                <a:off x="1488960" y="5352120"/>
                <a:ext cx="409680" cy="447480"/>
              </a:xfrm>
              <a:prstGeom prst="line">
                <a:avLst/>
              </a:prstGeom>
              <a:ln w="57240">
                <a:solidFill>
                  <a:srgbClr val="80808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13" name="CustomShape 119"/>
            <p:cNvSpPr/>
            <p:nvPr/>
          </p:nvSpPr>
          <p:spPr>
            <a:xfrm rot="5400000">
              <a:off x="1574640" y="5144400"/>
              <a:ext cx="1104120" cy="79200"/>
            </a:xfrm>
            <a:custGeom>
              <a:avLst/>
              <a:gdLst/>
              <a:ahLst/>
              <a:cxnLst/>
              <a:rect l="l" t="t" r="r" b="b"/>
              <a:pathLst>
                <a:path w="582" h="50">
                  <a:moveTo>
                    <a:pt x="15" y="50"/>
                  </a:moveTo>
                  <a:cubicBezTo>
                    <a:pt x="7" y="47"/>
                    <a:pt x="0" y="45"/>
                    <a:pt x="47" y="37"/>
                  </a:cubicBezTo>
                  <a:cubicBezTo>
                    <a:pt x="94" y="29"/>
                    <a:pt x="210" y="0"/>
                    <a:pt x="299" y="1"/>
                  </a:cubicBezTo>
                  <a:cubicBezTo>
                    <a:pt x="388" y="2"/>
                    <a:pt x="536" y="34"/>
                    <a:pt x="582" y="41"/>
                  </a:cubicBezTo>
                </a:path>
              </a:pathLst>
            </a:custGeom>
            <a:noFill/>
            <a:ln w="57240">
              <a:solidFill>
                <a:srgbClr val="808080"/>
              </a:solidFill>
              <a:round/>
              <a:head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14" name="Line 120"/>
            <p:cNvSpPr/>
            <p:nvPr/>
          </p:nvSpPr>
          <p:spPr>
            <a:xfrm>
              <a:off x="2270160" y="5948280"/>
              <a:ext cx="90792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515" name="CustomShape 121"/>
          <p:cNvSpPr/>
          <p:nvPr/>
        </p:nvSpPr>
        <p:spPr>
          <a:xfrm rot="5400000">
            <a:off x="2908440" y="5154480"/>
            <a:ext cx="1104480" cy="78840"/>
          </a:xfrm>
          <a:custGeom>
            <a:avLst/>
            <a:gdLst/>
            <a:ahLst/>
            <a:cxnLst/>
            <a:rect l="l" t="t" r="r" b="b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57240">
            <a:solidFill>
              <a:srgbClr val="808080"/>
            </a:solidFill>
            <a:round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16" name="CustomShape 122"/>
          <p:cNvSpPr/>
          <p:nvPr/>
        </p:nvSpPr>
        <p:spPr>
          <a:xfrm rot="5400000">
            <a:off x="2908440" y="5126040"/>
            <a:ext cx="1104480" cy="78840"/>
          </a:xfrm>
          <a:custGeom>
            <a:avLst/>
            <a:gdLst/>
            <a:ahLst/>
            <a:cxnLst/>
            <a:rect l="l" t="t" r="r" b="b"/>
            <a:pathLst>
              <a:path w="582" h="50">
                <a:moveTo>
                  <a:pt x="15" y="50"/>
                </a:moveTo>
                <a:cubicBezTo>
                  <a:pt x="7" y="47"/>
                  <a:pt x="0" y="45"/>
                  <a:pt x="47" y="37"/>
                </a:cubicBezTo>
                <a:cubicBezTo>
                  <a:pt x="94" y="29"/>
                  <a:pt x="210" y="0"/>
                  <a:pt x="299" y="1"/>
                </a:cubicBezTo>
                <a:cubicBezTo>
                  <a:pt x="388" y="2"/>
                  <a:pt x="536" y="34"/>
                  <a:pt x="582" y="41"/>
                </a:cubicBezTo>
              </a:path>
            </a:pathLst>
          </a:custGeom>
          <a:noFill/>
          <a:ln w="76320">
            <a:solidFill>
              <a:srgbClr val="000000"/>
            </a:solidFill>
            <a:prstDash val="sysDot"/>
            <a:round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517" name="Group 123"/>
          <p:cNvGrpSpPr/>
          <p:nvPr/>
        </p:nvGrpSpPr>
        <p:grpSpPr>
          <a:xfrm>
            <a:off x="2260440" y="4305240"/>
            <a:ext cx="1261800" cy="313920"/>
            <a:chOff x="2260440" y="4305240"/>
            <a:chExt cx="1261800" cy="313920"/>
          </a:xfrm>
        </p:grpSpPr>
        <p:sp>
          <p:nvSpPr>
            <p:cNvPr id="518" name="Line 124"/>
            <p:cNvSpPr/>
            <p:nvPr/>
          </p:nvSpPr>
          <p:spPr>
            <a:xfrm>
              <a:off x="2260440" y="4452840"/>
              <a:ext cx="908280" cy="0"/>
            </a:xfrm>
            <a:prstGeom prst="line">
              <a:avLst/>
            </a:prstGeom>
            <a:ln w="57240">
              <a:solidFill>
                <a:srgbClr val="80808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19" name="CustomShape 125"/>
            <p:cNvSpPr/>
            <p:nvPr/>
          </p:nvSpPr>
          <p:spPr>
            <a:xfrm>
              <a:off x="3173400" y="4305240"/>
              <a:ext cx="348840" cy="3139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0" strike="noStrike" spc="-1">
                  <a:solidFill>
                    <a:srgbClr val="000000"/>
                  </a:solidFill>
                  <a:latin typeface="Arial"/>
                  <a:ea typeface="DejaVu Sans"/>
                </a:rPr>
                <a:t>9</a:t>
              </a:r>
              <a:endParaRPr lang="en-US" sz="1800" b="0" strike="noStrike" spc="-1">
                <a:latin typeface="Arial"/>
              </a:endParaRPr>
            </a:p>
          </p:txBody>
        </p:sp>
      </p:grpSp>
      <p:grpSp>
        <p:nvGrpSpPr>
          <p:cNvPr id="520" name="Group 126"/>
          <p:cNvGrpSpPr/>
          <p:nvPr/>
        </p:nvGrpSpPr>
        <p:grpSpPr>
          <a:xfrm>
            <a:off x="4767120" y="3833640"/>
            <a:ext cx="2879280" cy="2530080"/>
            <a:chOff x="4767120" y="3833640"/>
            <a:chExt cx="2879280" cy="2530080"/>
          </a:xfrm>
        </p:grpSpPr>
        <p:grpSp>
          <p:nvGrpSpPr>
            <p:cNvPr id="521" name="Group 127"/>
            <p:cNvGrpSpPr/>
            <p:nvPr/>
          </p:nvGrpSpPr>
          <p:grpSpPr>
            <a:xfrm>
              <a:off x="4767120" y="3833640"/>
              <a:ext cx="2879280" cy="2530080"/>
              <a:chOff x="4767120" y="3833640"/>
              <a:chExt cx="2879280" cy="2530080"/>
            </a:xfrm>
          </p:grpSpPr>
          <p:sp>
            <p:nvSpPr>
              <p:cNvPr id="522" name="CustomShape 128"/>
              <p:cNvSpPr/>
              <p:nvPr/>
            </p:nvSpPr>
            <p:spPr>
              <a:xfrm>
                <a:off x="5046480" y="4898880"/>
                <a:ext cx="421920" cy="420120"/>
              </a:xfrm>
              <a:prstGeom prst="ellipse">
                <a:avLst/>
              </a:prstGeom>
              <a:solidFill>
                <a:srgbClr val="EAEAEA"/>
              </a:solidFill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0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23" name="CustomShape 129"/>
              <p:cNvSpPr/>
              <p:nvPr/>
            </p:nvSpPr>
            <p:spPr>
              <a:xfrm>
                <a:off x="5727600" y="4160520"/>
                <a:ext cx="421920" cy="420480"/>
              </a:xfrm>
              <a:prstGeom prst="ellipse">
                <a:avLst/>
              </a:prstGeom>
              <a:solidFill>
                <a:srgbClr val="EAEAEA"/>
              </a:solidFill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8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24" name="CustomShape 130"/>
              <p:cNvSpPr/>
              <p:nvPr/>
            </p:nvSpPr>
            <p:spPr>
              <a:xfrm>
                <a:off x="7048440" y="4160520"/>
                <a:ext cx="421920" cy="420480"/>
              </a:xfrm>
              <a:prstGeom prst="ellipse">
                <a:avLst/>
              </a:prstGeom>
              <a:solidFill>
                <a:srgbClr val="EAEAEA"/>
              </a:solidFill>
              <a:ln w="316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9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25" name="CustomShape 131"/>
              <p:cNvSpPr/>
              <p:nvPr/>
            </p:nvSpPr>
            <p:spPr>
              <a:xfrm>
                <a:off x="5727600" y="5638680"/>
                <a:ext cx="421920" cy="420120"/>
              </a:xfrm>
              <a:prstGeom prst="ellipse">
                <a:avLst/>
              </a:prstGeom>
              <a:solidFill>
                <a:srgbClr val="EAEAEA"/>
              </a:solidFill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26" name="CustomShape 132"/>
              <p:cNvSpPr/>
              <p:nvPr/>
            </p:nvSpPr>
            <p:spPr>
              <a:xfrm>
                <a:off x="7048440" y="5638680"/>
                <a:ext cx="421920" cy="420120"/>
              </a:xfrm>
              <a:prstGeom prst="ellipse">
                <a:avLst/>
              </a:prstGeom>
              <a:solidFill>
                <a:srgbClr val="EAEAEA"/>
              </a:solidFill>
              <a:ln w="1908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27" name="Line 133"/>
              <p:cNvSpPr/>
              <p:nvPr/>
            </p:nvSpPr>
            <p:spPr>
              <a:xfrm flipV="1">
                <a:off x="5375160" y="4520520"/>
                <a:ext cx="414360" cy="4143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Line 134"/>
              <p:cNvSpPr/>
              <p:nvPr/>
            </p:nvSpPr>
            <p:spPr>
              <a:xfrm>
                <a:off x="5376960" y="5263920"/>
                <a:ext cx="406440" cy="42876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29" name="CustomShape 135"/>
              <p:cNvSpPr/>
              <p:nvPr/>
            </p:nvSpPr>
            <p:spPr>
              <a:xfrm>
                <a:off x="5238720" y="4478040"/>
                <a:ext cx="40608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10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30" name="CustomShape 136"/>
              <p:cNvSpPr/>
              <p:nvPr/>
            </p:nvSpPr>
            <p:spPr>
              <a:xfrm>
                <a:off x="6432480" y="39430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1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31" name="CustomShape 137"/>
              <p:cNvSpPr/>
              <p:nvPr/>
            </p:nvSpPr>
            <p:spPr>
              <a:xfrm>
                <a:off x="5361120" y="53704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5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32" name="CustomShape 138"/>
              <p:cNvSpPr/>
              <p:nvPr/>
            </p:nvSpPr>
            <p:spPr>
              <a:xfrm>
                <a:off x="6464520" y="581472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33" name="CustomShape 139"/>
              <p:cNvSpPr/>
              <p:nvPr/>
            </p:nvSpPr>
            <p:spPr>
              <a:xfrm>
                <a:off x="4767120" y="491796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s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34" name="CustomShape 140"/>
              <p:cNvSpPr/>
              <p:nvPr/>
            </p:nvSpPr>
            <p:spPr>
              <a:xfrm>
                <a:off x="5816520" y="3833640"/>
                <a:ext cx="2444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t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35" name="CustomShape 141"/>
              <p:cNvSpPr/>
              <p:nvPr/>
            </p:nvSpPr>
            <p:spPr>
              <a:xfrm>
                <a:off x="7121520" y="383364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x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36" name="CustomShape 142"/>
              <p:cNvSpPr/>
              <p:nvPr/>
            </p:nvSpPr>
            <p:spPr>
              <a:xfrm>
                <a:off x="5790960" y="599580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y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37" name="CustomShape 143"/>
              <p:cNvSpPr/>
              <p:nvPr/>
            </p:nvSpPr>
            <p:spPr>
              <a:xfrm>
                <a:off x="7146720" y="5995800"/>
                <a:ext cx="294840" cy="36792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8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z</a:t>
                </a:r>
                <a:endParaRPr lang="en-US" sz="1800" b="0" strike="noStrike" spc="-1">
                  <a:latin typeface="Arial"/>
                </a:endParaRPr>
              </a:p>
            </p:txBody>
          </p:sp>
          <p:sp>
            <p:nvSpPr>
              <p:cNvPr id="538" name="Line 144"/>
              <p:cNvSpPr/>
              <p:nvPr/>
            </p:nvSpPr>
            <p:spPr>
              <a:xfrm>
                <a:off x="6156360" y="5862600"/>
                <a:ext cx="90792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Line 145"/>
              <p:cNvSpPr/>
              <p:nvPr/>
            </p:nvSpPr>
            <p:spPr>
              <a:xfrm flipV="1">
                <a:off x="6046920" y="4506480"/>
                <a:ext cx="1063440" cy="115092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40" name="Line 146"/>
              <p:cNvSpPr/>
              <p:nvPr/>
            </p:nvSpPr>
            <p:spPr>
              <a:xfrm flipH="1" flipV="1">
                <a:off x="5446800" y="5185800"/>
                <a:ext cx="1636560" cy="57780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CustomShape 147"/>
              <p:cNvSpPr/>
              <p:nvPr/>
            </p:nvSpPr>
            <p:spPr>
              <a:xfrm>
                <a:off x="5551560" y="48114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2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42" name="CustomShape 148"/>
              <p:cNvSpPr/>
              <p:nvPr/>
            </p:nvSpPr>
            <p:spPr>
              <a:xfrm>
                <a:off x="6029280" y="48434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3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43" name="CustomShape 149"/>
              <p:cNvSpPr/>
              <p:nvPr/>
            </p:nvSpPr>
            <p:spPr>
              <a:xfrm>
                <a:off x="6685200" y="446868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9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44" name="CustomShape 150"/>
              <p:cNvSpPr/>
              <p:nvPr/>
            </p:nvSpPr>
            <p:spPr>
              <a:xfrm>
                <a:off x="6526440" y="533376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7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45" name="CustomShape 151"/>
              <p:cNvSpPr/>
              <p:nvPr/>
            </p:nvSpPr>
            <p:spPr>
              <a:xfrm rot="5400000">
                <a:off x="5480280" y="5068800"/>
                <a:ext cx="110484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46" name="CustomShape 152"/>
              <p:cNvSpPr/>
              <p:nvPr/>
            </p:nvSpPr>
            <p:spPr>
              <a:xfrm rot="5400000" flipH="1" flipV="1">
                <a:off x="5275800" y="5067720"/>
                <a:ext cx="110484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47" name="Line 153"/>
              <p:cNvSpPr/>
              <p:nvPr/>
            </p:nvSpPr>
            <p:spPr>
              <a:xfrm>
                <a:off x="6184800" y="4367160"/>
                <a:ext cx="908280" cy="0"/>
              </a:xfrm>
              <a:prstGeom prst="line">
                <a:avLst/>
              </a:prstGeom>
              <a:ln w="19080">
                <a:solidFill>
                  <a:srgbClr val="00000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48" name="CustomShape 154"/>
              <p:cNvSpPr/>
              <p:nvPr/>
            </p:nvSpPr>
            <p:spPr>
              <a:xfrm>
                <a:off x="6875640" y="481140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4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49" name="CustomShape 155"/>
              <p:cNvSpPr/>
              <p:nvPr/>
            </p:nvSpPr>
            <p:spPr>
              <a:xfrm>
                <a:off x="7353360" y="4843440"/>
                <a:ext cx="293040" cy="33696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6800" rIns="90000" bIns="46800">
                <a:spAutoFit/>
              </a:bodyPr>
              <a:lstStyle/>
              <a:p>
                <a:pPr>
                  <a:lnSpc>
                    <a:spcPct val="100000"/>
                  </a:lnSpc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US" sz="1600" b="0" strike="noStrike" spc="-1">
                    <a:solidFill>
                      <a:srgbClr val="000000"/>
                    </a:solidFill>
                    <a:latin typeface="Arial"/>
                    <a:ea typeface="DejaVu Sans"/>
                  </a:rPr>
                  <a:t>6</a:t>
                </a:r>
                <a:endParaRPr lang="en-US" sz="1600" b="0" strike="noStrike" spc="-1">
                  <a:latin typeface="Arial"/>
                </a:endParaRPr>
              </a:p>
            </p:txBody>
          </p:sp>
          <p:sp>
            <p:nvSpPr>
              <p:cNvPr id="550" name="CustomShape 156"/>
              <p:cNvSpPr/>
              <p:nvPr/>
            </p:nvSpPr>
            <p:spPr>
              <a:xfrm rot="5400000">
                <a:off x="6803640" y="5068440"/>
                <a:ext cx="1104840" cy="7920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CustomShape 157"/>
              <p:cNvSpPr/>
              <p:nvPr/>
            </p:nvSpPr>
            <p:spPr>
              <a:xfrm rot="5400000" flipH="1" flipV="1">
                <a:off x="6600240" y="5068080"/>
                <a:ext cx="110484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52" name="Line 158"/>
              <p:cNvSpPr/>
              <p:nvPr/>
            </p:nvSpPr>
            <p:spPr>
              <a:xfrm>
                <a:off x="5394240" y="5267160"/>
                <a:ext cx="409680" cy="447840"/>
              </a:xfrm>
              <a:prstGeom prst="line">
                <a:avLst/>
              </a:prstGeom>
              <a:ln w="57240">
                <a:solidFill>
                  <a:srgbClr val="80808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53" name="Group 159"/>
            <p:cNvGrpSpPr/>
            <p:nvPr/>
          </p:nvGrpSpPr>
          <p:grpSpPr>
            <a:xfrm>
              <a:off x="5993280" y="4367160"/>
              <a:ext cx="1089720" cy="1495440"/>
              <a:chOff x="5993280" y="4367160"/>
              <a:chExt cx="1089720" cy="1495440"/>
            </a:xfrm>
          </p:grpSpPr>
          <p:sp>
            <p:nvSpPr>
              <p:cNvPr id="554" name="CustomShape 160"/>
              <p:cNvSpPr/>
              <p:nvPr/>
            </p:nvSpPr>
            <p:spPr>
              <a:xfrm rot="5400000">
                <a:off x="5480280" y="5059440"/>
                <a:ext cx="1104480" cy="78840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0">
                    <a:moveTo>
                      <a:pt x="15" y="50"/>
                    </a:moveTo>
                    <a:cubicBezTo>
                      <a:pt x="7" y="47"/>
                      <a:pt x="0" y="45"/>
                      <a:pt x="47" y="37"/>
                    </a:cubicBezTo>
                    <a:cubicBezTo>
                      <a:pt x="94" y="29"/>
                      <a:pt x="210" y="0"/>
                      <a:pt x="299" y="1"/>
                    </a:cubicBezTo>
                    <a:cubicBezTo>
                      <a:pt x="388" y="2"/>
                      <a:pt x="536" y="34"/>
                      <a:pt x="582" y="41"/>
                    </a:cubicBezTo>
                  </a:path>
                </a:pathLst>
              </a:custGeom>
              <a:noFill/>
              <a:ln w="57240">
                <a:solidFill>
                  <a:srgbClr val="808080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Line 161"/>
              <p:cNvSpPr/>
              <p:nvPr/>
            </p:nvSpPr>
            <p:spPr>
              <a:xfrm>
                <a:off x="6175080" y="5862600"/>
                <a:ext cx="907920" cy="0"/>
              </a:xfrm>
              <a:prstGeom prst="line">
                <a:avLst/>
              </a:prstGeom>
              <a:ln w="57240">
                <a:solidFill>
                  <a:srgbClr val="80808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Line 162"/>
              <p:cNvSpPr/>
              <p:nvPr/>
            </p:nvSpPr>
            <p:spPr>
              <a:xfrm>
                <a:off x="6165720" y="4367160"/>
                <a:ext cx="907560" cy="0"/>
              </a:xfrm>
              <a:prstGeom prst="line">
                <a:avLst/>
              </a:prstGeom>
              <a:ln w="57240">
                <a:solidFill>
                  <a:srgbClr val="808080"/>
                </a:solidFill>
                <a:miter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 additive="repl">
                                        <p:cTn id="8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Effect">
                      <p:stCondLst>
                        <p:cond delay="indefinite"/>
                      </p:stCondLst>
                      <p:childTnLst>
                        <p:par>
                          <p:cTn id="13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Effect">
                      <p:stCondLst>
                        <p:cond delay="indefinite"/>
                      </p:stCondLst>
                      <p:childTnLst>
                        <p:par>
                          <p:cTn id="1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Effect">
                      <p:stCondLst>
                        <p:cond delay="indefinite"/>
                      </p:stCondLst>
                      <p:childTnLst>
                        <p:par>
                          <p:cTn id="2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Effect">
                      <p:stCondLst>
                        <p:cond delay="indefinite"/>
                      </p:stCondLst>
                      <p:childTnLst>
                        <p:par>
                          <p:cTn id="27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 additive="repl">
                                        <p:cTn id="31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Effect">
                      <p:stCondLst>
                        <p:cond delay="indefinite"/>
                      </p:stCondLst>
                      <p:childTnLst>
                        <p:par>
                          <p:cTn id="3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Effect">
                      <p:stCondLst>
                        <p:cond delay="indefinite"/>
                      </p:stCondLst>
                      <p:childTnLst>
                        <p:par>
                          <p:cTn id="4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 additive="repl">
                                        <p:cTn id="46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Effect">
                      <p:stCondLst>
                        <p:cond delay="indefinite"/>
                      </p:stCondLst>
                      <p:childTnLst>
                        <p:par>
                          <p:cTn id="51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CustomShape 1"/>
          <p:cNvSpPr/>
          <p:nvPr/>
        </p:nvSpPr>
        <p:spPr>
          <a:xfrm>
            <a:off x="1403280" y="5373720"/>
            <a:ext cx="5714640" cy="990360"/>
          </a:xfrm>
          <a:prstGeom prst="rect">
            <a:avLst/>
          </a:prstGeom>
          <a:solidFill>
            <a:srgbClr val="FFCC00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58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a-DK" sz="4400" b="0" strike="noStrike" spc="-1">
                <a:latin typeface="Arial"/>
              </a:rPr>
              <a:t>Dijkstra’s Pseudo Code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59" name="CustomShape 3"/>
          <p:cNvSpPr/>
          <p:nvPr/>
        </p:nvSpPr>
        <p:spPr>
          <a:xfrm>
            <a:off x="351000" y="1213920"/>
            <a:ext cx="8229240" cy="50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640">
              <a:lnSpc>
                <a:spcPct val="10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a-DK" sz="3200" b="0" strike="noStrike" spc="-1">
                <a:latin typeface="Arial"/>
              </a:rPr>
              <a:t>Graph </a:t>
            </a:r>
            <a:r>
              <a:rPr lang="da-DK" sz="3200" b="0" i="1" strike="noStrike" spc="-1">
                <a:latin typeface="Arial"/>
              </a:rPr>
              <a:t>G</a:t>
            </a:r>
            <a:r>
              <a:rPr lang="da-DK" sz="3200" b="0" strike="noStrike" spc="-1">
                <a:latin typeface="Arial"/>
              </a:rPr>
              <a:t>, weight function </a:t>
            </a:r>
            <a:r>
              <a:rPr lang="da-DK" sz="3200" b="0" i="1" strike="noStrike" spc="-1">
                <a:latin typeface="Arial"/>
              </a:rPr>
              <a:t>w</a:t>
            </a:r>
            <a:r>
              <a:rPr lang="da-DK" sz="3200" b="0" strike="noStrike" spc="-1">
                <a:latin typeface="Arial"/>
              </a:rPr>
              <a:t>, root </a:t>
            </a:r>
            <a:r>
              <a:rPr lang="da-DK" sz="3200" b="0" i="1" strike="noStrike" spc="-1">
                <a:latin typeface="Arial"/>
              </a:rPr>
              <a:t>s</a:t>
            </a:r>
            <a:endParaRPr lang="en-US" sz="3200" b="0" strike="noStrike" spc="-1">
              <a:latin typeface="Arial"/>
            </a:endParaRPr>
          </a:p>
        </p:txBody>
      </p:sp>
      <p:graphicFrame>
        <p:nvGraphicFramePr>
          <p:cNvPr id="560" name="Object 4"/>
          <p:cNvGraphicFramePr/>
          <p:nvPr/>
        </p:nvGraphicFramePr>
        <p:xfrm>
          <a:off x="1332000" y="2560680"/>
          <a:ext cx="5486040" cy="374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561" name="Object 2_1"/>
                      <p:cNvPicPr/>
                      <p:nvPr/>
                    </p:nvPicPr>
                    <p:blipFill>
                      <a:blip r:embed="rId3"/>
                      <a:stretch/>
                    </p:blipFill>
                    <p:spPr>
                      <a:xfrm>
                        <a:off x="1332000" y="2560680"/>
                        <a:ext cx="5486040" cy="37476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2" name="CustomShape 5"/>
          <p:cNvSpPr/>
          <p:nvPr/>
        </p:nvSpPr>
        <p:spPr>
          <a:xfrm>
            <a:off x="7236000" y="5445000"/>
            <a:ext cx="1371240" cy="825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50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a-DK" sz="2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relaxing edges</a:t>
            </a:r>
            <a:endParaRPr lang="en-US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AAC488-1F8C-4439-BD58-CB795DAE9E1D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16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564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Dijkstra (G, w, s)</a:t>
            </a:r>
          </a:p>
        </p:txBody>
      </p:sp>
      <p:sp>
        <p:nvSpPr>
          <p:cNvPr id="565" name="CustomShape 3"/>
          <p:cNvSpPr/>
          <p:nvPr/>
        </p:nvSpPr>
        <p:spPr>
          <a:xfrm>
            <a:off x="150840" y="1062000"/>
            <a:ext cx="8229240" cy="5686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7500" lnSpcReduction="10000"/>
          </a:bodyPr>
          <a:lstStyle/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</a:rPr>
              <a:t> INITIALIZE-SINGLE-SOURCE(</a:t>
            </a:r>
            <a:r>
              <a:rPr lang="en-US" sz="3200" b="0" strike="noStrike" spc="-1">
                <a:latin typeface="Comic Sans MS"/>
              </a:rPr>
              <a:t>V, s</a:t>
            </a:r>
            <a:r>
              <a:rPr lang="en-US" sz="3200" b="0" strike="noStrike" spc="-1">
                <a:latin typeface="Arial"/>
              </a:rPr>
              <a:t>)</a:t>
            </a: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</a:rPr>
              <a:t> S ←  </a:t>
            </a:r>
            <a:r>
              <a:rPr lang="en-US" sz="3200" b="0" strike="noStrike" spc="-1">
                <a:latin typeface="Symbol"/>
                <a:ea typeface="Symbol"/>
              </a:rPr>
              <a:t></a:t>
            </a:r>
            <a:r>
              <a:rPr lang="en-US" sz="3200" b="0" strike="noStrike" spc="-1">
                <a:latin typeface="Arial"/>
                <a:ea typeface="Symbol"/>
              </a:rPr>
              <a:t> 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Q ← V[G]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</a:t>
            </a:r>
            <a:r>
              <a:rPr lang="en-US" sz="3200" b="1" strike="noStrike" spc="-1">
                <a:latin typeface="Arial"/>
                <a:ea typeface="Symbol"/>
              </a:rPr>
              <a:t>while </a:t>
            </a:r>
            <a:r>
              <a:rPr lang="en-US" sz="3200" b="0" strike="noStrike" spc="-1">
                <a:latin typeface="Arial"/>
                <a:ea typeface="Symbol"/>
              </a:rPr>
              <a:t>Q </a:t>
            </a:r>
            <a:r>
              <a:rPr lang="en-US" sz="3200" b="0" strike="noStrike" spc="-1">
                <a:latin typeface="Symbol"/>
                <a:ea typeface="Symbol"/>
              </a:rPr>
              <a:t></a:t>
            </a:r>
            <a:r>
              <a:rPr lang="en-US" sz="3200" b="0" strike="noStrike" spc="-1">
                <a:latin typeface="Arial"/>
                <a:ea typeface="Symbol"/>
              </a:rPr>
              <a:t> </a:t>
            </a:r>
            <a:r>
              <a:rPr lang="en-US" sz="3200" b="0" strike="noStrike" spc="-1">
                <a:latin typeface="Symbol"/>
                <a:ea typeface="Symbol"/>
              </a:rPr>
              <a:t>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     </a:t>
            </a:r>
            <a:r>
              <a:rPr lang="en-US" sz="3200" b="1" strike="noStrike" spc="-1">
                <a:latin typeface="Arial"/>
                <a:ea typeface="Symbol"/>
              </a:rPr>
              <a:t>do</a:t>
            </a:r>
            <a:r>
              <a:rPr lang="en-US" sz="3200" b="0" strike="noStrike" spc="-1">
                <a:latin typeface="Arial"/>
                <a:ea typeface="Symbol"/>
              </a:rPr>
              <a:t> </a:t>
            </a:r>
            <a:r>
              <a:rPr lang="en-US" sz="3200" b="0" strike="noStrike" spc="-1">
                <a:latin typeface="Comic Sans MS"/>
                <a:ea typeface="Symbol"/>
              </a:rPr>
              <a:t>u</a:t>
            </a:r>
            <a:r>
              <a:rPr lang="en-US" sz="3200" b="0" strike="noStrike" spc="-1">
                <a:latin typeface="Arial"/>
                <a:ea typeface="Symbol"/>
              </a:rPr>
              <a:t> ← EXTRACT-MIN(Q)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          S ← S </a:t>
            </a:r>
            <a:r>
              <a:rPr lang="en-US" sz="3200" b="0" strike="noStrike" spc="-1">
                <a:latin typeface="Symbol"/>
                <a:ea typeface="Symbol"/>
              </a:rPr>
              <a:t></a:t>
            </a:r>
            <a:r>
              <a:rPr lang="en-US" sz="3200" b="0" strike="noStrike" spc="-1">
                <a:latin typeface="Arial"/>
                <a:ea typeface="Symbol"/>
              </a:rPr>
              <a:t> {</a:t>
            </a:r>
            <a:r>
              <a:rPr lang="en-US" sz="3200" b="0" strike="noStrike" spc="-1">
                <a:latin typeface="Comic Sans MS"/>
                <a:ea typeface="Symbol"/>
              </a:rPr>
              <a:t>u</a:t>
            </a:r>
            <a:r>
              <a:rPr lang="en-US" sz="3200" b="0" strike="noStrike" spc="-1">
                <a:latin typeface="Arial"/>
                <a:ea typeface="Symbol"/>
              </a:rPr>
              <a:t>} 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          </a:t>
            </a:r>
            <a:r>
              <a:rPr lang="en-US" sz="3200" b="1" strike="noStrike" spc="-1">
                <a:latin typeface="Arial"/>
                <a:ea typeface="Symbol"/>
              </a:rPr>
              <a:t>for </a:t>
            </a:r>
            <a:r>
              <a:rPr lang="en-US" sz="3200" b="0" strike="noStrike" spc="-1">
                <a:latin typeface="Arial"/>
                <a:ea typeface="Symbol"/>
              </a:rPr>
              <a:t>each vertex </a:t>
            </a:r>
            <a:r>
              <a:rPr lang="en-US" sz="3200" b="0" strike="noStrike" spc="-1">
                <a:latin typeface="Comic Sans MS"/>
                <a:ea typeface="Symbol"/>
              </a:rPr>
              <a:t>v </a:t>
            </a:r>
            <a:r>
              <a:rPr lang="en-US" sz="3200" b="0" strike="noStrike" spc="-1">
                <a:latin typeface="Symbol"/>
                <a:ea typeface="Symbol"/>
              </a:rPr>
              <a:t></a:t>
            </a:r>
            <a:r>
              <a:rPr lang="en-US" sz="3200" b="0" strike="noStrike" spc="-1">
                <a:latin typeface="Comic Sans MS"/>
                <a:ea typeface="Symbol"/>
              </a:rPr>
              <a:t> Adj[u]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buClr>
                <a:srgbClr val="333399"/>
              </a:buClr>
              <a:buFont typeface="Arial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                 </a:t>
            </a:r>
            <a:r>
              <a:rPr lang="en-US" sz="3200" b="1" strike="noStrike" spc="-1">
                <a:latin typeface="Arial"/>
                <a:ea typeface="Symbol"/>
              </a:rPr>
              <a:t>do </a:t>
            </a:r>
            <a:r>
              <a:rPr lang="en-US" sz="3200" b="0" strike="noStrike" spc="-1">
                <a:latin typeface="Arial"/>
                <a:ea typeface="Symbol"/>
              </a:rPr>
              <a:t>RELAX(</a:t>
            </a:r>
            <a:r>
              <a:rPr lang="en-US" sz="3200" b="0" strike="noStrike" spc="-1">
                <a:latin typeface="Comic Sans MS"/>
                <a:ea typeface="Symbol"/>
              </a:rPr>
              <a:t>u, v, w</a:t>
            </a:r>
            <a:r>
              <a:rPr lang="en-US" sz="3200" b="0" strike="noStrike" spc="-1">
                <a:latin typeface="Arial"/>
                <a:ea typeface="Symbol"/>
              </a:rPr>
              <a:t>)</a:t>
            </a:r>
            <a:endParaRPr lang="en-US" sz="3200" b="0" strike="noStrike" spc="-1">
              <a:latin typeface="Arial"/>
            </a:endParaRPr>
          </a:p>
          <a:p>
            <a:pPr marL="533160" indent="-532800">
              <a:lnSpc>
                <a:spcPct val="120000"/>
              </a:lnSpc>
              <a:spcBef>
                <a:spcPts val="697"/>
              </a:spcBef>
              <a:tabLst>
                <a:tab pos="0" algn="l"/>
              </a:tabLst>
            </a:pPr>
            <a:r>
              <a:rPr lang="en-US" sz="3200" b="0" strike="noStrike" spc="-1">
                <a:latin typeface="Arial"/>
                <a:ea typeface="Symbol"/>
              </a:rPr>
              <a:t>	Running time: </a:t>
            </a:r>
            <a:r>
              <a:rPr lang="en-US" sz="3200" b="0" strike="noStrike" spc="-1">
                <a:latin typeface="Comic Sans MS"/>
                <a:ea typeface="Symbol"/>
              </a:rPr>
              <a:t>O(VlgV + ElgV) = O(ElgV)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566" name="CustomShape 4"/>
          <p:cNvSpPr/>
          <p:nvPr/>
        </p:nvSpPr>
        <p:spPr>
          <a:xfrm>
            <a:off x="7043040" y="1187280"/>
            <a:ext cx="921600" cy="459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Symbol"/>
                <a:ea typeface="Symbol"/>
              </a:rPr>
              <a:t></a:t>
            </a: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(V)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67" name="Line 5"/>
          <p:cNvSpPr/>
          <p:nvPr/>
        </p:nvSpPr>
        <p:spPr>
          <a:xfrm flipH="1">
            <a:off x="6622920" y="1417680"/>
            <a:ext cx="43992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68" name="CustomShape 6"/>
          <p:cNvSpPr/>
          <p:nvPr/>
        </p:nvSpPr>
        <p:spPr>
          <a:xfrm>
            <a:off x="3099240" y="2382840"/>
            <a:ext cx="2906640" cy="459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O(V) build min-heap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69" name="Line 7"/>
          <p:cNvSpPr/>
          <p:nvPr/>
        </p:nvSpPr>
        <p:spPr>
          <a:xfrm flipH="1">
            <a:off x="2622240" y="2608200"/>
            <a:ext cx="43956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70" name="CustomShape 8"/>
          <p:cNvSpPr/>
          <p:nvPr/>
        </p:nvSpPr>
        <p:spPr>
          <a:xfrm>
            <a:off x="3363120" y="2963880"/>
            <a:ext cx="2993760" cy="459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Executed O(V) times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71" name="Line 9"/>
          <p:cNvSpPr/>
          <p:nvPr/>
        </p:nvSpPr>
        <p:spPr>
          <a:xfrm flipH="1">
            <a:off x="2889000" y="3189240"/>
            <a:ext cx="43956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72" name="CustomShape 10"/>
          <p:cNvSpPr/>
          <p:nvPr/>
        </p:nvSpPr>
        <p:spPr>
          <a:xfrm>
            <a:off x="6116760" y="3573360"/>
            <a:ext cx="1061280" cy="459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O(lgV)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73" name="Line 11"/>
          <p:cNvSpPr/>
          <p:nvPr/>
        </p:nvSpPr>
        <p:spPr>
          <a:xfrm flipH="1">
            <a:off x="5641920" y="3798720"/>
            <a:ext cx="43992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74" name="CustomShape 12"/>
          <p:cNvSpPr/>
          <p:nvPr/>
        </p:nvSpPr>
        <p:spPr>
          <a:xfrm>
            <a:off x="6076080" y="5354640"/>
            <a:ext cx="2690280" cy="459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O(E) times; O(lgV)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575" name="Line 13"/>
          <p:cNvSpPr/>
          <p:nvPr/>
        </p:nvSpPr>
        <p:spPr>
          <a:xfrm flipH="1">
            <a:off x="5603760" y="5580000"/>
            <a:ext cx="43992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Effect">
                      <p:stCondLst>
                        <p:cond delay="indefinite"/>
                      </p:stCondLst>
                      <p:childTnLst>
                        <p:par>
                          <p:cTn id="2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Effect">
                      <p:stCondLst>
                        <p:cond delay="indefinite"/>
                      </p:stCondLst>
                      <p:childTnLst>
                        <p:par>
                          <p:cTn id="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CustomShape 1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a-DK" sz="4400" b="0" strike="noStrike" spc="-1">
                <a:latin typeface="Arial"/>
              </a:rPr>
              <a:t>Dijkstra’s Running Time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577" name="CustomShape 2"/>
          <p:cNvSpPr/>
          <p:nvPr/>
        </p:nvSpPr>
        <p:spPr>
          <a:xfrm>
            <a:off x="596520" y="1547640"/>
            <a:ext cx="8357760" cy="1742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3500" lnSpcReduction="10000"/>
          </a:bodyPr>
          <a:lstStyle/>
          <a:p>
            <a:pPr marL="432000" indent="-323640">
              <a:lnSpc>
                <a:spcPct val="9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a-DK" sz="3200" b="0" strike="noStrike" spc="-1">
                <a:latin typeface="Arial"/>
              </a:rPr>
              <a:t>Extract-Min executed |</a:t>
            </a:r>
            <a:r>
              <a:rPr lang="da-DK" sz="3200" b="0" i="1" strike="noStrike" spc="-1">
                <a:latin typeface="Arial"/>
              </a:rPr>
              <a:t>V</a:t>
            </a:r>
            <a:r>
              <a:rPr lang="da-DK" sz="3200" b="0" strike="noStrike" spc="-1">
                <a:latin typeface="Arial"/>
              </a:rPr>
              <a:t>| time</a:t>
            </a:r>
            <a:endParaRPr lang="en-US" sz="3200" b="0" strike="noStrike" spc="-1">
              <a:latin typeface="Arial"/>
            </a:endParaRPr>
          </a:p>
          <a:p>
            <a:pPr marL="432000" indent="-323640">
              <a:lnSpc>
                <a:spcPct val="9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a-DK" sz="3200" b="0" strike="noStrike" spc="-1">
                <a:latin typeface="Arial"/>
              </a:rPr>
              <a:t>Decrease-Key executed |</a:t>
            </a:r>
            <a:r>
              <a:rPr lang="da-DK" sz="3200" b="0" i="1" strike="noStrike" spc="-1">
                <a:latin typeface="Arial"/>
              </a:rPr>
              <a:t>E</a:t>
            </a:r>
            <a:r>
              <a:rPr lang="da-DK" sz="3200" b="0" strike="noStrike" spc="-1">
                <a:latin typeface="Arial"/>
              </a:rPr>
              <a:t>| time</a:t>
            </a:r>
            <a:endParaRPr lang="en-US" sz="3200" b="0" strike="noStrike" spc="-1">
              <a:latin typeface="Arial"/>
            </a:endParaRPr>
          </a:p>
          <a:p>
            <a:pPr marL="432000" indent="-323640">
              <a:lnSpc>
                <a:spcPct val="9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a-DK" sz="3200" b="0" strike="noStrike" spc="-1">
                <a:latin typeface="Arial"/>
              </a:rPr>
              <a:t>Time = |</a:t>
            </a:r>
            <a:r>
              <a:rPr lang="da-DK" sz="3200" b="0" i="1" strike="noStrike" spc="-1">
                <a:latin typeface="Arial"/>
              </a:rPr>
              <a:t>V</a:t>
            </a:r>
            <a:r>
              <a:rPr lang="da-DK" sz="3200" b="0" strike="noStrike" spc="-1">
                <a:latin typeface="Arial"/>
              </a:rPr>
              <a:t>| </a:t>
            </a:r>
            <a:r>
              <a:rPr lang="da-DK" sz="3200" b="0" i="1" strike="noStrike" spc="-1">
                <a:latin typeface="Arial"/>
              </a:rPr>
              <a:t>T</a:t>
            </a:r>
            <a:r>
              <a:rPr lang="da-DK" sz="3200" b="0" strike="noStrike" spc="-1" baseline="-25000">
                <a:latin typeface="Arial"/>
              </a:rPr>
              <a:t>Extract-Min</a:t>
            </a:r>
            <a:r>
              <a:rPr lang="da-DK" sz="3200" b="0" strike="noStrike" spc="-1">
                <a:latin typeface="Arial"/>
              </a:rPr>
              <a:t> + |</a:t>
            </a:r>
            <a:r>
              <a:rPr lang="da-DK" sz="3200" b="0" i="1" strike="noStrike" spc="-1">
                <a:latin typeface="Arial"/>
              </a:rPr>
              <a:t>E</a:t>
            </a:r>
            <a:r>
              <a:rPr lang="da-DK" sz="3200" b="0" strike="noStrike" spc="-1">
                <a:latin typeface="Arial"/>
              </a:rPr>
              <a:t>| </a:t>
            </a:r>
            <a:r>
              <a:rPr lang="da-DK" sz="3200" b="0" i="1" strike="noStrike" spc="-1">
                <a:latin typeface="Arial"/>
              </a:rPr>
              <a:t>T</a:t>
            </a:r>
            <a:r>
              <a:rPr lang="da-DK" sz="3200" b="0" strike="noStrike" spc="-1" baseline="-25000">
                <a:latin typeface="Arial"/>
              </a:rPr>
              <a:t>Decrease-Key</a:t>
            </a:r>
            <a:endParaRPr lang="en-US" sz="3200" b="0" strike="noStrike" spc="-1">
              <a:latin typeface="Arial"/>
            </a:endParaRPr>
          </a:p>
          <a:p>
            <a:pPr marL="432000" indent="-323640">
              <a:lnSpc>
                <a:spcPct val="90000"/>
              </a:lnSpc>
              <a:spcBef>
                <a:spcPts val="69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da-DK" sz="3200" b="0" i="1" strike="noStrike" spc="-1">
                <a:latin typeface="Arial"/>
              </a:rPr>
              <a:t>T</a:t>
            </a:r>
            <a:r>
              <a:rPr lang="da-DK" sz="3200" b="0" strike="noStrike" spc="-1">
                <a:latin typeface="Arial"/>
              </a:rPr>
              <a:t> depends on different Q implementations</a:t>
            </a:r>
            <a:endParaRPr lang="en-US" sz="3200" b="0" strike="noStrike" spc="-1">
              <a:latin typeface="Arial"/>
            </a:endParaRPr>
          </a:p>
        </p:txBody>
      </p:sp>
      <p:graphicFrame>
        <p:nvGraphicFramePr>
          <p:cNvPr id="578" name="Table 3"/>
          <p:cNvGraphicFramePr/>
          <p:nvPr/>
        </p:nvGraphicFramePr>
        <p:xfrm>
          <a:off x="641520" y="3851280"/>
          <a:ext cx="8083080" cy="2195640"/>
        </p:xfrm>
        <a:graphic>
          <a:graphicData uri="http://schemas.openxmlformats.org/drawingml/2006/table">
            <a:tbl>
              <a:tblPr/>
              <a:tblGrid>
                <a:gridCol w="249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3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3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strike="noStrike" spc="-1">
                          <a:latin typeface="Times New Roman"/>
                        </a:rPr>
                        <a:t>Q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1368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1368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strike="noStrike" spc="-1">
                          <a:latin typeface="Times New Roman"/>
                        </a:rPr>
                        <a:t>T(Extract-Min)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1368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strike="noStrike" spc="-1">
                          <a:latin typeface="Times New Roman"/>
                        </a:rPr>
                        <a:t>T(Decrease-Key)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1368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400" b="0" strike="noStrike" spc="-1">
                          <a:latin typeface="Times New Roman"/>
                        </a:rPr>
                        <a:t>Total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13680">
                      <a:solidFill>
                        <a:srgbClr val="000000"/>
                      </a:solidFill>
                    </a:lnR>
                    <a:lnT w="1368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strike="noStrike" spc="-1">
                          <a:latin typeface="Times New Roman"/>
                        </a:rPr>
                        <a:t>array 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1368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i="1" strike="noStrike" spc="-1">
                          <a:latin typeface="Symbol"/>
                          <a:ea typeface="Symbol"/>
                        </a:rPr>
                        <a:t>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(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V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i="1" strike="noStrike" spc="-1">
                          <a:latin typeface="Symbol"/>
                          <a:ea typeface="Symbol"/>
                        </a:rPr>
                        <a:t>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(1)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i="1" strike="noStrike" spc="-1">
                          <a:latin typeface="Symbol"/>
                          <a:ea typeface="Symbol"/>
                        </a:rPr>
                        <a:t>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(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V </a:t>
                      </a:r>
                      <a:r>
                        <a:rPr lang="da-DK" sz="2400" b="0" strike="noStrike" spc="-1" baseline="30000">
                          <a:latin typeface="Times New Roman"/>
                          <a:ea typeface="Symbol"/>
                        </a:rPr>
                        <a:t>2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1368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strike="noStrike" spc="-1">
                          <a:latin typeface="Times New Roman"/>
                        </a:rPr>
                        <a:t>binary heap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1368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i="1" strike="noStrike" spc="-1">
                          <a:latin typeface="Symbol"/>
                          <a:ea typeface="Symbol"/>
                        </a:rPr>
                        <a:t>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(lg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 V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i="1" strike="noStrike" spc="-1">
                          <a:latin typeface="Symbol"/>
                          <a:ea typeface="Symbol"/>
                        </a:rPr>
                        <a:t>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(lg 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V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i="1" strike="noStrike" spc="-1">
                          <a:latin typeface="Symbol"/>
                          <a:ea typeface="Symbol"/>
                        </a:rPr>
                        <a:t>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(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E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 lg 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V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1368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strike="noStrike" spc="-1">
                          <a:latin typeface="Times New Roman"/>
                        </a:rPr>
                        <a:t>Fibonacci heap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1368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136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i="1" strike="noStrike" spc="-1">
                          <a:latin typeface="Symbol"/>
                          <a:ea typeface="Symbol"/>
                        </a:rPr>
                        <a:t>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(lg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 V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136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i="1" strike="noStrike" spc="-1">
                          <a:latin typeface="Symbol"/>
                          <a:ea typeface="Symbol"/>
                        </a:rPr>
                        <a:t>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(1) (amort.)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136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da-DK" sz="2400" b="0" i="1" strike="noStrike" spc="-1">
                          <a:latin typeface="Symbol"/>
                          <a:ea typeface="Symbol"/>
                        </a:rPr>
                        <a:t>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(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V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 lg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V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 + </a:t>
                      </a:r>
                      <a:r>
                        <a:rPr lang="da-DK" sz="2400" b="0" i="1" strike="noStrike" spc="-1">
                          <a:latin typeface="Times New Roman"/>
                          <a:ea typeface="Symbol"/>
                        </a:rPr>
                        <a:t>E</a:t>
                      </a:r>
                      <a:r>
                        <a:rPr lang="da-DK" sz="2400" b="0" strike="noStrike" spc="-1">
                          <a:latin typeface="Times New Roman"/>
                          <a:ea typeface="Symbol"/>
                        </a:rPr>
                        <a:t>)</a:t>
                      </a:r>
                      <a:endParaRPr lang="en-US" sz="2400" b="0" strike="noStrike" spc="-1"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1368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1368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CustomShape 1"/>
          <p:cNvSpPr/>
          <p:nvPr/>
        </p:nvSpPr>
        <p:spPr>
          <a:xfrm>
            <a:off x="3124080" y="6397560"/>
            <a:ext cx="2895480" cy="32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3590DF3-70DA-495C-A8EE-0B4BB5B2DD5D}" type="slidenum">
              <a:rPr lang="en-US" sz="1400" b="0" strike="noStrike" spc="-1">
                <a:solidFill>
                  <a:srgbClr val="000000"/>
                </a:solidFill>
                <a:latin typeface="Arial"/>
                <a:ea typeface="DejaVu Sans"/>
              </a:rPr>
              <a:t>18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580" name="CustomShape 2"/>
          <p:cNvSpPr/>
          <p:nvPr/>
        </p:nvSpPr>
        <p:spPr>
          <a:xfrm>
            <a:off x="341280" y="100080"/>
            <a:ext cx="8229240" cy="90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16000" indent="-21564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latin typeface="Arial"/>
              </a:rPr>
              <a:t>Question</a:t>
            </a:r>
          </a:p>
        </p:txBody>
      </p:sp>
      <p:sp>
        <p:nvSpPr>
          <p:cNvPr id="581" name="CustomShape 3"/>
          <p:cNvSpPr/>
          <p:nvPr/>
        </p:nvSpPr>
        <p:spPr>
          <a:xfrm>
            <a:off x="351000" y="1213920"/>
            <a:ext cx="8229240" cy="507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432000" indent="-323640" algn="just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latin typeface="Arial"/>
              </a:rPr>
              <a:t>Prove that, if there exists negative edge, Dijkstra’s shortest path algorithm may fail to find the shortest path</a:t>
            </a:r>
          </a:p>
          <a:p>
            <a:pPr marL="432000" indent="-323640" algn="just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latin typeface="Arial"/>
              </a:rPr>
              <a:t>Print the shortest path for Dijkstra’s algorithm</a:t>
            </a:r>
          </a:p>
          <a:p>
            <a:pPr marL="432000" indent="-323640" algn="just">
              <a:lnSpc>
                <a:spcPct val="100000"/>
              </a:lnSpc>
              <a:spcBef>
                <a:spcPts val="598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strike="noStrike" spc="-1">
                <a:latin typeface="Arial"/>
              </a:rPr>
              <a:t>Suppose you are given a graph where each edge represents the path cost and each vertex has also a cost which represents that, if you select a path using this node, the cost will be added with the path cost. How can it be solved using Dijkstra’s algorithm?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5971</TotalTime>
  <Words>1489</Words>
  <Application>Microsoft Office PowerPoint</Application>
  <PresentationFormat>On-screen Show (4:3)</PresentationFormat>
  <Paragraphs>382</Paragraphs>
  <Slides>18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Arial Black</vt:lpstr>
      <vt:lpstr>Calibri</vt:lpstr>
      <vt:lpstr>Cambria Math</vt:lpstr>
      <vt:lpstr>Comic Sans MS</vt:lpstr>
      <vt:lpstr>Monotype Corsiva</vt:lpstr>
      <vt:lpstr>Symbol</vt:lpstr>
      <vt:lpstr>Times New Roman</vt:lpstr>
      <vt:lpstr>TimesNewRomanPSMT;TimesNewRoman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and BFS</dc:title>
  <dc:subject>CSE-304: Design and Analysis of Algorithms</dc:subject>
  <dc:creator>Syed Monowar Hossain</dc:creator>
  <dc:description/>
  <cp:lastModifiedBy>Tahmid Mosaddeque</cp:lastModifiedBy>
  <cp:revision>511</cp:revision>
  <dcterms:created xsi:type="dcterms:W3CDTF">2005-09-13T14:58:53Z</dcterms:created>
  <dcterms:modified xsi:type="dcterms:W3CDTF">2025-05-24T04:54:37Z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15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97</vt:i4>
  </property>
</Properties>
</file>