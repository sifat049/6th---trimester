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9977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BBFE282-82F9-4EE0-A98F-0B43F3F94A17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CustomShape 1"/>
          <p:cNvSpPr/>
          <p:nvPr/>
        </p:nvSpPr>
        <p:spPr>
          <a:xfrm>
            <a:off x="3841920" y="9421920"/>
            <a:ext cx="2935440" cy="492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9949EF1-F822-473C-A287-B33B32506497}" type="slidenum">
              <a:rPr lang="en-US" sz="1200" b="0" strike="noStrike" spc="-1">
                <a:solidFill>
                  <a:srgbClr val="000000"/>
                </a:solidFill>
                <a:latin typeface="Arial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13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911225" y="744538"/>
            <a:ext cx="4956175" cy="3716337"/>
          </a:xfrm>
          <a:prstGeom prst="rect">
            <a:avLst/>
          </a:prstGeom>
        </p:spPr>
      </p:sp>
      <p:sp>
        <p:nvSpPr>
          <p:cNvPr id="1134" name="PlaceHolder 3"/>
          <p:cNvSpPr>
            <a:spLocks noGrp="1"/>
          </p:cNvSpPr>
          <p:nvPr>
            <p:ph type="body"/>
          </p:nvPr>
        </p:nvSpPr>
        <p:spPr>
          <a:xfrm>
            <a:off x="677880" y="4711680"/>
            <a:ext cx="5423040" cy="4459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685800" y="304920"/>
            <a:ext cx="7769520" cy="3292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CSE 2217</a:t>
            </a:r>
            <a:br>
              <a:rPr dirty="0"/>
            </a:br>
            <a:r>
              <a:rPr lang="en-US" sz="4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lang="en-US" sz="4000" spc="-1" dirty="0">
                <a:solidFill>
                  <a:srgbClr val="000000"/>
                </a:solidFill>
                <a:latin typeface="Calibri"/>
                <a:ea typeface="DejaVu Sans"/>
              </a:rPr>
              <a:t>Structure and Algorithms </a:t>
            </a:r>
            <a:r>
              <a:rPr lang="en-US" sz="4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II </a:t>
            </a: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Single Source Shortest Path, </a:t>
            </a: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Bellman Ford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1371600" y="3886200"/>
            <a:ext cx="6397920" cy="174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5500"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Tahmid Mosaddeque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</a:rPr>
              <a:t>Lecturer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Department of CSE</a:t>
            </a:r>
            <a:r>
              <a:rPr lang="en-US" sz="3200" b="0" strike="noStrike" spc="-1">
                <a:solidFill>
                  <a:srgbClr val="8B8B8B"/>
                </a:solidFill>
                <a:latin typeface="Calibri"/>
                <a:ea typeface="DejaVu Sans"/>
              </a:rPr>
              <a:t>, UIU</a:t>
            </a: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1C33BD3-F8C0-4441-856B-9AFB6499EB46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Negative-Weight Edges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114480" y="1057320"/>
            <a:ext cx="9216000" cy="5469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4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s →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a: only one path</a:t>
            </a:r>
            <a:endParaRPr lang="en-US" sz="3200" b="0" strike="noStrike" spc="-1" dirty="0">
              <a:latin typeface="Arial"/>
            </a:endParaRPr>
          </a:p>
          <a:p>
            <a:pPr marL="342720" indent="-342000">
              <a:lnSpc>
                <a:spcPct val="14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	</a:t>
            </a:r>
            <a:r>
              <a:rPr lang="en-US" sz="24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(s, a) = w(s, a) = 3</a:t>
            </a:r>
            <a:endParaRPr lang="en-US" sz="2400" b="0" strike="noStrike" spc="-1" dirty="0">
              <a:latin typeface="Arial"/>
            </a:endParaRPr>
          </a:p>
          <a:p>
            <a:pPr marL="342720" indent="-342000">
              <a:lnSpc>
                <a:spcPct val="14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s </a:t>
            </a:r>
            <a:r>
              <a:rPr lang="en-US" sz="3200" spc="-1" dirty="0">
                <a:solidFill>
                  <a:srgbClr val="000000"/>
                </a:solidFill>
              </a:rPr>
              <a:t>→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b: only one path</a:t>
            </a:r>
            <a:endParaRPr lang="en-US" sz="3200" b="0" strike="noStrike" spc="-1" dirty="0">
              <a:latin typeface="Arial"/>
            </a:endParaRPr>
          </a:p>
          <a:p>
            <a:pPr marL="342720" indent="-342000">
              <a:lnSpc>
                <a:spcPct val="14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	</a:t>
            </a:r>
            <a:r>
              <a:rPr lang="en-US" sz="24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(s, b) = w(s, a) + w(a, b) = -1</a:t>
            </a:r>
            <a:endParaRPr lang="en-US" sz="2400" b="0" strike="noStrike" spc="-1" dirty="0">
              <a:latin typeface="Arial"/>
            </a:endParaRPr>
          </a:p>
          <a:p>
            <a:pPr marL="342720" indent="-342000">
              <a:lnSpc>
                <a:spcPct val="14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s </a:t>
            </a:r>
            <a:r>
              <a:rPr lang="en-US" sz="3200" spc="-1" dirty="0">
                <a:solidFill>
                  <a:srgbClr val="000000"/>
                </a:solidFill>
              </a:rPr>
              <a:t>→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c: infinitely many paths</a:t>
            </a:r>
            <a:endParaRPr lang="en-US" sz="3200" b="0" strike="noStrike" spc="-1" dirty="0">
              <a:latin typeface="Arial"/>
            </a:endParaRPr>
          </a:p>
          <a:p>
            <a:pPr marL="342720" indent="-342000">
              <a:lnSpc>
                <a:spcPct val="14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	</a:t>
            </a:r>
            <a:r>
              <a:rPr lang="en-US" sz="24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s, c</a:t>
            </a:r>
            <a:r>
              <a:rPr lang="en-US" sz="24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, </a:t>
            </a:r>
            <a:r>
              <a:rPr lang="en-US" sz="24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s, c, d, c</a:t>
            </a:r>
            <a:r>
              <a:rPr lang="en-US" sz="24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, &lt;s, c, d, c, d, c&gt;</a:t>
            </a:r>
            <a:endParaRPr lang="en-US" sz="2400" b="0" strike="noStrike" spc="-1" dirty="0">
              <a:latin typeface="Arial"/>
            </a:endParaRPr>
          </a:p>
          <a:p>
            <a:pPr marL="342720" indent="-342000">
              <a:lnSpc>
                <a:spcPct val="14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	cycle has positive weight (6 - 3 = 3)</a:t>
            </a:r>
            <a:endParaRPr lang="en-US" sz="2400" b="0" strike="noStrike" spc="-1" dirty="0">
              <a:latin typeface="Arial"/>
            </a:endParaRPr>
          </a:p>
          <a:p>
            <a:pPr marL="342720" indent="-342000">
              <a:lnSpc>
                <a:spcPct val="14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	&lt;s, c&gt; is shortest path with weight </a:t>
            </a:r>
            <a:r>
              <a:rPr lang="en-US" sz="24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(s, b) = w(s, c) = 5</a:t>
            </a:r>
            <a:endParaRPr lang="en-US" sz="2400" b="0" strike="noStrike" spc="-1" dirty="0">
              <a:latin typeface="Arial"/>
            </a:endParaRPr>
          </a:p>
        </p:txBody>
      </p:sp>
      <p:grpSp>
        <p:nvGrpSpPr>
          <p:cNvPr id="49" name="Group 4"/>
          <p:cNvGrpSpPr/>
          <p:nvPr/>
        </p:nvGrpSpPr>
        <p:grpSpPr>
          <a:xfrm>
            <a:off x="5019480" y="2274840"/>
            <a:ext cx="3844440" cy="2529720"/>
            <a:chOff x="5019480" y="2274840"/>
            <a:chExt cx="3844440" cy="2529720"/>
          </a:xfrm>
        </p:grpSpPr>
        <p:sp>
          <p:nvSpPr>
            <p:cNvPr id="50" name="CustomShape 5"/>
            <p:cNvSpPr/>
            <p:nvPr/>
          </p:nvSpPr>
          <p:spPr>
            <a:xfrm>
              <a:off x="5299200" y="334008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1" name="CustomShape 6"/>
            <p:cNvSpPr/>
            <p:nvPr/>
          </p:nvSpPr>
          <p:spPr>
            <a:xfrm>
              <a:off x="6194520" y="260172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2" name="CustomShape 7"/>
            <p:cNvSpPr/>
            <p:nvPr/>
          </p:nvSpPr>
          <p:spPr>
            <a:xfrm>
              <a:off x="7513560" y="260172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3" name="CustomShape 8"/>
            <p:cNvSpPr/>
            <p:nvPr/>
          </p:nvSpPr>
          <p:spPr>
            <a:xfrm>
              <a:off x="6194520" y="407988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padmaa"/>
                  <a:ea typeface="padmaa"/>
                </a:rPr>
                <a:t>∞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4" name="CustomShape 9"/>
            <p:cNvSpPr/>
            <p:nvPr/>
          </p:nvSpPr>
          <p:spPr>
            <a:xfrm>
              <a:off x="7513560" y="407988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padmaa"/>
                  <a:ea typeface="padmaa"/>
                </a:rPr>
                <a:t>∞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5" name="Line 10"/>
            <p:cNvSpPr/>
            <p:nvPr/>
          </p:nvSpPr>
          <p:spPr>
            <a:xfrm>
              <a:off x="6613200" y="280044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Line 11"/>
            <p:cNvSpPr/>
            <p:nvPr/>
          </p:nvSpPr>
          <p:spPr>
            <a:xfrm flipV="1">
              <a:off x="5633640" y="2962440"/>
              <a:ext cx="622800" cy="40608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Line 12"/>
            <p:cNvSpPr/>
            <p:nvPr/>
          </p:nvSpPr>
          <p:spPr>
            <a:xfrm>
              <a:off x="5671800" y="3692520"/>
              <a:ext cx="578160" cy="44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CustomShape 13"/>
            <p:cNvSpPr/>
            <p:nvPr/>
          </p:nvSpPr>
          <p:spPr>
            <a:xfrm>
              <a:off x="5707080" y="29098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9" name="CustomShape 14"/>
            <p:cNvSpPr/>
            <p:nvPr/>
          </p:nvSpPr>
          <p:spPr>
            <a:xfrm>
              <a:off x="6922080" y="24843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60" name="CustomShape 15"/>
            <p:cNvSpPr/>
            <p:nvPr/>
          </p:nvSpPr>
          <p:spPr>
            <a:xfrm>
              <a:off x="5756400" y="38401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61" name="CustomShape 16"/>
            <p:cNvSpPr/>
            <p:nvPr/>
          </p:nvSpPr>
          <p:spPr>
            <a:xfrm>
              <a:off x="8021880" y="32385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62" name="CustomShape 17"/>
            <p:cNvSpPr/>
            <p:nvPr/>
          </p:nvSpPr>
          <p:spPr>
            <a:xfrm>
              <a:off x="7203240" y="437832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63" name="CustomShape 18"/>
            <p:cNvSpPr/>
            <p:nvPr/>
          </p:nvSpPr>
          <p:spPr>
            <a:xfrm>
              <a:off x="5019480" y="33591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4" name="CustomShape 19"/>
            <p:cNvSpPr/>
            <p:nvPr/>
          </p:nvSpPr>
          <p:spPr>
            <a:xfrm>
              <a:off x="6283800" y="22748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5" name="CustomShape 20"/>
            <p:cNvSpPr/>
            <p:nvPr/>
          </p:nvSpPr>
          <p:spPr>
            <a:xfrm>
              <a:off x="7588440" y="22748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b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6" name="CustomShape 21"/>
            <p:cNvSpPr/>
            <p:nvPr/>
          </p:nvSpPr>
          <p:spPr>
            <a:xfrm>
              <a:off x="6258240" y="44370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e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7" name="CustomShape 22"/>
            <p:cNvSpPr/>
            <p:nvPr/>
          </p:nvSpPr>
          <p:spPr>
            <a:xfrm>
              <a:off x="7613640" y="443700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f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8" name="CustomShape 23"/>
            <p:cNvSpPr/>
            <p:nvPr/>
          </p:nvSpPr>
          <p:spPr>
            <a:xfrm>
              <a:off x="8442360" y="334008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padmaa"/>
                  <a:ea typeface="padmaa"/>
                </a:rPr>
                <a:t>∞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9" name="CustomShape 24"/>
            <p:cNvSpPr/>
            <p:nvPr/>
          </p:nvSpPr>
          <p:spPr>
            <a:xfrm>
              <a:off x="6194520" y="33433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0" name="CustomShape 25"/>
            <p:cNvSpPr/>
            <p:nvPr/>
          </p:nvSpPr>
          <p:spPr>
            <a:xfrm>
              <a:off x="7513560" y="33433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1" name="CustomShape 26"/>
            <p:cNvSpPr/>
            <p:nvPr/>
          </p:nvSpPr>
          <p:spPr>
            <a:xfrm>
              <a:off x="7123680" y="361944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2" name="Line 27"/>
            <p:cNvSpPr/>
            <p:nvPr/>
          </p:nvSpPr>
          <p:spPr>
            <a:xfrm>
              <a:off x="7918560" y="2930400"/>
              <a:ext cx="577800" cy="44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Line 28"/>
            <p:cNvSpPr/>
            <p:nvPr/>
          </p:nvSpPr>
          <p:spPr>
            <a:xfrm flipV="1">
              <a:off x="7872480" y="3720600"/>
              <a:ext cx="622440" cy="4064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Line 29"/>
            <p:cNvSpPr/>
            <p:nvPr/>
          </p:nvSpPr>
          <p:spPr>
            <a:xfrm>
              <a:off x="5743080" y="3546360"/>
              <a:ext cx="45144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Line 30"/>
            <p:cNvSpPr/>
            <p:nvPr/>
          </p:nvSpPr>
          <p:spPr>
            <a:xfrm>
              <a:off x="7967520" y="3548160"/>
              <a:ext cx="4510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CustomShape 31"/>
            <p:cNvSpPr/>
            <p:nvPr/>
          </p:nvSpPr>
          <p:spPr>
            <a:xfrm>
              <a:off x="6607080" y="3367080"/>
              <a:ext cx="89964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CustomShape 32"/>
            <p:cNvSpPr/>
            <p:nvPr/>
          </p:nvSpPr>
          <p:spPr>
            <a:xfrm flipH="1" flipV="1">
              <a:off x="6608160" y="362988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CustomShape 33"/>
            <p:cNvSpPr/>
            <p:nvPr/>
          </p:nvSpPr>
          <p:spPr>
            <a:xfrm>
              <a:off x="6693120" y="38718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9" name="CustomShape 34"/>
            <p:cNvSpPr/>
            <p:nvPr/>
          </p:nvSpPr>
          <p:spPr>
            <a:xfrm>
              <a:off x="6610320" y="411156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CustomShape 35"/>
            <p:cNvSpPr/>
            <p:nvPr/>
          </p:nvSpPr>
          <p:spPr>
            <a:xfrm flipH="1" flipV="1">
              <a:off x="6611400" y="437436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CustomShape 36"/>
            <p:cNvSpPr/>
            <p:nvPr/>
          </p:nvSpPr>
          <p:spPr>
            <a:xfrm>
              <a:off x="5808600" y="32716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82" name="CustomShape 37"/>
            <p:cNvSpPr/>
            <p:nvPr/>
          </p:nvSpPr>
          <p:spPr>
            <a:xfrm>
              <a:off x="6902640" y="30780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83" name="CustomShape 38"/>
            <p:cNvSpPr/>
            <p:nvPr/>
          </p:nvSpPr>
          <p:spPr>
            <a:xfrm>
              <a:off x="8109000" y="28274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84" name="CustomShape 39"/>
            <p:cNvSpPr/>
            <p:nvPr/>
          </p:nvSpPr>
          <p:spPr>
            <a:xfrm>
              <a:off x="8094600" y="38638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85" name="CustomShape 40"/>
            <p:cNvSpPr/>
            <p:nvPr/>
          </p:nvSpPr>
          <p:spPr>
            <a:xfrm>
              <a:off x="6243480" y="30067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c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6" name="CustomShape 41"/>
            <p:cNvSpPr/>
            <p:nvPr/>
          </p:nvSpPr>
          <p:spPr>
            <a:xfrm>
              <a:off x="7564680" y="30272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d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7" name="CustomShape 42"/>
            <p:cNvSpPr/>
            <p:nvPr/>
          </p:nvSpPr>
          <p:spPr>
            <a:xfrm>
              <a:off x="8493480" y="30132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g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88" name="CustomShape 43"/>
          <p:cNvSpPr/>
          <p:nvPr/>
        </p:nvSpPr>
        <p:spPr>
          <a:xfrm>
            <a:off x="4803840" y="1147680"/>
            <a:ext cx="4099680" cy="119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50000"/>
              </a:lnSpc>
              <a:spcBef>
                <a:spcPts val="598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CC0000"/>
                </a:solidFill>
                <a:latin typeface="Arial"/>
                <a:ea typeface="DejaVu Sans"/>
              </a:rPr>
              <a:t>What if we have negative-weight edges?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5824337-36C7-418A-809D-DDBD90905DA9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Negative-Weight Edges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114480" y="1057320"/>
            <a:ext cx="5207760" cy="5469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20000"/>
          </a:bodyPr>
          <a:lstStyle/>
          <a:p>
            <a:pPr>
              <a:lnSpc>
                <a:spcPct val="11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s </a:t>
            </a:r>
            <a:r>
              <a:rPr lang="en-US" sz="3200" spc="-1" dirty="0">
                <a:solidFill>
                  <a:srgbClr val="000000"/>
                </a:solidFill>
              </a:rPr>
              <a:t>→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e: infinitely many paths: </a:t>
            </a:r>
            <a:endParaRPr lang="en-US" sz="3200" b="0" strike="noStrike" spc="-1" dirty="0">
              <a:latin typeface="Arial"/>
            </a:endParaRPr>
          </a:p>
          <a:p>
            <a:pPr marL="742680" lvl="1" indent="-28476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Font typeface="Symbol"/>
              <a:buChar char="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s, e</a:t>
            </a: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, </a:t>
            </a: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s, e, f, e&gt;, </a:t>
            </a: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s, e, f, e, f, e</a:t>
            </a: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endParaRPr lang="en-US" sz="2800" b="0" strike="noStrike" spc="-1" dirty="0">
              <a:latin typeface="Arial"/>
            </a:endParaRPr>
          </a:p>
          <a:p>
            <a:pPr marL="864000" lvl="1" indent="-32328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cycle </a:t>
            </a: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&lt;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e, f, e</a:t>
            </a: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&gt;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has negative weight:   3 + (- 6) = -3 </a:t>
            </a:r>
            <a:endParaRPr lang="en-US" sz="2800" b="0" strike="noStrike" spc="-1" dirty="0">
              <a:latin typeface="Arial"/>
            </a:endParaRPr>
          </a:p>
          <a:p>
            <a:pPr marL="864000" lvl="1" indent="-32328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can find paths from </a:t>
            </a:r>
            <a:r>
              <a:rPr lang="en-US" sz="2800" b="0" strike="noStrike" spc="-1" dirty="0">
                <a:solidFill>
                  <a:srgbClr val="000000"/>
                </a:solidFill>
                <a:latin typeface="aakar"/>
                <a:ea typeface="Symbol"/>
              </a:rPr>
              <a:t>s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to e with arbitrarily large negative weights</a:t>
            </a:r>
            <a:endParaRPr lang="en-US" sz="2800" b="0" strike="noStrike" spc="-1" dirty="0">
              <a:latin typeface="Arial"/>
            </a:endParaRPr>
          </a:p>
          <a:p>
            <a:pPr marL="742680" lvl="1" indent="-28476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Font typeface="Symbol"/>
              <a:buChar char="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(s, e) = -</a:t>
            </a:r>
            <a:r>
              <a:rPr lang="en-US" sz="2800" b="0" strike="noStrike" spc="-1" dirty="0">
                <a:solidFill>
                  <a:srgbClr val="000000"/>
                </a:solidFill>
                <a:latin typeface="padmaa"/>
                <a:ea typeface="padmaa"/>
              </a:rPr>
              <a:t>∞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=&gt;no shortest path exists between </a:t>
            </a:r>
            <a:r>
              <a:rPr lang="en-US" sz="2800" b="0" strike="noStrike" spc="-1" dirty="0">
                <a:solidFill>
                  <a:srgbClr val="000000"/>
                </a:solidFill>
                <a:latin typeface="Comic Sans MS"/>
                <a:ea typeface="Symbol"/>
              </a:rPr>
              <a:t>s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and </a:t>
            </a:r>
            <a:r>
              <a:rPr lang="en-US" sz="2800" b="0" strike="noStrike" spc="-1" dirty="0">
                <a:solidFill>
                  <a:srgbClr val="000000"/>
                </a:solidFill>
                <a:latin typeface="Comic Sans MS"/>
                <a:ea typeface="Symbol"/>
              </a:rPr>
              <a:t>e</a:t>
            </a:r>
            <a:endParaRPr lang="en-US" sz="28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Bef>
                <a:spcPts val="598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	Similarly: 	</a:t>
            </a: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(s, f) = -</a:t>
            </a:r>
            <a:r>
              <a:rPr lang="en-US" sz="2800" b="0" strike="noStrike" spc="-1" dirty="0">
                <a:solidFill>
                  <a:srgbClr val="000000"/>
                </a:solidFill>
                <a:latin typeface="padmaa"/>
                <a:ea typeface="padmaa"/>
              </a:rPr>
              <a:t>∞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,             				   						 	</a:t>
            </a:r>
            <a:r>
              <a:rPr lang="en-US" sz="28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(s, g) = -</a:t>
            </a:r>
            <a:r>
              <a:rPr lang="en-US" sz="2800" b="0" strike="noStrike" spc="-1" dirty="0">
                <a:solidFill>
                  <a:srgbClr val="000000"/>
                </a:solidFill>
                <a:latin typeface="padmaa"/>
                <a:ea typeface="padmaa"/>
              </a:rPr>
              <a:t>∞</a:t>
            </a:r>
            <a:endParaRPr lang="en-US" sz="2800" b="0" strike="noStrike" spc="-1" dirty="0">
              <a:latin typeface="Arial"/>
            </a:endParaRPr>
          </a:p>
        </p:txBody>
      </p:sp>
      <p:grpSp>
        <p:nvGrpSpPr>
          <p:cNvPr id="92" name="Group 4"/>
          <p:cNvGrpSpPr/>
          <p:nvPr/>
        </p:nvGrpSpPr>
        <p:grpSpPr>
          <a:xfrm>
            <a:off x="4806720" y="1255680"/>
            <a:ext cx="3844440" cy="2529720"/>
            <a:chOff x="4806720" y="1255680"/>
            <a:chExt cx="3844440" cy="2529720"/>
          </a:xfrm>
        </p:grpSpPr>
        <p:sp>
          <p:nvSpPr>
            <p:cNvPr id="93" name="CustomShape 5"/>
            <p:cNvSpPr/>
            <p:nvPr/>
          </p:nvSpPr>
          <p:spPr>
            <a:xfrm>
              <a:off x="5086440" y="232092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4" name="CustomShape 6"/>
            <p:cNvSpPr/>
            <p:nvPr/>
          </p:nvSpPr>
          <p:spPr>
            <a:xfrm>
              <a:off x="5981760" y="15825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" name="CustomShape 7"/>
            <p:cNvSpPr/>
            <p:nvPr/>
          </p:nvSpPr>
          <p:spPr>
            <a:xfrm>
              <a:off x="7300800" y="15825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6" name="CustomShape 8"/>
            <p:cNvSpPr/>
            <p:nvPr/>
          </p:nvSpPr>
          <p:spPr>
            <a:xfrm>
              <a:off x="5981760" y="306072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" name="CustomShape 9"/>
            <p:cNvSpPr/>
            <p:nvPr/>
          </p:nvSpPr>
          <p:spPr>
            <a:xfrm>
              <a:off x="7300800" y="306072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8" name="Line 10"/>
            <p:cNvSpPr/>
            <p:nvPr/>
          </p:nvSpPr>
          <p:spPr>
            <a:xfrm>
              <a:off x="6400800" y="178128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Line 11"/>
            <p:cNvSpPr/>
            <p:nvPr/>
          </p:nvSpPr>
          <p:spPr>
            <a:xfrm flipV="1">
              <a:off x="5421240" y="1943280"/>
              <a:ext cx="622440" cy="40608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Line 12"/>
            <p:cNvSpPr/>
            <p:nvPr/>
          </p:nvSpPr>
          <p:spPr>
            <a:xfrm>
              <a:off x="5459400" y="2673360"/>
              <a:ext cx="577800" cy="44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CustomShape 13"/>
            <p:cNvSpPr/>
            <p:nvPr/>
          </p:nvSpPr>
          <p:spPr>
            <a:xfrm>
              <a:off x="5494320" y="18907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02" name="CustomShape 14"/>
            <p:cNvSpPr/>
            <p:nvPr/>
          </p:nvSpPr>
          <p:spPr>
            <a:xfrm>
              <a:off x="6709320" y="146520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03" name="CustomShape 15"/>
            <p:cNvSpPr/>
            <p:nvPr/>
          </p:nvSpPr>
          <p:spPr>
            <a:xfrm>
              <a:off x="5543640" y="28209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04" name="CustomShape 16"/>
            <p:cNvSpPr/>
            <p:nvPr/>
          </p:nvSpPr>
          <p:spPr>
            <a:xfrm>
              <a:off x="7809120" y="22194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05" name="CustomShape 17"/>
            <p:cNvSpPr/>
            <p:nvPr/>
          </p:nvSpPr>
          <p:spPr>
            <a:xfrm>
              <a:off x="6990480" y="33591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06" name="CustomShape 18"/>
            <p:cNvSpPr/>
            <p:nvPr/>
          </p:nvSpPr>
          <p:spPr>
            <a:xfrm>
              <a:off x="4806720" y="23400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7" name="CustomShape 19"/>
            <p:cNvSpPr/>
            <p:nvPr/>
          </p:nvSpPr>
          <p:spPr>
            <a:xfrm>
              <a:off x="6071040" y="12556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8" name="CustomShape 20"/>
            <p:cNvSpPr/>
            <p:nvPr/>
          </p:nvSpPr>
          <p:spPr>
            <a:xfrm>
              <a:off x="7375680" y="12556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b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9" name="CustomShape 21"/>
            <p:cNvSpPr/>
            <p:nvPr/>
          </p:nvSpPr>
          <p:spPr>
            <a:xfrm>
              <a:off x="6045480" y="34178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e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" name="CustomShape 22"/>
            <p:cNvSpPr/>
            <p:nvPr/>
          </p:nvSpPr>
          <p:spPr>
            <a:xfrm>
              <a:off x="7400880" y="341784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f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1" name="CustomShape 23"/>
            <p:cNvSpPr/>
            <p:nvPr/>
          </p:nvSpPr>
          <p:spPr>
            <a:xfrm>
              <a:off x="8229600" y="232092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2" name="CustomShape 24"/>
            <p:cNvSpPr/>
            <p:nvPr/>
          </p:nvSpPr>
          <p:spPr>
            <a:xfrm>
              <a:off x="5981760" y="232416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3" name="CustomShape 25"/>
            <p:cNvSpPr/>
            <p:nvPr/>
          </p:nvSpPr>
          <p:spPr>
            <a:xfrm>
              <a:off x="7300800" y="232416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4" name="CustomShape 26"/>
            <p:cNvSpPr/>
            <p:nvPr/>
          </p:nvSpPr>
          <p:spPr>
            <a:xfrm>
              <a:off x="6910920" y="260028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15" name="Line 27"/>
            <p:cNvSpPr/>
            <p:nvPr/>
          </p:nvSpPr>
          <p:spPr>
            <a:xfrm>
              <a:off x="7705800" y="1911240"/>
              <a:ext cx="577800" cy="44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6" name="Line 28"/>
            <p:cNvSpPr/>
            <p:nvPr/>
          </p:nvSpPr>
          <p:spPr>
            <a:xfrm flipV="1">
              <a:off x="7659720" y="2701440"/>
              <a:ext cx="622440" cy="4064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7" name="Line 29"/>
            <p:cNvSpPr/>
            <p:nvPr/>
          </p:nvSpPr>
          <p:spPr>
            <a:xfrm>
              <a:off x="5530680" y="2527200"/>
              <a:ext cx="4510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8" name="Line 30"/>
            <p:cNvSpPr/>
            <p:nvPr/>
          </p:nvSpPr>
          <p:spPr>
            <a:xfrm>
              <a:off x="7754760" y="2529000"/>
              <a:ext cx="4510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9" name="CustomShape 31"/>
            <p:cNvSpPr/>
            <p:nvPr/>
          </p:nvSpPr>
          <p:spPr>
            <a:xfrm>
              <a:off x="6394320" y="2347920"/>
              <a:ext cx="89964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CustomShape 32"/>
            <p:cNvSpPr/>
            <p:nvPr/>
          </p:nvSpPr>
          <p:spPr>
            <a:xfrm flipH="1" flipV="1">
              <a:off x="6395400" y="261072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1" name="CustomShape 33"/>
            <p:cNvSpPr/>
            <p:nvPr/>
          </p:nvSpPr>
          <p:spPr>
            <a:xfrm>
              <a:off x="6480360" y="28526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22" name="CustomShape 34"/>
            <p:cNvSpPr/>
            <p:nvPr/>
          </p:nvSpPr>
          <p:spPr>
            <a:xfrm>
              <a:off x="6397560" y="309240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3" name="CustomShape 35"/>
            <p:cNvSpPr/>
            <p:nvPr/>
          </p:nvSpPr>
          <p:spPr>
            <a:xfrm flipH="1" flipV="1">
              <a:off x="6398640" y="335520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4" name="CustomShape 36"/>
            <p:cNvSpPr/>
            <p:nvPr/>
          </p:nvSpPr>
          <p:spPr>
            <a:xfrm>
              <a:off x="5595840" y="22525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25" name="CustomShape 37"/>
            <p:cNvSpPr/>
            <p:nvPr/>
          </p:nvSpPr>
          <p:spPr>
            <a:xfrm>
              <a:off x="6689880" y="20588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26" name="CustomShape 38"/>
            <p:cNvSpPr/>
            <p:nvPr/>
          </p:nvSpPr>
          <p:spPr>
            <a:xfrm>
              <a:off x="7896240" y="18082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27" name="CustomShape 39"/>
            <p:cNvSpPr/>
            <p:nvPr/>
          </p:nvSpPr>
          <p:spPr>
            <a:xfrm>
              <a:off x="7881840" y="28447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28" name="CustomShape 40"/>
            <p:cNvSpPr/>
            <p:nvPr/>
          </p:nvSpPr>
          <p:spPr>
            <a:xfrm>
              <a:off x="6030720" y="19875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c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29" name="CustomShape 41"/>
            <p:cNvSpPr/>
            <p:nvPr/>
          </p:nvSpPr>
          <p:spPr>
            <a:xfrm>
              <a:off x="7351920" y="20080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d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0" name="CustomShape 42"/>
            <p:cNvSpPr/>
            <p:nvPr/>
          </p:nvSpPr>
          <p:spPr>
            <a:xfrm>
              <a:off x="8280720" y="19940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g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131" name="Group 43"/>
          <p:cNvGrpSpPr/>
          <p:nvPr/>
        </p:nvGrpSpPr>
        <p:grpSpPr>
          <a:xfrm>
            <a:off x="5870520" y="3890880"/>
            <a:ext cx="1740960" cy="2023560"/>
            <a:chOff x="5870520" y="3890880"/>
            <a:chExt cx="1740960" cy="2023560"/>
          </a:xfrm>
        </p:grpSpPr>
        <p:sp>
          <p:nvSpPr>
            <p:cNvPr id="132" name="CustomShape 44"/>
            <p:cNvSpPr/>
            <p:nvPr/>
          </p:nvSpPr>
          <p:spPr>
            <a:xfrm>
              <a:off x="5870520" y="423540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3" name="CustomShape 45"/>
            <p:cNvSpPr/>
            <p:nvPr/>
          </p:nvSpPr>
          <p:spPr>
            <a:xfrm>
              <a:off x="7189920" y="423540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4" name="CustomShape 46"/>
            <p:cNvSpPr/>
            <p:nvPr/>
          </p:nvSpPr>
          <p:spPr>
            <a:xfrm>
              <a:off x="6605640" y="512604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5" name="CustomShape 47"/>
            <p:cNvSpPr/>
            <p:nvPr/>
          </p:nvSpPr>
          <p:spPr>
            <a:xfrm>
              <a:off x="6713640" y="5546880"/>
              <a:ext cx="23040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j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6" name="CustomShape 48"/>
            <p:cNvSpPr/>
            <p:nvPr/>
          </p:nvSpPr>
          <p:spPr>
            <a:xfrm>
              <a:off x="5951880" y="38908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h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7" name="CustomShape 49"/>
            <p:cNvSpPr/>
            <p:nvPr/>
          </p:nvSpPr>
          <p:spPr>
            <a:xfrm>
              <a:off x="7259760" y="3892680"/>
              <a:ext cx="23040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i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38" name="Line 50"/>
            <p:cNvSpPr/>
            <p:nvPr/>
          </p:nvSpPr>
          <p:spPr>
            <a:xfrm>
              <a:off x="6274800" y="444168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9" name="CustomShape 51"/>
            <p:cNvSpPr/>
            <p:nvPr/>
          </p:nvSpPr>
          <p:spPr>
            <a:xfrm>
              <a:off x="6559560" y="41306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40" name="CustomShape 52"/>
            <p:cNvSpPr/>
            <p:nvPr/>
          </p:nvSpPr>
          <p:spPr>
            <a:xfrm>
              <a:off x="7204320" y="49053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41" name="CustomShape 53"/>
            <p:cNvSpPr/>
            <p:nvPr/>
          </p:nvSpPr>
          <p:spPr>
            <a:xfrm>
              <a:off x="5990040" y="491328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42" name="Line 54"/>
            <p:cNvSpPr/>
            <p:nvPr/>
          </p:nvSpPr>
          <p:spPr>
            <a:xfrm flipH="1">
              <a:off x="6951600" y="4629240"/>
              <a:ext cx="363600" cy="5364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3" name="Line 55"/>
            <p:cNvSpPr/>
            <p:nvPr/>
          </p:nvSpPr>
          <p:spPr>
            <a:xfrm flipH="1" flipV="1">
              <a:off x="6193440" y="4622760"/>
              <a:ext cx="471240" cy="549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44" name="CustomShape 56"/>
          <p:cNvSpPr/>
          <p:nvPr/>
        </p:nvSpPr>
        <p:spPr>
          <a:xfrm>
            <a:off x="5767560" y="5830920"/>
            <a:ext cx="2674440" cy="39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(s, h) = </a:t>
            </a:r>
            <a:r>
              <a:rPr lang="en-US" sz="2000" b="0" strike="noStrike" spc="-1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(s, i) =</a:t>
            </a:r>
            <a:r>
              <a:rPr lang="en-US" sz="2000" b="0" i="1" strike="noStrike" spc="-1">
                <a:solidFill>
                  <a:srgbClr val="000000"/>
                </a:solidFill>
                <a:latin typeface="Comic Sans MS"/>
                <a:ea typeface="DejaVu Sans"/>
              </a:rPr>
              <a:t> </a:t>
            </a:r>
            <a:r>
              <a:rPr lang="en-US" sz="2000" b="0" i="1" strike="noStrike" spc="-1">
                <a:solidFill>
                  <a:srgbClr val="000000"/>
                </a:solidFill>
                <a:latin typeface="Symbol"/>
                <a:ea typeface="Symbol"/>
              </a:rPr>
              <a:t>d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(s, j) =</a:t>
            </a:r>
            <a:r>
              <a:rPr lang="en-US" sz="2000" b="0" i="1" strike="noStrike" spc="-1">
                <a:solidFill>
                  <a:srgbClr val="000000"/>
                </a:solidFill>
                <a:latin typeface="Comic Sans MS"/>
                <a:ea typeface="DejaVu Sans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padmaa"/>
                <a:ea typeface="padmaa"/>
              </a:rPr>
              <a:t>∞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45" name="CustomShape 57"/>
          <p:cNvSpPr/>
          <p:nvPr/>
        </p:nvSpPr>
        <p:spPr>
          <a:xfrm>
            <a:off x="7551360" y="4556160"/>
            <a:ext cx="1300320" cy="100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h, i, j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reachable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from s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80E4A69-05C9-40D5-81F6-4406E37A6ECB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Negative-Weight Edges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48" name="CustomShape 3"/>
          <p:cNvSpPr/>
          <p:nvPr/>
        </p:nvSpPr>
        <p:spPr>
          <a:xfrm>
            <a:off x="122040" y="1243080"/>
            <a:ext cx="7165080" cy="507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6000" lnSpcReduction="10000"/>
          </a:bodyPr>
          <a:lstStyle/>
          <a:p>
            <a:pPr marL="432000" indent="-323280">
              <a:lnSpc>
                <a:spcPct val="15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Negative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-weight edges may form negative-weight cycles</a:t>
            </a:r>
            <a:endParaRPr lang="en-US" sz="3200" b="0" strike="noStrike" spc="-1" dirty="0">
              <a:latin typeface="Arial"/>
            </a:endParaRPr>
          </a:p>
          <a:p>
            <a:pPr marL="432000" indent="-323280">
              <a:lnSpc>
                <a:spcPct val="15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If such cycles are reachable from </a:t>
            </a:r>
            <a:endParaRPr lang="en-US" sz="3200" b="0" strike="noStrike" spc="-1" dirty="0">
              <a:latin typeface="Arial"/>
            </a:endParaRPr>
          </a:p>
          <a:p>
            <a:pPr marL="342720" indent="-342000">
              <a:lnSpc>
                <a:spcPct val="15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	the source: </a:t>
            </a:r>
            <a:r>
              <a:rPr lang="en-US" sz="32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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(s, v) is not properly </a:t>
            </a:r>
            <a:endParaRPr lang="en-US" sz="3200" b="0" strike="noStrike" spc="-1" dirty="0">
              <a:latin typeface="Arial"/>
            </a:endParaRPr>
          </a:p>
          <a:p>
            <a:pPr marL="342720" indent="-342000">
              <a:lnSpc>
                <a:spcPct val="15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	defined</a:t>
            </a:r>
            <a:endParaRPr lang="en-US" sz="3200" b="0" strike="noStrike" spc="-1" dirty="0">
              <a:latin typeface="Arial"/>
            </a:endParaRPr>
          </a:p>
          <a:p>
            <a:pPr marL="864000" lvl="1" indent="-323280">
              <a:lnSpc>
                <a:spcPct val="15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Keep going around the cycle, and get </a:t>
            </a:r>
            <a:endParaRPr lang="en-US" sz="2800" b="0" strike="noStrike" spc="-1" dirty="0">
              <a:latin typeface="Arial"/>
            </a:endParaRPr>
          </a:p>
          <a:p>
            <a:pPr marL="742680" indent="-284760">
              <a:lnSpc>
                <a:spcPct val="15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	w(s, v) = - </a:t>
            </a:r>
            <a:r>
              <a:rPr lang="en-US" sz="2800" b="0" strike="noStrike" spc="-1" dirty="0">
                <a:solidFill>
                  <a:srgbClr val="000000"/>
                </a:solidFill>
                <a:latin typeface="padmaa"/>
                <a:ea typeface="padmaa"/>
              </a:rPr>
              <a:t>∞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for all </a:t>
            </a:r>
            <a:r>
              <a:rPr lang="en-US" sz="2800" b="0" strike="noStrike" spc="-1" dirty="0">
                <a:solidFill>
                  <a:srgbClr val="000000"/>
                </a:solidFill>
                <a:latin typeface="Comic Sans MS"/>
                <a:ea typeface="Symbol"/>
              </a:rPr>
              <a:t>v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on the cycle</a:t>
            </a:r>
            <a:endParaRPr lang="en-US" sz="2800" b="0" strike="noStrike" spc="-1" dirty="0">
              <a:latin typeface="Arial"/>
            </a:endParaRPr>
          </a:p>
        </p:txBody>
      </p:sp>
      <p:grpSp>
        <p:nvGrpSpPr>
          <p:cNvPr id="149" name="Group 4"/>
          <p:cNvGrpSpPr/>
          <p:nvPr/>
        </p:nvGrpSpPr>
        <p:grpSpPr>
          <a:xfrm>
            <a:off x="5143320" y="1324080"/>
            <a:ext cx="3844080" cy="2529720"/>
            <a:chOff x="5143320" y="1324080"/>
            <a:chExt cx="3844080" cy="2529720"/>
          </a:xfrm>
        </p:grpSpPr>
        <p:sp>
          <p:nvSpPr>
            <p:cNvPr id="150" name="CustomShape 5"/>
            <p:cNvSpPr/>
            <p:nvPr/>
          </p:nvSpPr>
          <p:spPr>
            <a:xfrm>
              <a:off x="5422680" y="23893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51" name="CustomShape 6"/>
            <p:cNvSpPr/>
            <p:nvPr/>
          </p:nvSpPr>
          <p:spPr>
            <a:xfrm>
              <a:off x="6318000" y="16509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2" name="CustomShape 7"/>
            <p:cNvSpPr/>
            <p:nvPr/>
          </p:nvSpPr>
          <p:spPr>
            <a:xfrm>
              <a:off x="7637400" y="16509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3" name="CustomShape 8"/>
            <p:cNvSpPr/>
            <p:nvPr/>
          </p:nvSpPr>
          <p:spPr>
            <a:xfrm>
              <a:off x="6318000" y="31291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4" name="CustomShape 9"/>
            <p:cNvSpPr/>
            <p:nvPr/>
          </p:nvSpPr>
          <p:spPr>
            <a:xfrm>
              <a:off x="7637400" y="31291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5" name="Line 10"/>
            <p:cNvSpPr/>
            <p:nvPr/>
          </p:nvSpPr>
          <p:spPr>
            <a:xfrm>
              <a:off x="6737040" y="184932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6" name="Line 11"/>
            <p:cNvSpPr/>
            <p:nvPr/>
          </p:nvSpPr>
          <p:spPr>
            <a:xfrm flipV="1">
              <a:off x="5757840" y="2010960"/>
              <a:ext cx="622080" cy="4064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7" name="Line 12"/>
            <p:cNvSpPr/>
            <p:nvPr/>
          </p:nvSpPr>
          <p:spPr>
            <a:xfrm>
              <a:off x="5795640" y="2741760"/>
              <a:ext cx="578160" cy="44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8" name="CustomShape 13"/>
            <p:cNvSpPr/>
            <p:nvPr/>
          </p:nvSpPr>
          <p:spPr>
            <a:xfrm>
              <a:off x="5830920" y="19591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59" name="CustomShape 14"/>
            <p:cNvSpPr/>
            <p:nvPr/>
          </p:nvSpPr>
          <p:spPr>
            <a:xfrm>
              <a:off x="7045560" y="153360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60" name="CustomShape 15"/>
            <p:cNvSpPr/>
            <p:nvPr/>
          </p:nvSpPr>
          <p:spPr>
            <a:xfrm>
              <a:off x="5879880" y="28893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61" name="CustomShape 16"/>
            <p:cNvSpPr/>
            <p:nvPr/>
          </p:nvSpPr>
          <p:spPr>
            <a:xfrm>
              <a:off x="8145360" y="22874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62" name="CustomShape 17"/>
            <p:cNvSpPr/>
            <p:nvPr/>
          </p:nvSpPr>
          <p:spPr>
            <a:xfrm>
              <a:off x="7326720" y="34275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63" name="CustomShape 18"/>
            <p:cNvSpPr/>
            <p:nvPr/>
          </p:nvSpPr>
          <p:spPr>
            <a:xfrm>
              <a:off x="5143320" y="24084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64" name="CustomShape 19"/>
            <p:cNvSpPr/>
            <p:nvPr/>
          </p:nvSpPr>
          <p:spPr>
            <a:xfrm>
              <a:off x="6407280" y="13240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65" name="CustomShape 20"/>
            <p:cNvSpPr/>
            <p:nvPr/>
          </p:nvSpPr>
          <p:spPr>
            <a:xfrm>
              <a:off x="7712280" y="13240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b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66" name="CustomShape 21"/>
            <p:cNvSpPr/>
            <p:nvPr/>
          </p:nvSpPr>
          <p:spPr>
            <a:xfrm>
              <a:off x="6381720" y="34862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e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67" name="CustomShape 22"/>
            <p:cNvSpPr/>
            <p:nvPr/>
          </p:nvSpPr>
          <p:spPr>
            <a:xfrm>
              <a:off x="7737120" y="348624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f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68" name="CustomShape 23"/>
            <p:cNvSpPr/>
            <p:nvPr/>
          </p:nvSpPr>
          <p:spPr>
            <a:xfrm>
              <a:off x="8565840" y="23893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9" name="CustomShape 24"/>
            <p:cNvSpPr/>
            <p:nvPr/>
          </p:nvSpPr>
          <p:spPr>
            <a:xfrm>
              <a:off x="6318000" y="239256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0" name="CustomShape 25"/>
            <p:cNvSpPr/>
            <p:nvPr/>
          </p:nvSpPr>
          <p:spPr>
            <a:xfrm>
              <a:off x="7637400" y="239256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1" name="CustomShape 26"/>
            <p:cNvSpPr/>
            <p:nvPr/>
          </p:nvSpPr>
          <p:spPr>
            <a:xfrm>
              <a:off x="7247160" y="266868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72" name="Line 27"/>
            <p:cNvSpPr/>
            <p:nvPr/>
          </p:nvSpPr>
          <p:spPr>
            <a:xfrm>
              <a:off x="8042040" y="1979640"/>
              <a:ext cx="577800" cy="44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3" name="Line 28"/>
            <p:cNvSpPr/>
            <p:nvPr/>
          </p:nvSpPr>
          <p:spPr>
            <a:xfrm flipV="1">
              <a:off x="7995960" y="2769840"/>
              <a:ext cx="622440" cy="4064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4" name="Line 29"/>
            <p:cNvSpPr/>
            <p:nvPr/>
          </p:nvSpPr>
          <p:spPr>
            <a:xfrm>
              <a:off x="5867280" y="2595600"/>
              <a:ext cx="4507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5" name="Line 30"/>
            <p:cNvSpPr/>
            <p:nvPr/>
          </p:nvSpPr>
          <p:spPr>
            <a:xfrm>
              <a:off x="8091360" y="2597040"/>
              <a:ext cx="4507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6" name="CustomShape 31"/>
            <p:cNvSpPr/>
            <p:nvPr/>
          </p:nvSpPr>
          <p:spPr>
            <a:xfrm>
              <a:off x="6730920" y="241632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7" name="CustomShape 32"/>
            <p:cNvSpPr/>
            <p:nvPr/>
          </p:nvSpPr>
          <p:spPr>
            <a:xfrm flipH="1" flipV="1">
              <a:off x="6731640" y="267912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8" name="CustomShape 33"/>
            <p:cNvSpPr/>
            <p:nvPr/>
          </p:nvSpPr>
          <p:spPr>
            <a:xfrm>
              <a:off x="6816600" y="29210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79" name="CustomShape 34"/>
            <p:cNvSpPr/>
            <p:nvPr/>
          </p:nvSpPr>
          <p:spPr>
            <a:xfrm>
              <a:off x="6734160" y="316080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0" name="CustomShape 35"/>
            <p:cNvSpPr/>
            <p:nvPr/>
          </p:nvSpPr>
          <p:spPr>
            <a:xfrm flipH="1" flipV="1">
              <a:off x="6734880" y="342360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1" name="CustomShape 36"/>
            <p:cNvSpPr/>
            <p:nvPr/>
          </p:nvSpPr>
          <p:spPr>
            <a:xfrm>
              <a:off x="5932440" y="23209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82" name="CustomShape 37"/>
            <p:cNvSpPr/>
            <p:nvPr/>
          </p:nvSpPr>
          <p:spPr>
            <a:xfrm>
              <a:off x="7026120" y="21272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83" name="CustomShape 38"/>
            <p:cNvSpPr/>
            <p:nvPr/>
          </p:nvSpPr>
          <p:spPr>
            <a:xfrm>
              <a:off x="8232840" y="18763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84" name="CustomShape 39"/>
            <p:cNvSpPr/>
            <p:nvPr/>
          </p:nvSpPr>
          <p:spPr>
            <a:xfrm>
              <a:off x="8218440" y="29131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185" name="CustomShape 40"/>
            <p:cNvSpPr/>
            <p:nvPr/>
          </p:nvSpPr>
          <p:spPr>
            <a:xfrm>
              <a:off x="6367320" y="20559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c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86" name="CustomShape 41"/>
            <p:cNvSpPr/>
            <p:nvPr/>
          </p:nvSpPr>
          <p:spPr>
            <a:xfrm>
              <a:off x="7688520" y="20764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d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87" name="CustomShape 42"/>
            <p:cNvSpPr/>
            <p:nvPr/>
          </p:nvSpPr>
          <p:spPr>
            <a:xfrm>
              <a:off x="8616960" y="20620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g</a:t>
              </a:r>
              <a:endParaRPr lang="en-US" sz="18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429055C-E479-4074-8D58-15B691DDDD20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strike="noStrike" spc="-1">
                <a:solidFill>
                  <a:srgbClr val="000000"/>
                </a:solidFill>
                <a:latin typeface="Arial"/>
                <a:ea typeface="DejaVu Sans"/>
              </a:rPr>
              <a:t>Cycles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351000" y="1213920"/>
            <a:ext cx="822888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Can shortest paths contain cycles?</a:t>
            </a:r>
            <a:endParaRPr lang="en-US" sz="3200" b="0" strike="noStrike" spc="-1" dirty="0">
              <a:latin typeface="Arial"/>
            </a:endParaRPr>
          </a:p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Negative-weight cycles</a:t>
            </a:r>
            <a:endParaRPr lang="en-US" sz="3200" b="0" strike="noStrike" spc="-1" dirty="0">
              <a:latin typeface="Arial"/>
            </a:endParaRPr>
          </a:p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Positive-weight cycles:</a:t>
            </a:r>
            <a:endParaRPr lang="en-US" sz="3200" b="0" strike="noStrike" spc="-1" dirty="0">
              <a:latin typeface="Arial"/>
            </a:endParaRPr>
          </a:p>
          <a:p>
            <a:pPr marL="864000" lvl="1" indent="-323280">
              <a:lnSpc>
                <a:spcPct val="12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By removing the cycle we can get a shorter path </a:t>
            </a:r>
            <a:endParaRPr lang="en-US" sz="2800" b="0" strike="noStrike" spc="-1" dirty="0">
              <a:latin typeface="Arial"/>
            </a:endParaRPr>
          </a:p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We will assume that when we are finding shortest paths, the paths will have no cycles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91" name="CustomShape 4"/>
          <p:cNvSpPr/>
          <p:nvPr/>
        </p:nvSpPr>
        <p:spPr>
          <a:xfrm>
            <a:off x="5456160" y="2077754"/>
            <a:ext cx="725184" cy="46384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No!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92" name="CustomShape 5"/>
          <p:cNvSpPr/>
          <p:nvPr/>
        </p:nvSpPr>
        <p:spPr>
          <a:xfrm>
            <a:off x="5456160" y="2650680"/>
            <a:ext cx="59508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No!</a:t>
            </a: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B50FC90-9848-4993-BADC-FAD947DC62BB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94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Shortest-Path Representation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95" name="CustomShape 3"/>
          <p:cNvSpPr/>
          <p:nvPr/>
        </p:nvSpPr>
        <p:spPr>
          <a:xfrm>
            <a:off x="239760" y="1213920"/>
            <a:ext cx="682848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/>
          </a:bodyPr>
          <a:lstStyle/>
          <a:p>
            <a:pPr marL="342720" indent="-342000">
              <a:lnSpc>
                <a:spcPct val="11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For each vertex v </a:t>
            </a: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V:</a:t>
            </a:r>
            <a:endParaRPr lang="en-US" sz="3200" b="0" strike="noStrike" spc="-1">
              <a:latin typeface="Arial"/>
            </a:endParaRPr>
          </a:p>
          <a:p>
            <a:pPr marL="432000" indent="-323280">
              <a:lnSpc>
                <a:spcPct val="11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d[v] = δ(s, v): a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shortest-path estimate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Initially, d[v]=∞</a:t>
            </a:r>
            <a:endParaRPr lang="en-US" sz="2800" b="0" strike="noStrike" spc="-1">
              <a:latin typeface="Arial"/>
            </a:endParaRPr>
          </a:p>
          <a:p>
            <a:pPr marL="864000" lvl="1" indent="-32328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Reduces as algorithms progress</a:t>
            </a:r>
            <a:endParaRPr lang="en-US" sz="2800" b="0" strike="noStrike" spc="-1">
              <a:latin typeface="Arial"/>
            </a:endParaRPr>
          </a:p>
          <a:p>
            <a:pPr marL="342720" indent="-342000">
              <a:lnSpc>
                <a:spcPct val="110000"/>
              </a:lnSpc>
              <a:spcBef>
                <a:spcPts val="697"/>
              </a:spcBef>
              <a:buClr>
                <a:srgbClr val="333399"/>
              </a:buClr>
              <a:buFont typeface="Symbol"/>
              <a:buChar char="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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[v] =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predecessor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of 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Symbol"/>
              </a:rPr>
              <a:t>v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on a shortest path from 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Symbol"/>
              </a:rPr>
              <a:t>s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If no predecessor, </a:t>
            </a:r>
            <a:r>
              <a:rPr lang="en-US" sz="2800" b="0" strike="noStrike" spc="-1">
                <a:solidFill>
                  <a:srgbClr val="000000"/>
                </a:solidFill>
                <a:latin typeface="Symbol"/>
                <a:ea typeface="Symbol"/>
              </a:rPr>
              <a:t>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[v] = NIL</a:t>
            </a:r>
            <a:endParaRPr lang="en-US" sz="2800" b="0" strike="noStrike" spc="-1">
              <a:latin typeface="Arial"/>
            </a:endParaRPr>
          </a:p>
          <a:p>
            <a:pPr marL="742680" lvl="1" indent="-28476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Font typeface="Symbol"/>
              <a:buChar char="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Symbol"/>
                <a:ea typeface="Symbol"/>
              </a:rPr>
              <a:t>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 induces a tree—</a:t>
            </a:r>
            <a:r>
              <a:rPr lang="en-US" sz="2800" b="1" strike="noStrike" spc="-1">
                <a:solidFill>
                  <a:srgbClr val="000000"/>
                </a:solidFill>
                <a:latin typeface="Arial"/>
                <a:ea typeface="Symbol"/>
              </a:rPr>
              <a:t>shortest-path tree</a:t>
            </a:r>
            <a:endParaRPr lang="en-US" sz="2800" b="0" strike="noStrike" spc="-1">
              <a:latin typeface="Arial"/>
            </a:endParaRPr>
          </a:p>
        </p:txBody>
      </p:sp>
      <p:grpSp>
        <p:nvGrpSpPr>
          <p:cNvPr id="196" name="Group 4"/>
          <p:cNvGrpSpPr/>
          <p:nvPr/>
        </p:nvGrpSpPr>
        <p:grpSpPr>
          <a:xfrm>
            <a:off x="6154560" y="1676520"/>
            <a:ext cx="2994840" cy="2529360"/>
            <a:chOff x="6154560" y="1676520"/>
            <a:chExt cx="2994840" cy="2529360"/>
          </a:xfrm>
        </p:grpSpPr>
        <p:sp>
          <p:nvSpPr>
            <p:cNvPr id="197" name="Line 5"/>
            <p:cNvSpPr/>
            <p:nvPr/>
          </p:nvSpPr>
          <p:spPr>
            <a:xfrm flipV="1">
              <a:off x="6764400" y="2363760"/>
              <a:ext cx="414000" cy="40752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8" name="Line 6"/>
            <p:cNvSpPr/>
            <p:nvPr/>
          </p:nvSpPr>
          <p:spPr>
            <a:xfrm>
              <a:off x="6761160" y="3119400"/>
              <a:ext cx="407880" cy="41400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9" name="Line 7"/>
            <p:cNvSpPr/>
            <p:nvPr/>
          </p:nvSpPr>
          <p:spPr>
            <a:xfrm>
              <a:off x="7534080" y="2199960"/>
              <a:ext cx="908280" cy="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0" name="Line 8"/>
            <p:cNvSpPr/>
            <p:nvPr/>
          </p:nvSpPr>
          <p:spPr>
            <a:xfrm>
              <a:off x="7535880" y="3701880"/>
              <a:ext cx="907920" cy="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201" name="Group 9"/>
            <p:cNvGrpSpPr/>
            <p:nvPr/>
          </p:nvGrpSpPr>
          <p:grpSpPr>
            <a:xfrm>
              <a:off x="6154560" y="1676520"/>
              <a:ext cx="2994840" cy="2529360"/>
              <a:chOff x="6154560" y="1676520"/>
              <a:chExt cx="2994840" cy="2529360"/>
            </a:xfrm>
          </p:grpSpPr>
          <p:sp>
            <p:nvSpPr>
              <p:cNvPr id="202" name="CustomShape 10"/>
              <p:cNvSpPr/>
              <p:nvPr/>
            </p:nvSpPr>
            <p:spPr>
              <a:xfrm>
                <a:off x="6433920" y="2741400"/>
                <a:ext cx="42156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0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03" name="CustomShape 11"/>
              <p:cNvSpPr/>
              <p:nvPr/>
            </p:nvSpPr>
            <p:spPr>
              <a:xfrm>
                <a:off x="7115040" y="2003400"/>
                <a:ext cx="421560" cy="41940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04" name="CustomShape 12"/>
              <p:cNvSpPr/>
              <p:nvPr/>
            </p:nvSpPr>
            <p:spPr>
              <a:xfrm>
                <a:off x="8435880" y="2003400"/>
                <a:ext cx="421560" cy="41940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05" name="CustomShape 13"/>
              <p:cNvSpPr/>
              <p:nvPr/>
            </p:nvSpPr>
            <p:spPr>
              <a:xfrm>
                <a:off x="7115040" y="3481200"/>
                <a:ext cx="42156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06" name="CustomShape 14"/>
              <p:cNvSpPr/>
              <p:nvPr/>
            </p:nvSpPr>
            <p:spPr>
              <a:xfrm>
                <a:off x="8435880" y="3481200"/>
                <a:ext cx="42156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11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07" name="Line 15"/>
              <p:cNvSpPr/>
              <p:nvPr/>
            </p:nvSpPr>
            <p:spPr>
              <a:xfrm>
                <a:off x="7534080" y="2201400"/>
                <a:ext cx="9223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Line 16"/>
              <p:cNvSpPr/>
              <p:nvPr/>
            </p:nvSpPr>
            <p:spPr>
              <a:xfrm flipV="1">
                <a:off x="6762600" y="2363400"/>
                <a:ext cx="414360" cy="4140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Line 17"/>
              <p:cNvSpPr/>
              <p:nvPr/>
            </p:nvSpPr>
            <p:spPr>
              <a:xfrm>
                <a:off x="6764400" y="3106080"/>
                <a:ext cx="406080" cy="4284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CustomShape 18"/>
              <p:cNvSpPr/>
              <p:nvPr/>
            </p:nvSpPr>
            <p:spPr>
              <a:xfrm>
                <a:off x="6730920" y="231120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11" name="CustomShape 19"/>
              <p:cNvSpPr/>
              <p:nvPr/>
            </p:nvSpPr>
            <p:spPr>
              <a:xfrm>
                <a:off x="7842240" y="188568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12" name="CustomShape 20"/>
              <p:cNvSpPr/>
              <p:nvPr/>
            </p:nvSpPr>
            <p:spPr>
              <a:xfrm>
                <a:off x="6748560" y="321300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13" name="CustomShape 21"/>
              <p:cNvSpPr/>
              <p:nvPr/>
            </p:nvSpPr>
            <p:spPr>
              <a:xfrm>
                <a:off x="8856720" y="294768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14" name="CustomShape 22"/>
              <p:cNvSpPr/>
              <p:nvPr/>
            </p:nvSpPr>
            <p:spPr>
              <a:xfrm>
                <a:off x="7851600" y="365760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15" name="CustomShape 23"/>
              <p:cNvSpPr/>
              <p:nvPr/>
            </p:nvSpPr>
            <p:spPr>
              <a:xfrm>
                <a:off x="6154560" y="276048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16" name="CustomShape 24"/>
              <p:cNvSpPr/>
              <p:nvPr/>
            </p:nvSpPr>
            <p:spPr>
              <a:xfrm>
                <a:off x="7203960" y="1676520"/>
                <a:ext cx="2440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t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17" name="CustomShape 25"/>
              <p:cNvSpPr/>
              <p:nvPr/>
            </p:nvSpPr>
            <p:spPr>
              <a:xfrm>
                <a:off x="8508600" y="167652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x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18" name="CustomShape 26"/>
              <p:cNvSpPr/>
              <p:nvPr/>
            </p:nvSpPr>
            <p:spPr>
              <a:xfrm>
                <a:off x="7178400" y="383832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19" name="CustomShape 27"/>
              <p:cNvSpPr/>
              <p:nvPr/>
            </p:nvSpPr>
            <p:spPr>
              <a:xfrm>
                <a:off x="8534160" y="383832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z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20" name="Line 28"/>
              <p:cNvSpPr/>
              <p:nvPr/>
            </p:nvSpPr>
            <p:spPr>
              <a:xfrm>
                <a:off x="7543800" y="3705120"/>
                <a:ext cx="9079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Line 29"/>
              <p:cNvSpPr/>
              <p:nvPr/>
            </p:nvSpPr>
            <p:spPr>
              <a:xfrm flipV="1">
                <a:off x="7434000" y="2349000"/>
                <a:ext cx="1063800" cy="11505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CustomShape 30"/>
              <p:cNvSpPr/>
              <p:nvPr/>
            </p:nvSpPr>
            <p:spPr>
              <a:xfrm>
                <a:off x="7126200" y="2400120"/>
                <a:ext cx="135720" cy="109116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CustomShape 31"/>
              <p:cNvSpPr/>
              <p:nvPr/>
            </p:nvSpPr>
            <p:spPr>
              <a:xfrm>
                <a:off x="8421480" y="2417760"/>
                <a:ext cx="136080" cy="10908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CustomShape 32"/>
              <p:cNvSpPr/>
              <p:nvPr/>
            </p:nvSpPr>
            <p:spPr>
              <a:xfrm rot="10800000">
                <a:off x="8731440" y="2399040"/>
                <a:ext cx="135720" cy="109116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CustomShape 33"/>
              <p:cNvSpPr/>
              <p:nvPr/>
            </p:nvSpPr>
            <p:spPr>
              <a:xfrm rot="10800000">
                <a:off x="7391880" y="2394000"/>
                <a:ext cx="136080" cy="109116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Line 34"/>
              <p:cNvSpPr/>
              <p:nvPr/>
            </p:nvSpPr>
            <p:spPr>
              <a:xfrm flipH="1" flipV="1">
                <a:off x="6834240" y="3028320"/>
                <a:ext cx="1636560" cy="57744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CustomShape 35"/>
              <p:cNvSpPr/>
              <p:nvPr/>
            </p:nvSpPr>
            <p:spPr>
              <a:xfrm>
                <a:off x="8190000" y="294480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28" name="CustomShape 36"/>
              <p:cNvSpPr/>
              <p:nvPr/>
            </p:nvSpPr>
            <p:spPr>
              <a:xfrm>
                <a:off x="6896160" y="266832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29" name="CustomShape 37"/>
              <p:cNvSpPr/>
              <p:nvPr/>
            </p:nvSpPr>
            <p:spPr>
              <a:xfrm>
                <a:off x="7445520" y="265716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30" name="CustomShape 38"/>
              <p:cNvSpPr/>
              <p:nvPr/>
            </p:nvSpPr>
            <p:spPr>
              <a:xfrm>
                <a:off x="7893000" y="251604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4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31" name="CustomShape 39"/>
              <p:cNvSpPr/>
              <p:nvPr/>
            </p:nvSpPr>
            <p:spPr>
              <a:xfrm>
                <a:off x="7913520" y="317628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9E86EBA-976F-4284-BC45-20B53730C050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Initialization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34" name="CustomShape 3"/>
          <p:cNvSpPr/>
          <p:nvPr/>
        </p:nvSpPr>
        <p:spPr>
          <a:xfrm>
            <a:off x="351000" y="1213920"/>
            <a:ext cx="822888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533160" indent="-53244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DD0111"/>
                </a:solidFill>
                <a:latin typeface="Monotype Corsiva"/>
                <a:ea typeface="DejaVu Sans"/>
              </a:rPr>
              <a:t>Alg.: 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DejaVu Sans"/>
              </a:rPr>
              <a:t>INITIALIZE-SINGLE-SOURCE(V, s)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DD0111"/>
                </a:solidFill>
                <a:latin typeface="Arial"/>
                <a:ea typeface="DejaVu Sans"/>
              </a:rPr>
              <a:t> for 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DejaVu Sans"/>
              </a:rPr>
              <a:t>each v </a:t>
            </a:r>
            <a:r>
              <a:rPr lang="en-US" sz="3200" b="0" strike="noStrike" spc="-1">
                <a:solidFill>
                  <a:srgbClr val="DD0111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 V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DD0111"/>
                </a:solidFill>
                <a:latin typeface="Arial"/>
                <a:ea typeface="Symbol"/>
              </a:rPr>
              <a:t>       do 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d[v] ← </a:t>
            </a:r>
            <a:r>
              <a:rPr lang="en-US" sz="3200" b="0" strike="noStrike" spc="-1">
                <a:solidFill>
                  <a:srgbClr val="DD0111"/>
                </a:solidFill>
                <a:latin typeface="Symbol"/>
                <a:ea typeface="Symbol"/>
              </a:rPr>
              <a:t>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             </a:t>
            </a:r>
            <a:r>
              <a:rPr lang="en-US" sz="3200" b="0" strike="noStrike" spc="-1">
                <a:solidFill>
                  <a:srgbClr val="DD0111"/>
                </a:solidFill>
                <a:latin typeface="Symbol"/>
                <a:ea typeface="Symbol"/>
              </a:rPr>
              <a:t>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[v] ← NIL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d[s] ← 0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All the shortest-paths algorithms start with INITIALIZE-SINGLE-SOURCE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8FC4029-9C52-4426-A74E-C90681E2814A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Relaxation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112680" y="1062000"/>
            <a:ext cx="8228880" cy="292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432000" indent="-3232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Relaxing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an edge (u, v) = testing whether we can improve the shortest path to v found so far by going through u</a:t>
            </a:r>
            <a:endParaRPr lang="en-US" sz="3200" b="0" strike="noStrike" spc="-1">
              <a:latin typeface="Arial"/>
            </a:endParaRPr>
          </a:p>
          <a:p>
            <a:pPr marL="742680" indent="-284760">
              <a:lnSpc>
                <a:spcPct val="10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	If </a:t>
            </a:r>
            <a:r>
              <a:rPr lang="en-US" sz="28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d[v] &gt; d[u] + w(u, v) </a:t>
            </a:r>
            <a:endParaRPr lang="en-US" sz="2800" b="0" strike="noStrike" spc="-1">
              <a:latin typeface="Arial"/>
            </a:endParaRPr>
          </a:p>
          <a:p>
            <a:pPr marL="742680" indent="-284760">
              <a:lnSpc>
                <a:spcPct val="10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		 we can improve the shortest path to v </a:t>
            </a:r>
            <a:endParaRPr lang="en-US" sz="2800" b="0" strike="noStrike" spc="-1">
              <a:latin typeface="Arial"/>
            </a:endParaRPr>
          </a:p>
          <a:p>
            <a:pPr marL="742680" indent="-284760">
              <a:lnSpc>
                <a:spcPct val="10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		 </a:t>
            </a:r>
            <a:r>
              <a:rPr lang="en-US" sz="2800" b="0" strike="noStrike" spc="-1">
                <a:solidFill>
                  <a:srgbClr val="000000"/>
                </a:solidFill>
                <a:latin typeface="Symbol"/>
                <a:ea typeface="Symbol"/>
              </a:rPr>
              <a:t>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 update d[v] and </a:t>
            </a:r>
            <a:r>
              <a:rPr lang="en-US" sz="2800" b="0" strike="noStrike" spc="-1">
                <a:solidFill>
                  <a:srgbClr val="000000"/>
                </a:solidFill>
                <a:latin typeface="Symbol"/>
                <a:ea typeface="Symbol"/>
              </a:rPr>
              <a:t>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[v]</a:t>
            </a:r>
            <a:endParaRPr lang="en-US" sz="2800" b="0" strike="noStrike" spc="-1">
              <a:latin typeface="Arial"/>
            </a:endParaRPr>
          </a:p>
        </p:txBody>
      </p:sp>
      <p:grpSp>
        <p:nvGrpSpPr>
          <p:cNvPr id="238" name="Group 4"/>
          <p:cNvGrpSpPr/>
          <p:nvPr/>
        </p:nvGrpSpPr>
        <p:grpSpPr>
          <a:xfrm>
            <a:off x="730080" y="4110120"/>
            <a:ext cx="1742400" cy="747000"/>
            <a:chOff x="730080" y="4110120"/>
            <a:chExt cx="1742400" cy="747000"/>
          </a:xfrm>
        </p:grpSpPr>
        <p:sp>
          <p:nvSpPr>
            <p:cNvPr id="239" name="CustomShape 5"/>
            <p:cNvSpPr/>
            <p:nvPr/>
          </p:nvSpPr>
          <p:spPr>
            <a:xfrm>
              <a:off x="730080" y="443700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40" name="CustomShape 6"/>
            <p:cNvSpPr/>
            <p:nvPr/>
          </p:nvSpPr>
          <p:spPr>
            <a:xfrm>
              <a:off x="2050920" y="443700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41" name="Line 7"/>
            <p:cNvSpPr/>
            <p:nvPr/>
          </p:nvSpPr>
          <p:spPr>
            <a:xfrm>
              <a:off x="1148760" y="4635360"/>
              <a:ext cx="9226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2" name="CustomShape 8"/>
            <p:cNvSpPr/>
            <p:nvPr/>
          </p:nvSpPr>
          <p:spPr>
            <a:xfrm>
              <a:off x="1457280" y="43196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243" name="CustomShape 9"/>
            <p:cNvSpPr/>
            <p:nvPr/>
          </p:nvSpPr>
          <p:spPr>
            <a:xfrm>
              <a:off x="819360" y="41101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44" name="CustomShape 10"/>
            <p:cNvSpPr/>
            <p:nvPr/>
          </p:nvSpPr>
          <p:spPr>
            <a:xfrm>
              <a:off x="2123640" y="41101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245" name="Group 11"/>
          <p:cNvGrpSpPr/>
          <p:nvPr/>
        </p:nvGrpSpPr>
        <p:grpSpPr>
          <a:xfrm>
            <a:off x="730080" y="5626080"/>
            <a:ext cx="1742400" cy="747000"/>
            <a:chOff x="730080" y="5626080"/>
            <a:chExt cx="1742400" cy="747000"/>
          </a:xfrm>
        </p:grpSpPr>
        <p:sp>
          <p:nvSpPr>
            <p:cNvPr id="246" name="CustomShape 12"/>
            <p:cNvSpPr/>
            <p:nvPr/>
          </p:nvSpPr>
          <p:spPr>
            <a:xfrm>
              <a:off x="730080" y="59529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47" name="CustomShape 13"/>
            <p:cNvSpPr/>
            <p:nvPr/>
          </p:nvSpPr>
          <p:spPr>
            <a:xfrm>
              <a:off x="2050920" y="59529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48" name="Line 14"/>
            <p:cNvSpPr/>
            <p:nvPr/>
          </p:nvSpPr>
          <p:spPr>
            <a:xfrm>
              <a:off x="1148760" y="6150960"/>
              <a:ext cx="9226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15"/>
            <p:cNvSpPr/>
            <p:nvPr/>
          </p:nvSpPr>
          <p:spPr>
            <a:xfrm>
              <a:off x="1457280" y="58356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250" name="CustomShape 16"/>
            <p:cNvSpPr/>
            <p:nvPr/>
          </p:nvSpPr>
          <p:spPr>
            <a:xfrm>
              <a:off x="819360" y="56260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51" name="CustomShape 17"/>
            <p:cNvSpPr/>
            <p:nvPr/>
          </p:nvSpPr>
          <p:spPr>
            <a:xfrm>
              <a:off x="2123640" y="56260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252" name="CustomShape 18"/>
          <p:cNvSpPr/>
          <p:nvPr/>
        </p:nvSpPr>
        <p:spPr>
          <a:xfrm rot="5400000">
            <a:off x="1098360" y="5167800"/>
            <a:ext cx="978840" cy="262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3" name="CustomShape 19"/>
          <p:cNvSpPr/>
          <p:nvPr/>
        </p:nvSpPr>
        <p:spPr>
          <a:xfrm>
            <a:off x="1785960" y="5113440"/>
            <a:ext cx="172620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RELAX(u, v, w)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254" name="Group 20"/>
          <p:cNvGrpSpPr/>
          <p:nvPr/>
        </p:nvGrpSpPr>
        <p:grpSpPr>
          <a:xfrm>
            <a:off x="3833640" y="4119480"/>
            <a:ext cx="1742400" cy="747000"/>
            <a:chOff x="3833640" y="4119480"/>
            <a:chExt cx="1742400" cy="747000"/>
          </a:xfrm>
        </p:grpSpPr>
        <p:sp>
          <p:nvSpPr>
            <p:cNvPr id="255" name="CustomShape 21"/>
            <p:cNvSpPr/>
            <p:nvPr/>
          </p:nvSpPr>
          <p:spPr>
            <a:xfrm>
              <a:off x="3833640" y="44463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56" name="CustomShape 22"/>
            <p:cNvSpPr/>
            <p:nvPr/>
          </p:nvSpPr>
          <p:spPr>
            <a:xfrm>
              <a:off x="5154480" y="44463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57" name="Line 23"/>
            <p:cNvSpPr/>
            <p:nvPr/>
          </p:nvSpPr>
          <p:spPr>
            <a:xfrm>
              <a:off x="4252680" y="464472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8" name="CustomShape 24"/>
            <p:cNvSpPr/>
            <p:nvPr/>
          </p:nvSpPr>
          <p:spPr>
            <a:xfrm>
              <a:off x="4560840" y="43290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259" name="CustomShape 25"/>
            <p:cNvSpPr/>
            <p:nvPr/>
          </p:nvSpPr>
          <p:spPr>
            <a:xfrm>
              <a:off x="3922920" y="41194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60" name="CustomShape 26"/>
            <p:cNvSpPr/>
            <p:nvPr/>
          </p:nvSpPr>
          <p:spPr>
            <a:xfrm>
              <a:off x="5227200" y="41194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261" name="Group 27"/>
          <p:cNvGrpSpPr/>
          <p:nvPr/>
        </p:nvGrpSpPr>
        <p:grpSpPr>
          <a:xfrm>
            <a:off x="3833640" y="5635800"/>
            <a:ext cx="1742400" cy="746280"/>
            <a:chOff x="3833640" y="5635800"/>
            <a:chExt cx="1742400" cy="746280"/>
          </a:xfrm>
        </p:grpSpPr>
        <p:sp>
          <p:nvSpPr>
            <p:cNvPr id="262" name="CustomShape 28"/>
            <p:cNvSpPr/>
            <p:nvPr/>
          </p:nvSpPr>
          <p:spPr>
            <a:xfrm>
              <a:off x="3833640" y="59623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63" name="CustomShape 29"/>
            <p:cNvSpPr/>
            <p:nvPr/>
          </p:nvSpPr>
          <p:spPr>
            <a:xfrm>
              <a:off x="5154480" y="59623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64" name="Line 30"/>
            <p:cNvSpPr/>
            <p:nvPr/>
          </p:nvSpPr>
          <p:spPr>
            <a:xfrm>
              <a:off x="4252680" y="616032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5" name="CustomShape 31"/>
            <p:cNvSpPr/>
            <p:nvPr/>
          </p:nvSpPr>
          <p:spPr>
            <a:xfrm>
              <a:off x="4560840" y="58449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266" name="CustomShape 32"/>
            <p:cNvSpPr/>
            <p:nvPr/>
          </p:nvSpPr>
          <p:spPr>
            <a:xfrm>
              <a:off x="3922920" y="56358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67" name="CustomShape 33"/>
            <p:cNvSpPr/>
            <p:nvPr/>
          </p:nvSpPr>
          <p:spPr>
            <a:xfrm>
              <a:off x="5227200" y="56358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268" name="CustomShape 34"/>
          <p:cNvSpPr/>
          <p:nvPr/>
        </p:nvSpPr>
        <p:spPr>
          <a:xfrm rot="5400000">
            <a:off x="4201920" y="5177520"/>
            <a:ext cx="978840" cy="262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9" name="CustomShape 35"/>
          <p:cNvSpPr/>
          <p:nvPr/>
        </p:nvSpPr>
        <p:spPr>
          <a:xfrm>
            <a:off x="4889520" y="5122800"/>
            <a:ext cx="172620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RELAX(u, v, w)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0" name="CustomShape 36"/>
          <p:cNvSpPr/>
          <p:nvPr/>
        </p:nvSpPr>
        <p:spPr>
          <a:xfrm>
            <a:off x="5626080" y="4241880"/>
            <a:ext cx="3390120" cy="824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After relaxation:</a:t>
            </a:r>
            <a:endParaRPr lang="en-US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d[v] </a:t>
            </a: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</a:t>
            </a:r>
            <a:r>
              <a:rPr lang="en-US" sz="24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 d[u] + w(u, v)</a:t>
            </a:r>
            <a:endParaRPr lang="en-US" sz="2400" b="0" strike="noStrike" spc="-1">
              <a:latin typeface="Arial"/>
            </a:endParaRPr>
          </a:p>
        </p:txBody>
      </p:sp>
      <p:grpSp>
        <p:nvGrpSpPr>
          <p:cNvPr id="271" name="Group 37"/>
          <p:cNvGrpSpPr/>
          <p:nvPr/>
        </p:nvGrpSpPr>
        <p:grpSpPr>
          <a:xfrm>
            <a:off x="258840" y="3787920"/>
            <a:ext cx="1907280" cy="683280"/>
            <a:chOff x="258840" y="3787920"/>
            <a:chExt cx="1907280" cy="683280"/>
          </a:xfrm>
        </p:grpSpPr>
        <p:sp>
          <p:nvSpPr>
            <p:cNvPr id="272" name="CustomShape 38"/>
            <p:cNvSpPr/>
            <p:nvPr/>
          </p:nvSpPr>
          <p:spPr>
            <a:xfrm>
              <a:off x="258840" y="3787920"/>
              <a:ext cx="376920" cy="356400"/>
            </a:xfrm>
            <a:prstGeom prst="ellipse">
              <a:avLst/>
            </a:prstGeom>
            <a:solidFill>
              <a:srgbClr val="BBE0E3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73" name="CustomShape 39"/>
            <p:cNvSpPr/>
            <p:nvPr/>
          </p:nvSpPr>
          <p:spPr>
            <a:xfrm>
              <a:off x="585720" y="4105440"/>
              <a:ext cx="258120" cy="365760"/>
            </a:xfrm>
            <a:custGeom>
              <a:avLst/>
              <a:gdLst/>
              <a:ahLst/>
              <a:cxnLst/>
              <a:rect l="l" t="t" r="r" b="b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4" name="CustomShape 40"/>
            <p:cNvSpPr/>
            <p:nvPr/>
          </p:nvSpPr>
          <p:spPr>
            <a:xfrm>
              <a:off x="561960" y="4059360"/>
              <a:ext cx="1604160" cy="383400"/>
            </a:xfrm>
            <a:custGeom>
              <a:avLst/>
              <a:gdLst/>
              <a:ahLst/>
              <a:cxnLst/>
              <a:rect l="l" t="t" r="r" b="b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75" name="Group 41"/>
          <p:cNvGrpSpPr/>
          <p:nvPr/>
        </p:nvGrpSpPr>
        <p:grpSpPr>
          <a:xfrm>
            <a:off x="3351240" y="3787920"/>
            <a:ext cx="1907280" cy="683280"/>
            <a:chOff x="3351240" y="3787920"/>
            <a:chExt cx="1907280" cy="683280"/>
          </a:xfrm>
        </p:grpSpPr>
        <p:sp>
          <p:nvSpPr>
            <p:cNvPr id="276" name="CustomShape 42"/>
            <p:cNvSpPr/>
            <p:nvPr/>
          </p:nvSpPr>
          <p:spPr>
            <a:xfrm>
              <a:off x="3351240" y="3787920"/>
              <a:ext cx="376920" cy="356400"/>
            </a:xfrm>
            <a:prstGeom prst="ellipse">
              <a:avLst/>
            </a:prstGeom>
            <a:solidFill>
              <a:srgbClr val="BBE0E3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77" name="CustomShape 43"/>
            <p:cNvSpPr/>
            <p:nvPr/>
          </p:nvSpPr>
          <p:spPr>
            <a:xfrm>
              <a:off x="3678120" y="4105440"/>
              <a:ext cx="258120" cy="365760"/>
            </a:xfrm>
            <a:custGeom>
              <a:avLst/>
              <a:gdLst/>
              <a:ahLst/>
              <a:cxnLst/>
              <a:rect l="l" t="t" r="r" b="b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8" name="CustomShape 44"/>
            <p:cNvSpPr/>
            <p:nvPr/>
          </p:nvSpPr>
          <p:spPr>
            <a:xfrm>
              <a:off x="3654360" y="4059360"/>
              <a:ext cx="1604160" cy="383400"/>
            </a:xfrm>
            <a:custGeom>
              <a:avLst/>
              <a:gdLst/>
              <a:ahLst/>
              <a:cxnLst/>
              <a:rect l="l" t="t" r="r" b="b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Effect">
                      <p:stCondLst>
                        <p:cond delay="indefinite"/>
                      </p:stCondLst>
                      <p:childTnLst>
                        <p:par>
                          <p:cTn id="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Effect">
                      <p:stCondLst>
                        <p:cond delay="indefinite"/>
                      </p:stCondLst>
                      <p:childTnLst>
                        <p:par>
                          <p:cTn id="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A4AEF2D-C02B-4762-81F9-557E3D051992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RELAX(u, v, w)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81" name="CustomShape 3"/>
          <p:cNvSpPr/>
          <p:nvPr/>
        </p:nvSpPr>
        <p:spPr>
          <a:xfrm>
            <a:off x="351000" y="1213920"/>
            <a:ext cx="822888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4000" lnSpcReduction="10000"/>
          </a:bodyPr>
          <a:lstStyle/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if 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d[v] &gt; d[u] + w(u, v)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   then 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d[v] ← d[u] + w(u, v)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      </a:t>
            </a: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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Symbol"/>
              </a:rPr>
              <a:t>[v] ← u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All the single-source shortest-paths algorithms </a:t>
            </a:r>
            <a:endParaRPr lang="en-US" sz="3200" b="0" strike="noStrike" spc="-1">
              <a:latin typeface="Arial"/>
            </a:endParaRPr>
          </a:p>
          <a:p>
            <a:pPr marL="914400" lvl="1" indent="-4564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Arial"/>
              <a:buChar char="–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start by calling INIT-SINGLE-SOURCE</a:t>
            </a:r>
            <a:endParaRPr lang="en-US" sz="2800" b="0" strike="noStrike" spc="-1">
              <a:latin typeface="Arial"/>
            </a:endParaRPr>
          </a:p>
          <a:p>
            <a:pPr marL="914400" lvl="1" indent="-4564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Arial"/>
              <a:buChar char="–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then relax edges</a:t>
            </a:r>
            <a:endParaRPr lang="en-US" sz="28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The algorithms differ in the order and how many times they relax each edge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16000" indent="-21528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strike="noStrike" spc="-1">
                <a:solidFill>
                  <a:srgbClr val="000000"/>
                </a:solidFill>
                <a:latin typeface="Arial"/>
                <a:ea typeface="DejaVu Sans"/>
              </a:rPr>
              <a:t>BELLMAN FORD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83" name="CustomShape 2"/>
          <p:cNvSpPr/>
          <p:nvPr/>
        </p:nvSpPr>
        <p:spPr>
          <a:xfrm>
            <a:off x="722160" y="2906280"/>
            <a:ext cx="7771680" cy="149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4" name="CustomShape 3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9FCE3CA-DC37-42E5-8112-39D2E7B00BA2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fld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B5F84C5-2151-4478-BB4C-F6E4F0EAEB3A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86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Bellman-Ford Algorithm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87" name="CustomShape 3"/>
          <p:cNvSpPr/>
          <p:nvPr/>
        </p:nvSpPr>
        <p:spPr>
          <a:xfrm>
            <a:off x="351000" y="1213920"/>
            <a:ext cx="822888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4000"/>
          </a:bodyPr>
          <a:lstStyle/>
          <a:p>
            <a:pPr marL="432000" indent="-3232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Single-source shortest paths problem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Computes d[v] and </a:t>
            </a:r>
            <a:r>
              <a:rPr lang="en-US" sz="2800" b="0" strike="noStrike" spc="-1">
                <a:solidFill>
                  <a:srgbClr val="000000"/>
                </a:solidFill>
                <a:latin typeface="Symbol"/>
                <a:ea typeface="Symbol"/>
              </a:rPr>
              <a:t>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[v] for all v </a:t>
            </a:r>
            <a:r>
              <a:rPr lang="en-US" sz="2800" b="0" strike="noStrike" spc="-1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 V</a:t>
            </a:r>
            <a:endParaRPr lang="en-US" sz="2800" b="0" strike="noStrike" spc="-1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Allows negative edge weights</a:t>
            </a:r>
            <a:endParaRPr lang="en-US" sz="3200" b="0" strike="noStrike" spc="-1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Returns:</a:t>
            </a:r>
            <a:endParaRPr lang="en-US" sz="3200" b="0" strike="noStrike" spc="-1">
              <a:latin typeface="Arial"/>
            </a:endParaRPr>
          </a:p>
          <a:p>
            <a:pPr marL="742680" lvl="1" indent="-284760">
              <a:lnSpc>
                <a:spcPct val="100000"/>
              </a:lnSpc>
              <a:spcBef>
                <a:spcPts val="598"/>
              </a:spcBef>
              <a:buClr>
                <a:srgbClr val="FF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FF0000"/>
                </a:solidFill>
                <a:latin typeface="Arial"/>
                <a:ea typeface="Symbol"/>
              </a:rPr>
              <a:t>TRUE if no negative-weight cycles are reachable from the source s</a:t>
            </a:r>
            <a:endParaRPr lang="en-US" sz="2800" b="0" strike="noStrike" spc="-1">
              <a:latin typeface="Arial"/>
            </a:endParaRPr>
          </a:p>
          <a:p>
            <a:pPr marL="742680" lvl="1" indent="-284760">
              <a:lnSpc>
                <a:spcPct val="100000"/>
              </a:lnSpc>
              <a:spcBef>
                <a:spcPts val="598"/>
              </a:spcBef>
              <a:buClr>
                <a:srgbClr val="FF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FF0000"/>
                </a:solidFill>
                <a:latin typeface="Arial"/>
                <a:ea typeface="Symbol"/>
              </a:rPr>
              <a:t>FALSE otherwise </a:t>
            </a:r>
            <a:r>
              <a:rPr lang="en-US" sz="2800" b="0" strike="noStrike" spc="-1">
                <a:solidFill>
                  <a:srgbClr val="FF0000"/>
                </a:solidFill>
                <a:latin typeface="Symbol"/>
                <a:ea typeface="Symbol"/>
              </a:rPr>
              <a:t></a:t>
            </a:r>
            <a:r>
              <a:rPr lang="en-US" sz="2800" b="0" strike="noStrike" spc="-1">
                <a:solidFill>
                  <a:srgbClr val="FF0000"/>
                </a:solidFill>
                <a:latin typeface="Arial"/>
                <a:ea typeface="Symbol"/>
              </a:rPr>
              <a:t> no solution exists</a:t>
            </a:r>
            <a:endParaRPr lang="en-US" sz="2800" b="0" strike="noStrike" spc="-1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FF0000"/>
                </a:solidFill>
                <a:latin typeface="Arial"/>
                <a:ea typeface="Symbol"/>
              </a:rPr>
              <a:t>Idea: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FF0000"/>
                </a:solidFill>
                <a:latin typeface="Arial"/>
                <a:ea typeface="Symbol"/>
              </a:rPr>
              <a:t>Traverse all the edges |V – 1| times, every time performing a relaxation step of each edge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21E4937-6B14-4D42-B19A-44E660DEE1F9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89" name="Line 2"/>
          <p:cNvSpPr/>
          <p:nvPr/>
        </p:nvSpPr>
        <p:spPr>
          <a:xfrm flipV="1">
            <a:off x="6756480" y="4327200"/>
            <a:ext cx="414360" cy="40788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0" name="Line 3"/>
          <p:cNvSpPr/>
          <p:nvPr/>
        </p:nvSpPr>
        <p:spPr>
          <a:xfrm>
            <a:off x="6753240" y="5082480"/>
            <a:ext cx="407880" cy="41436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1" name="CustomShape 4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BELLMAN-FORD(</a:t>
            </a:r>
            <a:r>
              <a:rPr lang="en-US" sz="44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V, E, w, s</a:t>
            </a: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92" name="CustomShape 5"/>
          <p:cNvSpPr/>
          <p:nvPr/>
        </p:nvSpPr>
        <p:spPr>
          <a:xfrm>
            <a:off x="351000" y="1213920"/>
            <a:ext cx="656496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4000"/>
          </a:bodyPr>
          <a:lstStyle/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INITIALIZE-SINGLE-SOURCE(V, s)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for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← 1 to |V| - 1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do for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each edge (u, v) </a:t>
            </a:r>
            <a:r>
              <a:rPr lang="en-US" sz="32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E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              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Symbol"/>
              </a:rPr>
              <a:t>  do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RELAX(u, v, w)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Symbol"/>
              </a:rPr>
              <a:t>for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each edge (u, v) </a:t>
            </a:r>
            <a:r>
              <a:rPr lang="en-US" sz="32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E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     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Symbol"/>
              </a:rPr>
              <a:t>do if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d[v] &gt; d[u] + w(u, v)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             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Symbol"/>
              </a:rPr>
              <a:t>then return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FALSE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Symbol"/>
              </a:rPr>
              <a:t>return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TRUE</a:t>
            </a:r>
            <a:endParaRPr lang="en-US" sz="3200" b="0" strike="noStrike" spc="-1" dirty="0">
              <a:latin typeface="Arial"/>
            </a:endParaRPr>
          </a:p>
        </p:txBody>
      </p:sp>
      <p:grpSp>
        <p:nvGrpSpPr>
          <p:cNvPr id="293" name="Group 6"/>
          <p:cNvGrpSpPr/>
          <p:nvPr/>
        </p:nvGrpSpPr>
        <p:grpSpPr>
          <a:xfrm>
            <a:off x="6138720" y="1166760"/>
            <a:ext cx="2758320" cy="2529720"/>
            <a:chOff x="6138720" y="1166760"/>
            <a:chExt cx="2758320" cy="2529720"/>
          </a:xfrm>
        </p:grpSpPr>
        <p:sp>
          <p:nvSpPr>
            <p:cNvPr id="294" name="CustomShape 7"/>
            <p:cNvSpPr/>
            <p:nvPr/>
          </p:nvSpPr>
          <p:spPr>
            <a:xfrm>
              <a:off x="6418440" y="223200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5" name="CustomShape 8"/>
            <p:cNvSpPr/>
            <p:nvPr/>
          </p:nvSpPr>
          <p:spPr>
            <a:xfrm>
              <a:off x="7099200" y="149400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6" name="CustomShape 9"/>
            <p:cNvSpPr/>
            <p:nvPr/>
          </p:nvSpPr>
          <p:spPr>
            <a:xfrm>
              <a:off x="8420040" y="149400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7" name="CustomShape 10"/>
            <p:cNvSpPr/>
            <p:nvPr/>
          </p:nvSpPr>
          <p:spPr>
            <a:xfrm>
              <a:off x="7099200" y="297180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8" name="CustomShape 11"/>
            <p:cNvSpPr/>
            <p:nvPr/>
          </p:nvSpPr>
          <p:spPr>
            <a:xfrm>
              <a:off x="8420040" y="297180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9" name="Line 12"/>
            <p:cNvSpPr/>
            <p:nvPr/>
          </p:nvSpPr>
          <p:spPr>
            <a:xfrm flipV="1">
              <a:off x="6746400" y="1854000"/>
              <a:ext cx="414360" cy="414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0" name="Line 13"/>
            <p:cNvSpPr/>
            <p:nvPr/>
          </p:nvSpPr>
          <p:spPr>
            <a:xfrm>
              <a:off x="6748200" y="2597400"/>
              <a:ext cx="406440" cy="4284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1" name="CustomShape 14"/>
            <p:cNvSpPr/>
            <p:nvPr/>
          </p:nvSpPr>
          <p:spPr>
            <a:xfrm>
              <a:off x="6715080" y="18018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02" name="CustomShape 15"/>
            <p:cNvSpPr/>
            <p:nvPr/>
          </p:nvSpPr>
          <p:spPr>
            <a:xfrm>
              <a:off x="7804440" y="12765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03" name="CustomShape 16"/>
            <p:cNvSpPr/>
            <p:nvPr/>
          </p:nvSpPr>
          <p:spPr>
            <a:xfrm>
              <a:off x="6732720" y="27036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04" name="CustomShape 17"/>
            <p:cNvSpPr/>
            <p:nvPr/>
          </p:nvSpPr>
          <p:spPr>
            <a:xfrm>
              <a:off x="8604360" y="21733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05" name="CustomShape 18"/>
            <p:cNvSpPr/>
            <p:nvPr/>
          </p:nvSpPr>
          <p:spPr>
            <a:xfrm>
              <a:off x="7836120" y="31482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06" name="CustomShape 19"/>
            <p:cNvSpPr/>
            <p:nvPr/>
          </p:nvSpPr>
          <p:spPr>
            <a:xfrm>
              <a:off x="6138720" y="22510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07" name="CustomShape 20"/>
            <p:cNvSpPr/>
            <p:nvPr/>
          </p:nvSpPr>
          <p:spPr>
            <a:xfrm>
              <a:off x="7188120" y="116676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08" name="CustomShape 21"/>
            <p:cNvSpPr/>
            <p:nvPr/>
          </p:nvSpPr>
          <p:spPr>
            <a:xfrm>
              <a:off x="8493120" y="11667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09" name="CustomShape 22"/>
            <p:cNvSpPr/>
            <p:nvPr/>
          </p:nvSpPr>
          <p:spPr>
            <a:xfrm>
              <a:off x="7162560" y="33289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10" name="CustomShape 23"/>
            <p:cNvSpPr/>
            <p:nvPr/>
          </p:nvSpPr>
          <p:spPr>
            <a:xfrm>
              <a:off x="8518320" y="33289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11" name="Line 24"/>
            <p:cNvSpPr/>
            <p:nvPr/>
          </p:nvSpPr>
          <p:spPr>
            <a:xfrm>
              <a:off x="7527960" y="3195720"/>
              <a:ext cx="9079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2" name="Line 25"/>
            <p:cNvSpPr/>
            <p:nvPr/>
          </p:nvSpPr>
          <p:spPr>
            <a:xfrm flipV="1">
              <a:off x="7418520" y="1839600"/>
              <a:ext cx="1063440" cy="1150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3" name="Line 26"/>
            <p:cNvSpPr/>
            <p:nvPr/>
          </p:nvSpPr>
          <p:spPr>
            <a:xfrm flipH="1" flipV="1">
              <a:off x="6818400" y="2519280"/>
              <a:ext cx="1636560" cy="5781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4" name="CustomShape 27"/>
            <p:cNvSpPr/>
            <p:nvPr/>
          </p:nvSpPr>
          <p:spPr>
            <a:xfrm>
              <a:off x="7037640" y="21160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15" name="CustomShape 28"/>
            <p:cNvSpPr/>
            <p:nvPr/>
          </p:nvSpPr>
          <p:spPr>
            <a:xfrm>
              <a:off x="7427880" y="2148120"/>
              <a:ext cx="183600" cy="3355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6" name="CustomShape 29"/>
            <p:cNvSpPr/>
            <p:nvPr/>
          </p:nvSpPr>
          <p:spPr>
            <a:xfrm>
              <a:off x="8171640" y="19353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17" name="CustomShape 30"/>
            <p:cNvSpPr/>
            <p:nvPr/>
          </p:nvSpPr>
          <p:spPr>
            <a:xfrm>
              <a:off x="7898040" y="26672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18" name="Line 31"/>
            <p:cNvSpPr/>
            <p:nvPr/>
          </p:nvSpPr>
          <p:spPr>
            <a:xfrm>
              <a:off x="7307280" y="1905120"/>
              <a:ext cx="0" cy="107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9" name="Line 32"/>
            <p:cNvSpPr/>
            <p:nvPr/>
          </p:nvSpPr>
          <p:spPr>
            <a:xfrm>
              <a:off x="8631360" y="1900440"/>
              <a:ext cx="0" cy="107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0" name="Line 33"/>
            <p:cNvSpPr/>
            <p:nvPr/>
          </p:nvSpPr>
          <p:spPr>
            <a:xfrm>
              <a:off x="7396200" y="1909080"/>
              <a:ext cx="1150920" cy="10638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1" name="CustomShape 34"/>
            <p:cNvSpPr/>
            <p:nvPr/>
          </p:nvSpPr>
          <p:spPr>
            <a:xfrm>
              <a:off x="8209440" y="24447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22" name="CustomShape 35"/>
            <p:cNvSpPr/>
            <p:nvPr/>
          </p:nvSpPr>
          <p:spPr>
            <a:xfrm>
              <a:off x="7504200" y="1582920"/>
              <a:ext cx="923040" cy="7848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3" name="CustomShape 36"/>
            <p:cNvSpPr/>
            <p:nvPr/>
          </p:nvSpPr>
          <p:spPr>
            <a:xfrm flipH="1" flipV="1">
              <a:off x="7519320" y="1776600"/>
              <a:ext cx="9230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4" name="CustomShape 37"/>
            <p:cNvSpPr/>
            <p:nvPr/>
          </p:nvSpPr>
          <p:spPr>
            <a:xfrm>
              <a:off x="7734960" y="178272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600" b="0" strike="noStrike" spc="-1">
                <a:latin typeface="Arial"/>
              </a:endParaRPr>
            </a:p>
          </p:txBody>
        </p:sp>
      </p:grpSp>
      <p:grpSp>
        <p:nvGrpSpPr>
          <p:cNvPr id="325" name="Group 38"/>
          <p:cNvGrpSpPr/>
          <p:nvPr/>
        </p:nvGrpSpPr>
        <p:grpSpPr>
          <a:xfrm>
            <a:off x="6138720" y="3648240"/>
            <a:ext cx="2758320" cy="2529360"/>
            <a:chOff x="6138720" y="3648240"/>
            <a:chExt cx="2758320" cy="2529360"/>
          </a:xfrm>
        </p:grpSpPr>
        <p:sp>
          <p:nvSpPr>
            <p:cNvPr id="326" name="CustomShape 39"/>
            <p:cNvSpPr/>
            <p:nvPr/>
          </p:nvSpPr>
          <p:spPr>
            <a:xfrm>
              <a:off x="6418440" y="47131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27" name="CustomShape 40"/>
            <p:cNvSpPr/>
            <p:nvPr/>
          </p:nvSpPr>
          <p:spPr>
            <a:xfrm>
              <a:off x="7099200" y="3975120"/>
              <a:ext cx="421560" cy="4194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28" name="CustomShape 41"/>
            <p:cNvSpPr/>
            <p:nvPr/>
          </p:nvSpPr>
          <p:spPr>
            <a:xfrm>
              <a:off x="8420040" y="3975120"/>
              <a:ext cx="421560" cy="4194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29" name="CustomShape 42"/>
            <p:cNvSpPr/>
            <p:nvPr/>
          </p:nvSpPr>
          <p:spPr>
            <a:xfrm>
              <a:off x="7099200" y="54529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30" name="CustomShape 43"/>
            <p:cNvSpPr/>
            <p:nvPr/>
          </p:nvSpPr>
          <p:spPr>
            <a:xfrm>
              <a:off x="8420040" y="54529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31" name="Line 44"/>
            <p:cNvSpPr/>
            <p:nvPr/>
          </p:nvSpPr>
          <p:spPr>
            <a:xfrm flipV="1">
              <a:off x="6746400" y="4335480"/>
              <a:ext cx="414360" cy="4140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2" name="Line 45"/>
            <p:cNvSpPr/>
            <p:nvPr/>
          </p:nvSpPr>
          <p:spPr>
            <a:xfrm>
              <a:off x="6748200" y="5078520"/>
              <a:ext cx="406440" cy="4280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3" name="CustomShape 46"/>
            <p:cNvSpPr/>
            <p:nvPr/>
          </p:nvSpPr>
          <p:spPr>
            <a:xfrm>
              <a:off x="6715080" y="42829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4" name="CustomShape 47"/>
            <p:cNvSpPr/>
            <p:nvPr/>
          </p:nvSpPr>
          <p:spPr>
            <a:xfrm>
              <a:off x="7804440" y="37576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5" name="CustomShape 48"/>
            <p:cNvSpPr/>
            <p:nvPr/>
          </p:nvSpPr>
          <p:spPr>
            <a:xfrm>
              <a:off x="6732720" y="51847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6" name="CustomShape 49"/>
            <p:cNvSpPr/>
            <p:nvPr/>
          </p:nvSpPr>
          <p:spPr>
            <a:xfrm>
              <a:off x="8604360" y="46544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7" name="CustomShape 50"/>
            <p:cNvSpPr/>
            <p:nvPr/>
          </p:nvSpPr>
          <p:spPr>
            <a:xfrm>
              <a:off x="7836120" y="56293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8" name="CustomShape 51"/>
            <p:cNvSpPr/>
            <p:nvPr/>
          </p:nvSpPr>
          <p:spPr>
            <a:xfrm>
              <a:off x="6138720" y="4732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39" name="CustomShape 52"/>
            <p:cNvSpPr/>
            <p:nvPr/>
          </p:nvSpPr>
          <p:spPr>
            <a:xfrm>
              <a:off x="7188120" y="364824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0" name="CustomShape 53"/>
            <p:cNvSpPr/>
            <p:nvPr/>
          </p:nvSpPr>
          <p:spPr>
            <a:xfrm>
              <a:off x="8493120" y="36482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1" name="CustomShape 54"/>
            <p:cNvSpPr/>
            <p:nvPr/>
          </p:nvSpPr>
          <p:spPr>
            <a:xfrm>
              <a:off x="7162560" y="58100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2" name="CustomShape 55"/>
            <p:cNvSpPr/>
            <p:nvPr/>
          </p:nvSpPr>
          <p:spPr>
            <a:xfrm>
              <a:off x="8518320" y="58100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3" name="Line 56"/>
            <p:cNvSpPr/>
            <p:nvPr/>
          </p:nvSpPr>
          <p:spPr>
            <a:xfrm>
              <a:off x="7527960" y="5676840"/>
              <a:ext cx="9079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4" name="Line 57"/>
            <p:cNvSpPr/>
            <p:nvPr/>
          </p:nvSpPr>
          <p:spPr>
            <a:xfrm flipV="1">
              <a:off x="7418520" y="4321080"/>
              <a:ext cx="1063440" cy="11505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5" name="Line 58"/>
            <p:cNvSpPr/>
            <p:nvPr/>
          </p:nvSpPr>
          <p:spPr>
            <a:xfrm flipH="1" flipV="1">
              <a:off x="6818400" y="5000040"/>
              <a:ext cx="1636560" cy="5778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6" name="CustomShape 59"/>
            <p:cNvSpPr/>
            <p:nvPr/>
          </p:nvSpPr>
          <p:spPr>
            <a:xfrm>
              <a:off x="7037640" y="45972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47" name="CustomShape 60"/>
            <p:cNvSpPr/>
            <p:nvPr/>
          </p:nvSpPr>
          <p:spPr>
            <a:xfrm>
              <a:off x="7427880" y="4629240"/>
              <a:ext cx="183600" cy="3351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8" name="CustomShape 61"/>
            <p:cNvSpPr/>
            <p:nvPr/>
          </p:nvSpPr>
          <p:spPr>
            <a:xfrm>
              <a:off x="8171640" y="441648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49" name="CustomShape 62"/>
            <p:cNvSpPr/>
            <p:nvPr/>
          </p:nvSpPr>
          <p:spPr>
            <a:xfrm>
              <a:off x="7898040" y="51483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50" name="Line 63"/>
            <p:cNvSpPr/>
            <p:nvPr/>
          </p:nvSpPr>
          <p:spPr>
            <a:xfrm>
              <a:off x="7307280" y="4386240"/>
              <a:ext cx="0" cy="10710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1" name="Line 64"/>
            <p:cNvSpPr/>
            <p:nvPr/>
          </p:nvSpPr>
          <p:spPr>
            <a:xfrm>
              <a:off x="8631360" y="4381560"/>
              <a:ext cx="0" cy="10710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2" name="Line 65"/>
            <p:cNvSpPr/>
            <p:nvPr/>
          </p:nvSpPr>
          <p:spPr>
            <a:xfrm>
              <a:off x="7396200" y="4390920"/>
              <a:ext cx="1150920" cy="10634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3" name="CustomShape 66"/>
            <p:cNvSpPr/>
            <p:nvPr/>
          </p:nvSpPr>
          <p:spPr>
            <a:xfrm>
              <a:off x="8209440" y="492588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54" name="CustomShape 67"/>
            <p:cNvSpPr/>
            <p:nvPr/>
          </p:nvSpPr>
          <p:spPr>
            <a:xfrm>
              <a:off x="7504200" y="4064040"/>
              <a:ext cx="923040" cy="7812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5" name="CustomShape 68"/>
            <p:cNvSpPr/>
            <p:nvPr/>
          </p:nvSpPr>
          <p:spPr>
            <a:xfrm flipH="1" flipV="1">
              <a:off x="7519320" y="4258440"/>
              <a:ext cx="923040" cy="7848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6" name="CustomShape 69"/>
            <p:cNvSpPr/>
            <p:nvPr/>
          </p:nvSpPr>
          <p:spPr>
            <a:xfrm>
              <a:off x="7734960" y="426384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600" b="0" strike="noStrike" spc="-1">
                <a:latin typeface="Arial"/>
              </a:endParaRPr>
            </a:p>
          </p:txBody>
        </p:sp>
      </p:grpSp>
      <p:sp>
        <p:nvSpPr>
          <p:cNvPr id="357" name="CustomShape 70"/>
          <p:cNvSpPr/>
          <p:nvPr/>
        </p:nvSpPr>
        <p:spPr>
          <a:xfrm>
            <a:off x="341280" y="5987700"/>
            <a:ext cx="641844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E: (t, x), (t, y), (t, z), (x, t), (y, x), (y, z), (z, x), (z, s), (s, t), (s, y)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58" name="CustomShape 71"/>
          <p:cNvSpPr/>
          <p:nvPr/>
        </p:nvSpPr>
        <p:spPr>
          <a:xfrm>
            <a:off x="7129440" y="401472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9" name="CustomShape 72"/>
          <p:cNvSpPr/>
          <p:nvPr/>
        </p:nvSpPr>
        <p:spPr>
          <a:xfrm>
            <a:off x="7132680" y="550224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7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F51116E-658F-4A7E-8E6C-066FD8202497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13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61" name="CustomShape 2"/>
          <p:cNvSpPr/>
          <p:nvPr/>
        </p:nvSpPr>
        <p:spPr>
          <a:xfrm>
            <a:off x="2484360" y="4119480"/>
            <a:ext cx="896400" cy="57960"/>
          </a:xfrm>
          <a:custGeom>
            <a:avLst/>
            <a:gdLst/>
            <a:ahLst/>
            <a:cxnLst/>
            <a:rect l="l" t="t" r="r" b="b"/>
            <a:pathLst>
              <a:path w="565" h="37">
                <a:moveTo>
                  <a:pt x="0" y="36"/>
                </a:moveTo>
                <a:lnTo>
                  <a:pt x="253" y="0"/>
                </a:lnTo>
                <a:lnTo>
                  <a:pt x="565" y="37"/>
                </a:lnTo>
              </a:path>
            </a:pathLst>
          </a:custGeom>
          <a:noFill/>
          <a:ln w="7632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2" name="CustomShape 3"/>
          <p:cNvSpPr/>
          <p:nvPr/>
        </p:nvSpPr>
        <p:spPr>
          <a:xfrm>
            <a:off x="6294600" y="1617840"/>
            <a:ext cx="896040" cy="57960"/>
          </a:xfrm>
          <a:custGeom>
            <a:avLst/>
            <a:gdLst/>
            <a:ahLst/>
            <a:cxnLst/>
            <a:rect l="l" t="t" r="r" b="b"/>
            <a:pathLst>
              <a:path w="565" h="37">
                <a:moveTo>
                  <a:pt x="0" y="36"/>
                </a:moveTo>
                <a:lnTo>
                  <a:pt x="253" y="0"/>
                </a:lnTo>
                <a:lnTo>
                  <a:pt x="565" y="37"/>
                </a:lnTo>
              </a:path>
            </a:pathLst>
          </a:custGeom>
          <a:noFill/>
          <a:ln w="7632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3" name="CustomShape 4"/>
          <p:cNvSpPr/>
          <p:nvPr/>
        </p:nvSpPr>
        <p:spPr>
          <a:xfrm flipH="1" flipV="1">
            <a:off x="2463120" y="4318920"/>
            <a:ext cx="923040" cy="78480"/>
          </a:xfrm>
          <a:custGeom>
            <a:avLst/>
            <a:gdLst/>
            <a:ahLst/>
            <a:cxnLst/>
            <a:rect l="l" t="t" r="r" b="b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7632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4" name="Line 5"/>
          <p:cNvSpPr/>
          <p:nvPr/>
        </p:nvSpPr>
        <p:spPr>
          <a:xfrm>
            <a:off x="6161040" y="1958400"/>
            <a:ext cx="1173240" cy="107316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5" name="CustomShape 6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Example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366" name="Line 7"/>
          <p:cNvSpPr/>
          <p:nvPr/>
        </p:nvSpPr>
        <p:spPr>
          <a:xfrm flipV="1">
            <a:off x="6186600" y="1920600"/>
            <a:ext cx="1036440" cy="113652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7" name="Line 8"/>
          <p:cNvSpPr/>
          <p:nvPr/>
        </p:nvSpPr>
        <p:spPr>
          <a:xfrm flipV="1">
            <a:off x="1655640" y="1857240"/>
            <a:ext cx="414360" cy="40824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8" name="Line 9"/>
          <p:cNvSpPr/>
          <p:nvPr/>
        </p:nvSpPr>
        <p:spPr>
          <a:xfrm>
            <a:off x="1652760" y="2612160"/>
            <a:ext cx="407880" cy="41436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369" name="Group 10"/>
          <p:cNvGrpSpPr/>
          <p:nvPr/>
        </p:nvGrpSpPr>
        <p:grpSpPr>
          <a:xfrm>
            <a:off x="1038240" y="1177920"/>
            <a:ext cx="2757600" cy="2529720"/>
            <a:chOff x="1038240" y="1177920"/>
            <a:chExt cx="2757600" cy="2529720"/>
          </a:xfrm>
        </p:grpSpPr>
        <p:sp>
          <p:nvSpPr>
            <p:cNvPr id="370" name="CustomShape 11"/>
            <p:cNvSpPr/>
            <p:nvPr/>
          </p:nvSpPr>
          <p:spPr>
            <a:xfrm>
              <a:off x="1317600" y="224316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1" name="CustomShape 12"/>
            <p:cNvSpPr/>
            <p:nvPr/>
          </p:nvSpPr>
          <p:spPr>
            <a:xfrm>
              <a:off x="1998360" y="1505160"/>
              <a:ext cx="42120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2" name="CustomShape 13"/>
            <p:cNvSpPr/>
            <p:nvPr/>
          </p:nvSpPr>
          <p:spPr>
            <a:xfrm>
              <a:off x="3319200" y="1505160"/>
              <a:ext cx="42120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3" name="CustomShape 14"/>
            <p:cNvSpPr/>
            <p:nvPr/>
          </p:nvSpPr>
          <p:spPr>
            <a:xfrm>
              <a:off x="1998360" y="298296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4" name="CustomShape 15"/>
            <p:cNvSpPr/>
            <p:nvPr/>
          </p:nvSpPr>
          <p:spPr>
            <a:xfrm>
              <a:off x="3319200" y="298296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5" name="Line 16"/>
            <p:cNvSpPr/>
            <p:nvPr/>
          </p:nvSpPr>
          <p:spPr>
            <a:xfrm flipV="1">
              <a:off x="1645920" y="1865160"/>
              <a:ext cx="414000" cy="414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6" name="Line 17"/>
            <p:cNvSpPr/>
            <p:nvPr/>
          </p:nvSpPr>
          <p:spPr>
            <a:xfrm>
              <a:off x="1647720" y="2608560"/>
              <a:ext cx="406080" cy="4284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7" name="CustomShape 18"/>
            <p:cNvSpPr/>
            <p:nvPr/>
          </p:nvSpPr>
          <p:spPr>
            <a:xfrm>
              <a:off x="1614240" y="18129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78" name="CustomShape 19"/>
            <p:cNvSpPr/>
            <p:nvPr/>
          </p:nvSpPr>
          <p:spPr>
            <a:xfrm>
              <a:off x="2703240" y="12877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79" name="CustomShape 20"/>
            <p:cNvSpPr/>
            <p:nvPr/>
          </p:nvSpPr>
          <p:spPr>
            <a:xfrm>
              <a:off x="1631520" y="27147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80" name="CustomShape 21"/>
            <p:cNvSpPr/>
            <p:nvPr/>
          </p:nvSpPr>
          <p:spPr>
            <a:xfrm>
              <a:off x="3503160" y="21844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81" name="CustomShape 22"/>
            <p:cNvSpPr/>
            <p:nvPr/>
          </p:nvSpPr>
          <p:spPr>
            <a:xfrm>
              <a:off x="2734920" y="31593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82" name="CustomShape 23"/>
            <p:cNvSpPr/>
            <p:nvPr/>
          </p:nvSpPr>
          <p:spPr>
            <a:xfrm>
              <a:off x="1038240" y="22622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83" name="CustomShape 24"/>
            <p:cNvSpPr/>
            <p:nvPr/>
          </p:nvSpPr>
          <p:spPr>
            <a:xfrm>
              <a:off x="2086920" y="117792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84" name="CustomShape 25"/>
            <p:cNvSpPr/>
            <p:nvPr/>
          </p:nvSpPr>
          <p:spPr>
            <a:xfrm>
              <a:off x="3392280" y="11779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85" name="CustomShape 26"/>
            <p:cNvSpPr/>
            <p:nvPr/>
          </p:nvSpPr>
          <p:spPr>
            <a:xfrm>
              <a:off x="2061720" y="33400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86" name="CustomShape 27"/>
            <p:cNvSpPr/>
            <p:nvPr/>
          </p:nvSpPr>
          <p:spPr>
            <a:xfrm>
              <a:off x="3417480" y="33400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87" name="Line 28"/>
            <p:cNvSpPr/>
            <p:nvPr/>
          </p:nvSpPr>
          <p:spPr>
            <a:xfrm>
              <a:off x="2427120" y="3206880"/>
              <a:ext cx="90756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8" name="Line 29"/>
            <p:cNvSpPr/>
            <p:nvPr/>
          </p:nvSpPr>
          <p:spPr>
            <a:xfrm flipV="1">
              <a:off x="2317680" y="1850760"/>
              <a:ext cx="1063080" cy="1150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9" name="Line 30"/>
            <p:cNvSpPr/>
            <p:nvPr/>
          </p:nvSpPr>
          <p:spPr>
            <a:xfrm flipH="1" flipV="1">
              <a:off x="1717200" y="2530440"/>
              <a:ext cx="1636200" cy="5781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0" name="CustomShape 31"/>
            <p:cNvSpPr/>
            <p:nvPr/>
          </p:nvSpPr>
          <p:spPr>
            <a:xfrm>
              <a:off x="1936440" y="21272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91" name="CustomShape 32"/>
            <p:cNvSpPr/>
            <p:nvPr/>
          </p:nvSpPr>
          <p:spPr>
            <a:xfrm>
              <a:off x="2327040" y="2159280"/>
              <a:ext cx="183240" cy="3355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2" name="CustomShape 33"/>
            <p:cNvSpPr/>
            <p:nvPr/>
          </p:nvSpPr>
          <p:spPr>
            <a:xfrm>
              <a:off x="3070440" y="194652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93" name="CustomShape 34"/>
            <p:cNvSpPr/>
            <p:nvPr/>
          </p:nvSpPr>
          <p:spPr>
            <a:xfrm>
              <a:off x="2796840" y="26784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94" name="Line 35"/>
            <p:cNvSpPr/>
            <p:nvPr/>
          </p:nvSpPr>
          <p:spPr>
            <a:xfrm>
              <a:off x="2206440" y="1916280"/>
              <a:ext cx="0" cy="107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5" name="Line 36"/>
            <p:cNvSpPr/>
            <p:nvPr/>
          </p:nvSpPr>
          <p:spPr>
            <a:xfrm>
              <a:off x="3530520" y="1911600"/>
              <a:ext cx="0" cy="107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6" name="Line 37"/>
            <p:cNvSpPr/>
            <p:nvPr/>
          </p:nvSpPr>
          <p:spPr>
            <a:xfrm>
              <a:off x="2295360" y="1920240"/>
              <a:ext cx="1150560" cy="10638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7" name="CustomShape 38"/>
            <p:cNvSpPr/>
            <p:nvPr/>
          </p:nvSpPr>
          <p:spPr>
            <a:xfrm>
              <a:off x="3108600" y="245592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98" name="CustomShape 39"/>
            <p:cNvSpPr/>
            <p:nvPr/>
          </p:nvSpPr>
          <p:spPr>
            <a:xfrm>
              <a:off x="2403360" y="1594080"/>
              <a:ext cx="922680" cy="7848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9" name="CustomShape 40"/>
            <p:cNvSpPr/>
            <p:nvPr/>
          </p:nvSpPr>
          <p:spPr>
            <a:xfrm flipH="1" flipV="1">
              <a:off x="2417760" y="1787760"/>
              <a:ext cx="92268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0" name="CustomShape 41"/>
            <p:cNvSpPr/>
            <p:nvPr/>
          </p:nvSpPr>
          <p:spPr>
            <a:xfrm>
              <a:off x="2633760" y="179388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600" b="0" strike="noStrike" spc="-1">
                <a:latin typeface="Arial"/>
              </a:endParaRPr>
            </a:p>
          </p:txBody>
        </p:sp>
      </p:grpSp>
      <p:sp>
        <p:nvSpPr>
          <p:cNvPr id="401" name="CustomShape 42"/>
          <p:cNvSpPr/>
          <p:nvPr/>
        </p:nvSpPr>
        <p:spPr>
          <a:xfrm>
            <a:off x="1503000" y="6177060"/>
            <a:ext cx="613800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(t, x), (t, y), (t, z), (x, t), (y, x), (y, z), (z, x), (z, s), (s, t), (s, y)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402" name="Line 43"/>
          <p:cNvSpPr/>
          <p:nvPr/>
        </p:nvSpPr>
        <p:spPr>
          <a:xfrm flipV="1">
            <a:off x="5529240" y="1901520"/>
            <a:ext cx="414360" cy="40788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3" name="Line 44"/>
          <p:cNvSpPr/>
          <p:nvPr/>
        </p:nvSpPr>
        <p:spPr>
          <a:xfrm>
            <a:off x="5526000" y="2656800"/>
            <a:ext cx="408240" cy="414360"/>
          </a:xfrm>
          <a:prstGeom prst="line">
            <a:avLst/>
          </a:prstGeom>
          <a:ln w="763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404" name="Group 45"/>
          <p:cNvGrpSpPr/>
          <p:nvPr/>
        </p:nvGrpSpPr>
        <p:grpSpPr>
          <a:xfrm>
            <a:off x="4911480" y="1222200"/>
            <a:ext cx="2758320" cy="2529720"/>
            <a:chOff x="4911480" y="1222200"/>
            <a:chExt cx="2758320" cy="2529720"/>
          </a:xfrm>
        </p:grpSpPr>
        <p:sp>
          <p:nvSpPr>
            <p:cNvPr id="405" name="CustomShape 46"/>
            <p:cNvSpPr/>
            <p:nvPr/>
          </p:nvSpPr>
          <p:spPr>
            <a:xfrm>
              <a:off x="5191200" y="228744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06" name="CustomShape 47"/>
            <p:cNvSpPr/>
            <p:nvPr/>
          </p:nvSpPr>
          <p:spPr>
            <a:xfrm>
              <a:off x="5871960" y="154944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07" name="CustomShape 48"/>
            <p:cNvSpPr/>
            <p:nvPr/>
          </p:nvSpPr>
          <p:spPr>
            <a:xfrm>
              <a:off x="7192800" y="154944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08" name="CustomShape 49"/>
            <p:cNvSpPr/>
            <p:nvPr/>
          </p:nvSpPr>
          <p:spPr>
            <a:xfrm>
              <a:off x="5871960" y="302724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09" name="CustomShape 50"/>
            <p:cNvSpPr/>
            <p:nvPr/>
          </p:nvSpPr>
          <p:spPr>
            <a:xfrm>
              <a:off x="7192800" y="302724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10" name="Line 51"/>
            <p:cNvSpPr/>
            <p:nvPr/>
          </p:nvSpPr>
          <p:spPr>
            <a:xfrm flipV="1">
              <a:off x="5519520" y="1909440"/>
              <a:ext cx="414360" cy="414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1" name="Line 52"/>
            <p:cNvSpPr/>
            <p:nvPr/>
          </p:nvSpPr>
          <p:spPr>
            <a:xfrm>
              <a:off x="5521320" y="2652840"/>
              <a:ext cx="406440" cy="4284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2" name="CustomShape 53"/>
            <p:cNvSpPr/>
            <p:nvPr/>
          </p:nvSpPr>
          <p:spPr>
            <a:xfrm>
              <a:off x="5487840" y="18572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13" name="CustomShape 54"/>
            <p:cNvSpPr/>
            <p:nvPr/>
          </p:nvSpPr>
          <p:spPr>
            <a:xfrm>
              <a:off x="6577200" y="13320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14" name="CustomShape 55"/>
            <p:cNvSpPr/>
            <p:nvPr/>
          </p:nvSpPr>
          <p:spPr>
            <a:xfrm>
              <a:off x="5505480" y="27590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15" name="CustomShape 56"/>
            <p:cNvSpPr/>
            <p:nvPr/>
          </p:nvSpPr>
          <p:spPr>
            <a:xfrm>
              <a:off x="7377120" y="22287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16" name="CustomShape 57"/>
            <p:cNvSpPr/>
            <p:nvPr/>
          </p:nvSpPr>
          <p:spPr>
            <a:xfrm>
              <a:off x="6608880" y="32036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17" name="CustomShape 58"/>
            <p:cNvSpPr/>
            <p:nvPr/>
          </p:nvSpPr>
          <p:spPr>
            <a:xfrm>
              <a:off x="4911480" y="23065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18" name="CustomShape 59"/>
            <p:cNvSpPr/>
            <p:nvPr/>
          </p:nvSpPr>
          <p:spPr>
            <a:xfrm>
              <a:off x="5960880" y="122220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19" name="CustomShape 60"/>
            <p:cNvSpPr/>
            <p:nvPr/>
          </p:nvSpPr>
          <p:spPr>
            <a:xfrm>
              <a:off x="7265880" y="1222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20" name="CustomShape 61"/>
            <p:cNvSpPr/>
            <p:nvPr/>
          </p:nvSpPr>
          <p:spPr>
            <a:xfrm>
              <a:off x="5935320" y="33843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21" name="CustomShape 62"/>
            <p:cNvSpPr/>
            <p:nvPr/>
          </p:nvSpPr>
          <p:spPr>
            <a:xfrm>
              <a:off x="7291080" y="33843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22" name="Line 63"/>
            <p:cNvSpPr/>
            <p:nvPr/>
          </p:nvSpPr>
          <p:spPr>
            <a:xfrm>
              <a:off x="6300720" y="3251160"/>
              <a:ext cx="9079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3" name="Line 64"/>
            <p:cNvSpPr/>
            <p:nvPr/>
          </p:nvSpPr>
          <p:spPr>
            <a:xfrm flipV="1">
              <a:off x="6191280" y="1895040"/>
              <a:ext cx="1063440" cy="1150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4" name="Line 65"/>
            <p:cNvSpPr/>
            <p:nvPr/>
          </p:nvSpPr>
          <p:spPr>
            <a:xfrm flipH="1" flipV="1">
              <a:off x="5591160" y="2574720"/>
              <a:ext cx="1636560" cy="5781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5" name="CustomShape 66"/>
            <p:cNvSpPr/>
            <p:nvPr/>
          </p:nvSpPr>
          <p:spPr>
            <a:xfrm>
              <a:off x="5810400" y="21715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26" name="CustomShape 67"/>
            <p:cNvSpPr/>
            <p:nvPr/>
          </p:nvSpPr>
          <p:spPr>
            <a:xfrm>
              <a:off x="6200640" y="2203560"/>
              <a:ext cx="183600" cy="3355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7" name="CustomShape 68"/>
            <p:cNvSpPr/>
            <p:nvPr/>
          </p:nvSpPr>
          <p:spPr>
            <a:xfrm>
              <a:off x="6944400" y="199080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28" name="CustomShape 69"/>
            <p:cNvSpPr/>
            <p:nvPr/>
          </p:nvSpPr>
          <p:spPr>
            <a:xfrm>
              <a:off x="6670800" y="27226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29" name="Line 70"/>
            <p:cNvSpPr/>
            <p:nvPr/>
          </p:nvSpPr>
          <p:spPr>
            <a:xfrm>
              <a:off x="6080040" y="1960560"/>
              <a:ext cx="0" cy="107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0" name="Line 71"/>
            <p:cNvSpPr/>
            <p:nvPr/>
          </p:nvSpPr>
          <p:spPr>
            <a:xfrm>
              <a:off x="7404120" y="1955880"/>
              <a:ext cx="0" cy="107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1" name="Line 72"/>
            <p:cNvSpPr/>
            <p:nvPr/>
          </p:nvSpPr>
          <p:spPr>
            <a:xfrm>
              <a:off x="6168960" y="1964520"/>
              <a:ext cx="1150920" cy="10638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2" name="CustomShape 73"/>
            <p:cNvSpPr/>
            <p:nvPr/>
          </p:nvSpPr>
          <p:spPr>
            <a:xfrm>
              <a:off x="6982200" y="250020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33" name="CustomShape 74"/>
            <p:cNvSpPr/>
            <p:nvPr/>
          </p:nvSpPr>
          <p:spPr>
            <a:xfrm>
              <a:off x="6276960" y="1638360"/>
              <a:ext cx="923040" cy="7848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4" name="CustomShape 75"/>
            <p:cNvSpPr/>
            <p:nvPr/>
          </p:nvSpPr>
          <p:spPr>
            <a:xfrm flipH="1" flipV="1">
              <a:off x="6292080" y="1832040"/>
              <a:ext cx="9230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5" name="CustomShape 76"/>
            <p:cNvSpPr/>
            <p:nvPr/>
          </p:nvSpPr>
          <p:spPr>
            <a:xfrm>
              <a:off x="6507720" y="18381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600" b="0" strike="noStrike" spc="-1">
                <a:latin typeface="Arial"/>
              </a:endParaRPr>
            </a:p>
          </p:txBody>
        </p:sp>
      </p:grpSp>
      <p:sp>
        <p:nvSpPr>
          <p:cNvPr id="436" name="CustomShape 77"/>
          <p:cNvSpPr/>
          <p:nvPr/>
        </p:nvSpPr>
        <p:spPr>
          <a:xfrm>
            <a:off x="7229520" y="159228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7" name="CustomShape 78"/>
          <p:cNvSpPr/>
          <p:nvPr/>
        </p:nvSpPr>
        <p:spPr>
          <a:xfrm>
            <a:off x="7229520" y="306396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8" name="CustomShape 79"/>
          <p:cNvSpPr/>
          <p:nvPr/>
        </p:nvSpPr>
        <p:spPr>
          <a:xfrm>
            <a:off x="7224840" y="1587600"/>
            <a:ext cx="36252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439" name="Group 80"/>
          <p:cNvGrpSpPr/>
          <p:nvPr/>
        </p:nvGrpSpPr>
        <p:grpSpPr>
          <a:xfrm>
            <a:off x="1090440" y="3711600"/>
            <a:ext cx="2758320" cy="2529720"/>
            <a:chOff x="1090440" y="3711600"/>
            <a:chExt cx="2758320" cy="2529720"/>
          </a:xfrm>
        </p:grpSpPr>
        <p:sp>
          <p:nvSpPr>
            <p:cNvPr id="440" name="Line 81"/>
            <p:cNvSpPr/>
            <p:nvPr/>
          </p:nvSpPr>
          <p:spPr>
            <a:xfrm>
              <a:off x="2340000" y="4447440"/>
              <a:ext cx="1173240" cy="107316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1" name="Line 82"/>
            <p:cNvSpPr/>
            <p:nvPr/>
          </p:nvSpPr>
          <p:spPr>
            <a:xfrm flipV="1">
              <a:off x="2379600" y="4395600"/>
              <a:ext cx="1036800" cy="113652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2" name="Line 83"/>
            <p:cNvSpPr/>
            <p:nvPr/>
          </p:nvSpPr>
          <p:spPr>
            <a:xfrm flipV="1">
              <a:off x="1708200" y="4390920"/>
              <a:ext cx="414360" cy="408240"/>
            </a:xfrm>
            <a:prstGeom prst="line">
              <a:avLst/>
            </a:prstGeom>
            <a:ln w="1908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3" name="Line 84"/>
            <p:cNvSpPr/>
            <p:nvPr/>
          </p:nvSpPr>
          <p:spPr>
            <a:xfrm>
              <a:off x="1704960" y="5146920"/>
              <a:ext cx="408240" cy="41400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444" name="Group 85"/>
            <p:cNvGrpSpPr/>
            <p:nvPr/>
          </p:nvGrpSpPr>
          <p:grpSpPr>
            <a:xfrm>
              <a:off x="1090440" y="3711600"/>
              <a:ext cx="2758320" cy="2529720"/>
              <a:chOff x="1090440" y="3711600"/>
              <a:chExt cx="2758320" cy="2529720"/>
            </a:xfrm>
          </p:grpSpPr>
          <p:sp>
            <p:nvSpPr>
              <p:cNvPr id="445" name="CustomShape 86"/>
              <p:cNvSpPr/>
              <p:nvPr/>
            </p:nvSpPr>
            <p:spPr>
              <a:xfrm>
                <a:off x="1370160" y="4776840"/>
                <a:ext cx="42156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0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6" name="CustomShape 87"/>
              <p:cNvSpPr/>
              <p:nvPr/>
            </p:nvSpPr>
            <p:spPr>
              <a:xfrm>
                <a:off x="2050920" y="4038840"/>
                <a:ext cx="42156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7" name="CustomShape 88"/>
              <p:cNvSpPr/>
              <p:nvPr/>
            </p:nvSpPr>
            <p:spPr>
              <a:xfrm>
                <a:off x="3371760" y="4038840"/>
                <a:ext cx="42156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Symbol"/>
                    <a:ea typeface="Symbol"/>
                  </a:rPr>
                  <a:t>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8" name="CustomShape 89"/>
              <p:cNvSpPr/>
              <p:nvPr/>
            </p:nvSpPr>
            <p:spPr>
              <a:xfrm>
                <a:off x="2050920" y="5516640"/>
                <a:ext cx="42156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9" name="CustomShape 90"/>
              <p:cNvSpPr/>
              <p:nvPr/>
            </p:nvSpPr>
            <p:spPr>
              <a:xfrm>
                <a:off x="3371760" y="5516640"/>
                <a:ext cx="42156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Symbol"/>
                    <a:ea typeface="Symbol"/>
                  </a:rPr>
                  <a:t>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50" name="Line 91"/>
              <p:cNvSpPr/>
              <p:nvPr/>
            </p:nvSpPr>
            <p:spPr>
              <a:xfrm flipV="1">
                <a:off x="1698480" y="4398480"/>
                <a:ext cx="414360" cy="4143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Line 92"/>
              <p:cNvSpPr/>
              <p:nvPr/>
            </p:nvSpPr>
            <p:spPr>
              <a:xfrm>
                <a:off x="1700280" y="5141880"/>
                <a:ext cx="406440" cy="4284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CustomShape 93"/>
              <p:cNvSpPr/>
              <p:nvPr/>
            </p:nvSpPr>
            <p:spPr>
              <a:xfrm>
                <a:off x="1666800" y="434664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3" name="CustomShape 94"/>
              <p:cNvSpPr/>
              <p:nvPr/>
            </p:nvSpPr>
            <p:spPr>
              <a:xfrm>
                <a:off x="2756160" y="382140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4" name="CustomShape 95"/>
              <p:cNvSpPr/>
              <p:nvPr/>
            </p:nvSpPr>
            <p:spPr>
              <a:xfrm>
                <a:off x="1684440" y="524844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5" name="CustomShape 96"/>
              <p:cNvSpPr/>
              <p:nvPr/>
            </p:nvSpPr>
            <p:spPr>
              <a:xfrm>
                <a:off x="3556080" y="471816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6" name="CustomShape 97"/>
              <p:cNvSpPr/>
              <p:nvPr/>
            </p:nvSpPr>
            <p:spPr>
              <a:xfrm>
                <a:off x="2787840" y="569304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7" name="CustomShape 98"/>
              <p:cNvSpPr/>
              <p:nvPr/>
            </p:nvSpPr>
            <p:spPr>
              <a:xfrm>
                <a:off x="1090440" y="479592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58" name="CustomShape 99"/>
              <p:cNvSpPr/>
              <p:nvPr/>
            </p:nvSpPr>
            <p:spPr>
              <a:xfrm>
                <a:off x="2139840" y="3711600"/>
                <a:ext cx="2440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t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59" name="CustomShape 100"/>
              <p:cNvSpPr/>
              <p:nvPr/>
            </p:nvSpPr>
            <p:spPr>
              <a:xfrm>
                <a:off x="3444840" y="371160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x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60" name="CustomShape 101"/>
              <p:cNvSpPr/>
              <p:nvPr/>
            </p:nvSpPr>
            <p:spPr>
              <a:xfrm>
                <a:off x="2114280" y="587376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61" name="CustomShape 102"/>
              <p:cNvSpPr/>
              <p:nvPr/>
            </p:nvSpPr>
            <p:spPr>
              <a:xfrm>
                <a:off x="3470040" y="587376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z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62" name="Line 103"/>
              <p:cNvSpPr/>
              <p:nvPr/>
            </p:nvSpPr>
            <p:spPr>
              <a:xfrm>
                <a:off x="2479680" y="5740200"/>
                <a:ext cx="9079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3" name="Line 104"/>
              <p:cNvSpPr/>
              <p:nvPr/>
            </p:nvSpPr>
            <p:spPr>
              <a:xfrm flipV="1">
                <a:off x="2370240" y="4384080"/>
                <a:ext cx="1063440" cy="115092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Line 105"/>
              <p:cNvSpPr/>
              <p:nvPr/>
            </p:nvSpPr>
            <p:spPr>
              <a:xfrm flipH="1" flipV="1">
                <a:off x="1770120" y="5063760"/>
                <a:ext cx="1636560" cy="5781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CustomShape 106"/>
              <p:cNvSpPr/>
              <p:nvPr/>
            </p:nvSpPr>
            <p:spPr>
              <a:xfrm>
                <a:off x="1989360" y="466092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8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66" name="CustomShape 107"/>
              <p:cNvSpPr/>
              <p:nvPr/>
            </p:nvSpPr>
            <p:spPr>
              <a:xfrm>
                <a:off x="2379600" y="4692960"/>
                <a:ext cx="183600" cy="335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7" name="CustomShape 108"/>
              <p:cNvSpPr/>
              <p:nvPr/>
            </p:nvSpPr>
            <p:spPr>
              <a:xfrm>
                <a:off x="3123360" y="4480200"/>
                <a:ext cx="36000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-3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68" name="CustomShape 109"/>
              <p:cNvSpPr/>
              <p:nvPr/>
            </p:nvSpPr>
            <p:spPr>
              <a:xfrm>
                <a:off x="2849760" y="521208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69" name="Line 110"/>
              <p:cNvSpPr/>
              <p:nvPr/>
            </p:nvSpPr>
            <p:spPr>
              <a:xfrm>
                <a:off x="2259000" y="4449600"/>
                <a:ext cx="0" cy="10713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Line 111"/>
              <p:cNvSpPr/>
              <p:nvPr/>
            </p:nvSpPr>
            <p:spPr>
              <a:xfrm>
                <a:off x="3583080" y="4444920"/>
                <a:ext cx="0" cy="10713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Line 112"/>
              <p:cNvSpPr/>
              <p:nvPr/>
            </p:nvSpPr>
            <p:spPr>
              <a:xfrm>
                <a:off x="2347920" y="4453560"/>
                <a:ext cx="1150920" cy="10638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72" name="CustomShape 113"/>
              <p:cNvSpPr/>
              <p:nvPr/>
            </p:nvSpPr>
            <p:spPr>
              <a:xfrm>
                <a:off x="3161160" y="4989600"/>
                <a:ext cx="36000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-4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73" name="CustomShape 114"/>
              <p:cNvSpPr/>
              <p:nvPr/>
            </p:nvSpPr>
            <p:spPr>
              <a:xfrm>
                <a:off x="2455920" y="4127760"/>
                <a:ext cx="9230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74" name="CustomShape 115"/>
              <p:cNvSpPr/>
              <p:nvPr/>
            </p:nvSpPr>
            <p:spPr>
              <a:xfrm flipH="1" flipV="1">
                <a:off x="2471040" y="4321440"/>
                <a:ext cx="92304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CustomShape 116"/>
              <p:cNvSpPr/>
              <p:nvPr/>
            </p:nvSpPr>
            <p:spPr>
              <a:xfrm>
                <a:off x="2686680" y="4327560"/>
                <a:ext cx="36000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-2</a:t>
                </a:r>
                <a:endParaRPr lang="en-US" sz="1600" b="0" strike="noStrike" spc="-1">
                  <a:latin typeface="Arial"/>
                </a:endParaRPr>
              </a:p>
            </p:txBody>
          </p:sp>
        </p:grpSp>
        <p:sp>
          <p:nvSpPr>
            <p:cNvPr id="476" name="CustomShape 117"/>
            <p:cNvSpPr/>
            <p:nvPr/>
          </p:nvSpPr>
          <p:spPr>
            <a:xfrm>
              <a:off x="3408480" y="4081680"/>
              <a:ext cx="362880" cy="3355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77" name="CustomShape 118"/>
            <p:cNvSpPr/>
            <p:nvPr/>
          </p:nvSpPr>
          <p:spPr>
            <a:xfrm>
              <a:off x="3408480" y="5553000"/>
              <a:ext cx="36288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78" name="CustomShape 119"/>
            <p:cNvSpPr/>
            <p:nvPr/>
          </p:nvSpPr>
          <p:spPr>
            <a:xfrm>
              <a:off x="3403800" y="4076640"/>
              <a:ext cx="36252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479" name="CustomShape 120"/>
          <p:cNvSpPr/>
          <p:nvPr/>
        </p:nvSpPr>
        <p:spPr>
          <a:xfrm>
            <a:off x="2076480" y="407340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480" name="Group 121"/>
          <p:cNvGrpSpPr/>
          <p:nvPr/>
        </p:nvGrpSpPr>
        <p:grpSpPr>
          <a:xfrm>
            <a:off x="4951440" y="3719520"/>
            <a:ext cx="2757600" cy="2529720"/>
            <a:chOff x="4951440" y="3719520"/>
            <a:chExt cx="2757600" cy="2529720"/>
          </a:xfrm>
        </p:grpSpPr>
        <p:sp>
          <p:nvSpPr>
            <p:cNvPr id="481" name="CustomShape 122"/>
            <p:cNvSpPr/>
            <p:nvPr/>
          </p:nvSpPr>
          <p:spPr>
            <a:xfrm flipH="1" flipV="1">
              <a:off x="6323040" y="4326840"/>
              <a:ext cx="922680" cy="7848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7632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482" name="Group 123"/>
            <p:cNvGrpSpPr/>
            <p:nvPr/>
          </p:nvGrpSpPr>
          <p:grpSpPr>
            <a:xfrm>
              <a:off x="4951440" y="3719520"/>
              <a:ext cx="2757600" cy="2529720"/>
              <a:chOff x="4951440" y="3719520"/>
              <a:chExt cx="2757600" cy="2529720"/>
            </a:xfrm>
          </p:grpSpPr>
          <p:sp>
            <p:nvSpPr>
              <p:cNvPr id="483" name="Line 124"/>
              <p:cNvSpPr/>
              <p:nvPr/>
            </p:nvSpPr>
            <p:spPr>
              <a:xfrm>
                <a:off x="6200640" y="4455360"/>
                <a:ext cx="1172880" cy="1073160"/>
              </a:xfrm>
              <a:prstGeom prst="line">
                <a:avLst/>
              </a:prstGeom>
              <a:ln w="76320">
                <a:solidFill>
                  <a:srgbClr val="80808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84" name="Line 125"/>
              <p:cNvSpPr/>
              <p:nvPr/>
            </p:nvSpPr>
            <p:spPr>
              <a:xfrm flipV="1">
                <a:off x="6240240" y="4403520"/>
                <a:ext cx="1036440" cy="1136520"/>
              </a:xfrm>
              <a:prstGeom prst="line">
                <a:avLst/>
              </a:prstGeom>
              <a:ln w="76320">
                <a:solidFill>
                  <a:srgbClr val="80808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85" name="Line 126"/>
              <p:cNvSpPr/>
              <p:nvPr/>
            </p:nvSpPr>
            <p:spPr>
              <a:xfrm flipV="1">
                <a:off x="5568840" y="4398840"/>
                <a:ext cx="414000" cy="408240"/>
              </a:xfrm>
              <a:prstGeom prst="line">
                <a:avLst/>
              </a:prstGeom>
              <a:ln w="19080">
                <a:solidFill>
                  <a:srgbClr val="80808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86" name="Line 127"/>
              <p:cNvSpPr/>
              <p:nvPr/>
            </p:nvSpPr>
            <p:spPr>
              <a:xfrm>
                <a:off x="5565600" y="5154840"/>
                <a:ext cx="407880" cy="414000"/>
              </a:xfrm>
              <a:prstGeom prst="line">
                <a:avLst/>
              </a:prstGeom>
              <a:ln w="76320">
                <a:solidFill>
                  <a:srgbClr val="80808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7" name="Group 128"/>
              <p:cNvGrpSpPr/>
              <p:nvPr/>
            </p:nvGrpSpPr>
            <p:grpSpPr>
              <a:xfrm>
                <a:off x="4951440" y="3719520"/>
                <a:ext cx="2757600" cy="2529720"/>
                <a:chOff x="4951440" y="3719520"/>
                <a:chExt cx="2757600" cy="2529720"/>
              </a:xfrm>
            </p:grpSpPr>
            <p:sp>
              <p:nvSpPr>
                <p:cNvPr id="488" name="CustomShape 129"/>
                <p:cNvSpPr/>
                <p:nvPr/>
              </p:nvSpPr>
              <p:spPr>
                <a:xfrm>
                  <a:off x="5230800" y="4784760"/>
                  <a:ext cx="421200" cy="42012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0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489" name="CustomShape 130"/>
                <p:cNvSpPr/>
                <p:nvPr/>
              </p:nvSpPr>
              <p:spPr>
                <a:xfrm>
                  <a:off x="5911560" y="4046760"/>
                  <a:ext cx="421200" cy="41976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6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490" name="CustomShape 131"/>
                <p:cNvSpPr/>
                <p:nvPr/>
              </p:nvSpPr>
              <p:spPr>
                <a:xfrm>
                  <a:off x="7232400" y="4046760"/>
                  <a:ext cx="421200" cy="41976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Symbol"/>
                      <a:ea typeface="Symbol"/>
                    </a:rPr>
                    <a:t>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491" name="CustomShape 132"/>
                <p:cNvSpPr/>
                <p:nvPr/>
              </p:nvSpPr>
              <p:spPr>
                <a:xfrm>
                  <a:off x="5911560" y="5524560"/>
                  <a:ext cx="421200" cy="42012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7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492" name="CustomShape 133"/>
                <p:cNvSpPr/>
                <p:nvPr/>
              </p:nvSpPr>
              <p:spPr>
                <a:xfrm>
                  <a:off x="7232400" y="5524560"/>
                  <a:ext cx="421200" cy="42012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Symbol"/>
                      <a:ea typeface="Symbol"/>
                    </a:rPr>
                    <a:t>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493" name="Line 134"/>
                <p:cNvSpPr/>
                <p:nvPr/>
              </p:nvSpPr>
              <p:spPr>
                <a:xfrm flipV="1">
                  <a:off x="5559120" y="4406760"/>
                  <a:ext cx="414000" cy="41436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Line 135"/>
                <p:cNvSpPr/>
                <p:nvPr/>
              </p:nvSpPr>
              <p:spPr>
                <a:xfrm>
                  <a:off x="5560920" y="5150160"/>
                  <a:ext cx="406080" cy="42840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CustomShape 136"/>
                <p:cNvSpPr/>
                <p:nvPr/>
              </p:nvSpPr>
              <p:spPr>
                <a:xfrm>
                  <a:off x="5527440" y="435456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6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496" name="CustomShape 137"/>
                <p:cNvSpPr/>
                <p:nvPr/>
              </p:nvSpPr>
              <p:spPr>
                <a:xfrm>
                  <a:off x="6616440" y="382932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5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497" name="CustomShape 138"/>
                <p:cNvSpPr/>
                <p:nvPr/>
              </p:nvSpPr>
              <p:spPr>
                <a:xfrm>
                  <a:off x="5544720" y="525636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7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498" name="CustomShape 139"/>
                <p:cNvSpPr/>
                <p:nvPr/>
              </p:nvSpPr>
              <p:spPr>
                <a:xfrm>
                  <a:off x="7416360" y="472608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7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499" name="CustomShape 140"/>
                <p:cNvSpPr/>
                <p:nvPr/>
              </p:nvSpPr>
              <p:spPr>
                <a:xfrm>
                  <a:off x="6648120" y="570096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9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500" name="CustomShape 141"/>
                <p:cNvSpPr/>
                <p:nvPr/>
              </p:nvSpPr>
              <p:spPr>
                <a:xfrm>
                  <a:off x="4951440" y="480384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s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501" name="CustomShape 142"/>
                <p:cNvSpPr/>
                <p:nvPr/>
              </p:nvSpPr>
              <p:spPr>
                <a:xfrm>
                  <a:off x="6000120" y="3719520"/>
                  <a:ext cx="2440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t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502" name="CustomShape 143"/>
                <p:cNvSpPr/>
                <p:nvPr/>
              </p:nvSpPr>
              <p:spPr>
                <a:xfrm>
                  <a:off x="7305480" y="371952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x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503" name="CustomShape 144"/>
                <p:cNvSpPr/>
                <p:nvPr/>
              </p:nvSpPr>
              <p:spPr>
                <a:xfrm>
                  <a:off x="5974920" y="588168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y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504" name="CustomShape 145"/>
                <p:cNvSpPr/>
                <p:nvPr/>
              </p:nvSpPr>
              <p:spPr>
                <a:xfrm>
                  <a:off x="7330680" y="588168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z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505" name="Line 146"/>
                <p:cNvSpPr/>
                <p:nvPr/>
              </p:nvSpPr>
              <p:spPr>
                <a:xfrm>
                  <a:off x="6340320" y="5748480"/>
                  <a:ext cx="907560" cy="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Line 147"/>
                <p:cNvSpPr/>
                <p:nvPr/>
              </p:nvSpPr>
              <p:spPr>
                <a:xfrm flipV="1">
                  <a:off x="6230880" y="4392360"/>
                  <a:ext cx="1063080" cy="115092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Line 148"/>
                <p:cNvSpPr/>
                <p:nvPr/>
              </p:nvSpPr>
              <p:spPr>
                <a:xfrm flipH="1" flipV="1">
                  <a:off x="5630400" y="5072040"/>
                  <a:ext cx="1636200" cy="57816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CustomShape 149"/>
                <p:cNvSpPr/>
                <p:nvPr/>
              </p:nvSpPr>
              <p:spPr>
                <a:xfrm>
                  <a:off x="5849640" y="466884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8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509" name="CustomShape 150"/>
                <p:cNvSpPr/>
                <p:nvPr/>
              </p:nvSpPr>
              <p:spPr>
                <a:xfrm>
                  <a:off x="6240240" y="4700880"/>
                  <a:ext cx="183240" cy="335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CustomShape 151"/>
                <p:cNvSpPr/>
                <p:nvPr/>
              </p:nvSpPr>
              <p:spPr>
                <a:xfrm>
                  <a:off x="6983640" y="4488120"/>
                  <a:ext cx="36000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-3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511" name="CustomShape 152"/>
                <p:cNvSpPr/>
                <p:nvPr/>
              </p:nvSpPr>
              <p:spPr>
                <a:xfrm>
                  <a:off x="6710040" y="522000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2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512" name="Line 153"/>
                <p:cNvSpPr/>
                <p:nvPr/>
              </p:nvSpPr>
              <p:spPr>
                <a:xfrm>
                  <a:off x="6119640" y="4457880"/>
                  <a:ext cx="0" cy="107136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Line 154"/>
                <p:cNvSpPr/>
                <p:nvPr/>
              </p:nvSpPr>
              <p:spPr>
                <a:xfrm>
                  <a:off x="7443720" y="4453200"/>
                  <a:ext cx="0" cy="107136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head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Line 155"/>
                <p:cNvSpPr/>
                <p:nvPr/>
              </p:nvSpPr>
              <p:spPr>
                <a:xfrm>
                  <a:off x="6208560" y="4461840"/>
                  <a:ext cx="1150560" cy="106380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CustomShape 156"/>
                <p:cNvSpPr/>
                <p:nvPr/>
              </p:nvSpPr>
              <p:spPr>
                <a:xfrm>
                  <a:off x="7021800" y="4997520"/>
                  <a:ext cx="36000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-4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516" name="CustomShape 157"/>
                <p:cNvSpPr/>
                <p:nvPr/>
              </p:nvSpPr>
              <p:spPr>
                <a:xfrm>
                  <a:off x="6316560" y="4135680"/>
                  <a:ext cx="922680" cy="7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" h="50">
                      <a:moveTo>
                        <a:pt x="15" y="50"/>
                      </a:moveTo>
                      <a:cubicBezTo>
                        <a:pt x="7" y="47"/>
                        <a:pt x="0" y="45"/>
                        <a:pt x="47" y="37"/>
                      </a:cubicBezTo>
                      <a:cubicBezTo>
                        <a:pt x="94" y="29"/>
                        <a:pt x="210" y="0"/>
                        <a:pt x="299" y="1"/>
                      </a:cubicBezTo>
                      <a:cubicBezTo>
                        <a:pt x="388" y="2"/>
                        <a:pt x="536" y="34"/>
                        <a:pt x="582" y="41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CustomShape 158"/>
                <p:cNvSpPr/>
                <p:nvPr/>
              </p:nvSpPr>
              <p:spPr>
                <a:xfrm flipH="1" flipV="1">
                  <a:off x="6330960" y="4329360"/>
                  <a:ext cx="922680" cy="78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" h="50">
                      <a:moveTo>
                        <a:pt x="15" y="50"/>
                      </a:moveTo>
                      <a:cubicBezTo>
                        <a:pt x="7" y="47"/>
                        <a:pt x="0" y="45"/>
                        <a:pt x="47" y="37"/>
                      </a:cubicBezTo>
                      <a:cubicBezTo>
                        <a:pt x="94" y="29"/>
                        <a:pt x="210" y="0"/>
                        <a:pt x="299" y="1"/>
                      </a:cubicBezTo>
                      <a:cubicBezTo>
                        <a:pt x="388" y="2"/>
                        <a:pt x="536" y="34"/>
                        <a:pt x="582" y="41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CustomShape 159"/>
                <p:cNvSpPr/>
                <p:nvPr/>
              </p:nvSpPr>
              <p:spPr>
                <a:xfrm>
                  <a:off x="6546960" y="4335480"/>
                  <a:ext cx="36000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-2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</p:grpSp>
          <p:sp>
            <p:nvSpPr>
              <p:cNvPr id="519" name="CustomShape 160"/>
              <p:cNvSpPr/>
              <p:nvPr/>
            </p:nvSpPr>
            <p:spPr>
              <a:xfrm>
                <a:off x="7269120" y="4089600"/>
                <a:ext cx="362520" cy="33552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11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20" name="CustomShape 161"/>
              <p:cNvSpPr/>
              <p:nvPr/>
            </p:nvSpPr>
            <p:spPr>
              <a:xfrm>
                <a:off x="7269120" y="5560920"/>
                <a:ext cx="362520" cy="335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21" name="CustomShape 162"/>
              <p:cNvSpPr/>
              <p:nvPr/>
            </p:nvSpPr>
            <p:spPr>
              <a:xfrm>
                <a:off x="7264440" y="4084560"/>
                <a:ext cx="362160" cy="335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4</a:t>
                </a:r>
                <a:endParaRPr lang="en-US" sz="1800" b="0" strike="noStrike" spc="-1">
                  <a:latin typeface="Arial"/>
                </a:endParaRPr>
              </a:p>
            </p:txBody>
          </p:sp>
        </p:grpSp>
        <p:sp>
          <p:nvSpPr>
            <p:cNvPr id="522" name="CustomShape 163"/>
            <p:cNvSpPr/>
            <p:nvPr/>
          </p:nvSpPr>
          <p:spPr>
            <a:xfrm>
              <a:off x="5937120" y="4081320"/>
              <a:ext cx="36216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523" name="CustomShape 164"/>
          <p:cNvSpPr/>
          <p:nvPr/>
        </p:nvSpPr>
        <p:spPr>
          <a:xfrm>
            <a:off x="7269120" y="557208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-2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24" name="CustomShape 165"/>
          <p:cNvSpPr/>
          <p:nvPr/>
        </p:nvSpPr>
        <p:spPr>
          <a:xfrm>
            <a:off x="414720" y="1379520"/>
            <a:ext cx="87804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Pass 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25" name="CustomShape 166"/>
          <p:cNvSpPr/>
          <p:nvPr/>
        </p:nvSpPr>
        <p:spPr>
          <a:xfrm>
            <a:off x="4815000" y="1427040"/>
            <a:ext cx="87804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Pass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26" name="CustomShape 167"/>
          <p:cNvSpPr/>
          <p:nvPr/>
        </p:nvSpPr>
        <p:spPr>
          <a:xfrm>
            <a:off x="405000" y="3760920"/>
            <a:ext cx="87804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Pass 3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27" name="CustomShape 168"/>
          <p:cNvSpPr/>
          <p:nvPr/>
        </p:nvSpPr>
        <p:spPr>
          <a:xfrm>
            <a:off x="4691160" y="3798720"/>
            <a:ext cx="87804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Pass 4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Effect">
                      <p:stCondLst>
                        <p:cond delay="indefinite"/>
                      </p:stCondLst>
                      <p:childTnLst>
                        <p:par>
                          <p:cTn id="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Effect">
                      <p:stCondLst>
                        <p:cond delay="indefinite"/>
                      </p:stCondLst>
                      <p:childTnLst>
                        <p:par>
                          <p:cTn id="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Effect">
                      <p:stCondLst>
                        <p:cond delay="indefinite"/>
                      </p:stCondLst>
                      <p:childTnLst>
                        <p:par>
                          <p:cTn id="4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3597ECA-0373-493A-B449-021DAB56245B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14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529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Detecting Negative Cycles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30" name="CustomShape 3"/>
          <p:cNvSpPr/>
          <p:nvPr/>
        </p:nvSpPr>
        <p:spPr>
          <a:xfrm>
            <a:off x="351000" y="1213920"/>
            <a:ext cx="8228880" cy="21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4000" lnSpcReduction="10000"/>
          </a:bodyPr>
          <a:lstStyle/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for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each edge (u, v) </a:t>
            </a: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E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     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do if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d[v] &gt; d[u] + w(u, v)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             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then return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FALSE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return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TRUE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tabLst>
                <a:tab pos="0" algn="l"/>
              </a:tabLst>
            </a:pPr>
            <a:endParaRPr lang="en-US" sz="3200" b="0" strike="noStrike" spc="-1">
              <a:latin typeface="Arial"/>
            </a:endParaRPr>
          </a:p>
        </p:txBody>
      </p:sp>
      <p:grpSp>
        <p:nvGrpSpPr>
          <p:cNvPr id="531" name="Group 4"/>
          <p:cNvGrpSpPr/>
          <p:nvPr/>
        </p:nvGrpSpPr>
        <p:grpSpPr>
          <a:xfrm>
            <a:off x="6518160" y="1490760"/>
            <a:ext cx="1740960" cy="2023560"/>
            <a:chOff x="6518160" y="1490760"/>
            <a:chExt cx="1740960" cy="2023560"/>
          </a:xfrm>
        </p:grpSpPr>
        <p:sp>
          <p:nvSpPr>
            <p:cNvPr id="532" name="CustomShape 5"/>
            <p:cNvSpPr/>
            <p:nvPr/>
          </p:nvSpPr>
          <p:spPr>
            <a:xfrm>
              <a:off x="6518160" y="183528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33" name="CustomShape 6"/>
            <p:cNvSpPr/>
            <p:nvPr/>
          </p:nvSpPr>
          <p:spPr>
            <a:xfrm>
              <a:off x="7837560" y="183528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34" name="CustomShape 7"/>
            <p:cNvSpPr/>
            <p:nvPr/>
          </p:nvSpPr>
          <p:spPr>
            <a:xfrm>
              <a:off x="7253280" y="272592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35" name="CustomShape 8"/>
            <p:cNvSpPr/>
            <p:nvPr/>
          </p:nvSpPr>
          <p:spPr>
            <a:xfrm>
              <a:off x="7360920" y="31467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c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36" name="CustomShape 9"/>
            <p:cNvSpPr/>
            <p:nvPr/>
          </p:nvSpPr>
          <p:spPr>
            <a:xfrm>
              <a:off x="6599160" y="14907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37" name="CustomShape 10"/>
            <p:cNvSpPr/>
            <p:nvPr/>
          </p:nvSpPr>
          <p:spPr>
            <a:xfrm>
              <a:off x="7907760" y="14925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b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38" name="Line 11"/>
            <p:cNvSpPr/>
            <p:nvPr/>
          </p:nvSpPr>
          <p:spPr>
            <a:xfrm>
              <a:off x="6923160" y="204156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9" name="CustomShape 12"/>
            <p:cNvSpPr/>
            <p:nvPr/>
          </p:nvSpPr>
          <p:spPr>
            <a:xfrm>
              <a:off x="7207200" y="17305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40" name="CustomShape 13"/>
            <p:cNvSpPr/>
            <p:nvPr/>
          </p:nvSpPr>
          <p:spPr>
            <a:xfrm>
              <a:off x="7851960" y="25052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41" name="CustomShape 14"/>
            <p:cNvSpPr/>
            <p:nvPr/>
          </p:nvSpPr>
          <p:spPr>
            <a:xfrm>
              <a:off x="6637680" y="25131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42" name="Line 15"/>
            <p:cNvSpPr/>
            <p:nvPr/>
          </p:nvSpPr>
          <p:spPr>
            <a:xfrm flipH="1">
              <a:off x="7599240" y="2229120"/>
              <a:ext cx="363600" cy="5364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43" name="Line 16"/>
            <p:cNvSpPr/>
            <p:nvPr/>
          </p:nvSpPr>
          <p:spPr>
            <a:xfrm flipH="1" flipV="1">
              <a:off x="6841800" y="2222640"/>
              <a:ext cx="471240" cy="549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544" name="Group 17"/>
          <p:cNvGrpSpPr/>
          <p:nvPr/>
        </p:nvGrpSpPr>
        <p:grpSpPr>
          <a:xfrm>
            <a:off x="936720" y="3776760"/>
            <a:ext cx="1740240" cy="2023560"/>
            <a:chOff x="936720" y="3776760"/>
            <a:chExt cx="1740240" cy="2023560"/>
          </a:xfrm>
        </p:grpSpPr>
        <p:sp>
          <p:nvSpPr>
            <p:cNvPr id="545" name="CustomShape 18"/>
            <p:cNvSpPr/>
            <p:nvPr/>
          </p:nvSpPr>
          <p:spPr>
            <a:xfrm>
              <a:off x="936720" y="41212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46" name="CustomShape 19"/>
            <p:cNvSpPr/>
            <p:nvPr/>
          </p:nvSpPr>
          <p:spPr>
            <a:xfrm>
              <a:off x="2255760" y="41212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47" name="CustomShape 20"/>
            <p:cNvSpPr/>
            <p:nvPr/>
          </p:nvSpPr>
          <p:spPr>
            <a:xfrm>
              <a:off x="1671480" y="501192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48" name="CustomShape 21"/>
            <p:cNvSpPr/>
            <p:nvPr/>
          </p:nvSpPr>
          <p:spPr>
            <a:xfrm>
              <a:off x="1779120" y="54327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c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49" name="CustomShape 22"/>
            <p:cNvSpPr/>
            <p:nvPr/>
          </p:nvSpPr>
          <p:spPr>
            <a:xfrm>
              <a:off x="1017360" y="37767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50" name="CustomShape 23"/>
            <p:cNvSpPr/>
            <p:nvPr/>
          </p:nvSpPr>
          <p:spPr>
            <a:xfrm>
              <a:off x="2325600" y="37785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b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51" name="Line 24"/>
            <p:cNvSpPr/>
            <p:nvPr/>
          </p:nvSpPr>
          <p:spPr>
            <a:xfrm>
              <a:off x="1341360" y="4327560"/>
              <a:ext cx="92196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2" name="CustomShape 25"/>
            <p:cNvSpPr/>
            <p:nvPr/>
          </p:nvSpPr>
          <p:spPr>
            <a:xfrm>
              <a:off x="1625400" y="40165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53" name="CustomShape 26"/>
            <p:cNvSpPr/>
            <p:nvPr/>
          </p:nvSpPr>
          <p:spPr>
            <a:xfrm>
              <a:off x="2269800" y="47912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54" name="CustomShape 27"/>
            <p:cNvSpPr/>
            <p:nvPr/>
          </p:nvSpPr>
          <p:spPr>
            <a:xfrm>
              <a:off x="1055880" y="47991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55" name="Line 28"/>
            <p:cNvSpPr/>
            <p:nvPr/>
          </p:nvSpPr>
          <p:spPr>
            <a:xfrm flipH="1">
              <a:off x="2017080" y="4515120"/>
              <a:ext cx="363240" cy="5364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6" name="Line 29"/>
            <p:cNvSpPr/>
            <p:nvPr/>
          </p:nvSpPr>
          <p:spPr>
            <a:xfrm flipH="1" flipV="1">
              <a:off x="1260360" y="4508640"/>
              <a:ext cx="470880" cy="549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57" name="CustomShape 30"/>
          <p:cNvSpPr/>
          <p:nvPr/>
        </p:nvSpPr>
        <p:spPr>
          <a:xfrm>
            <a:off x="2287440" y="417204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58" name="CustomShape 31"/>
          <p:cNvSpPr/>
          <p:nvPr/>
        </p:nvSpPr>
        <p:spPr>
          <a:xfrm>
            <a:off x="1706400" y="506736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59" name="CustomShape 32"/>
          <p:cNvSpPr/>
          <p:nvPr/>
        </p:nvSpPr>
        <p:spPr>
          <a:xfrm>
            <a:off x="982800" y="4172040"/>
            <a:ext cx="36252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-3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560" name="Group 33"/>
          <p:cNvGrpSpPr/>
          <p:nvPr/>
        </p:nvGrpSpPr>
        <p:grpSpPr>
          <a:xfrm>
            <a:off x="3184560" y="3776760"/>
            <a:ext cx="1740240" cy="2023560"/>
            <a:chOff x="3184560" y="3776760"/>
            <a:chExt cx="1740240" cy="2023560"/>
          </a:xfrm>
        </p:grpSpPr>
        <p:sp>
          <p:nvSpPr>
            <p:cNvPr id="561" name="CustomShape 34"/>
            <p:cNvSpPr/>
            <p:nvPr/>
          </p:nvSpPr>
          <p:spPr>
            <a:xfrm>
              <a:off x="3184560" y="41212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62" name="CustomShape 35"/>
            <p:cNvSpPr/>
            <p:nvPr/>
          </p:nvSpPr>
          <p:spPr>
            <a:xfrm>
              <a:off x="4503600" y="41212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63" name="CustomShape 36"/>
            <p:cNvSpPr/>
            <p:nvPr/>
          </p:nvSpPr>
          <p:spPr>
            <a:xfrm>
              <a:off x="3919320" y="501192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64" name="CustomShape 37"/>
            <p:cNvSpPr/>
            <p:nvPr/>
          </p:nvSpPr>
          <p:spPr>
            <a:xfrm>
              <a:off x="4026960" y="54327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c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65" name="CustomShape 38"/>
            <p:cNvSpPr/>
            <p:nvPr/>
          </p:nvSpPr>
          <p:spPr>
            <a:xfrm>
              <a:off x="3265200" y="37767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66" name="CustomShape 39"/>
            <p:cNvSpPr/>
            <p:nvPr/>
          </p:nvSpPr>
          <p:spPr>
            <a:xfrm>
              <a:off x="4573440" y="37785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b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67" name="Line 40"/>
            <p:cNvSpPr/>
            <p:nvPr/>
          </p:nvSpPr>
          <p:spPr>
            <a:xfrm>
              <a:off x="3588840" y="4327560"/>
              <a:ext cx="92196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8" name="CustomShape 41"/>
            <p:cNvSpPr/>
            <p:nvPr/>
          </p:nvSpPr>
          <p:spPr>
            <a:xfrm>
              <a:off x="3873240" y="40165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69" name="CustomShape 42"/>
            <p:cNvSpPr/>
            <p:nvPr/>
          </p:nvSpPr>
          <p:spPr>
            <a:xfrm>
              <a:off x="4517640" y="47912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70" name="CustomShape 43"/>
            <p:cNvSpPr/>
            <p:nvPr/>
          </p:nvSpPr>
          <p:spPr>
            <a:xfrm>
              <a:off x="3303720" y="47991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71" name="Line 44"/>
            <p:cNvSpPr/>
            <p:nvPr/>
          </p:nvSpPr>
          <p:spPr>
            <a:xfrm flipH="1">
              <a:off x="4264920" y="4515120"/>
              <a:ext cx="363240" cy="5364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2" name="Line 45"/>
            <p:cNvSpPr/>
            <p:nvPr/>
          </p:nvSpPr>
          <p:spPr>
            <a:xfrm flipH="1" flipV="1">
              <a:off x="3508200" y="4508640"/>
              <a:ext cx="470880" cy="549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73" name="CustomShape 46"/>
          <p:cNvSpPr/>
          <p:nvPr/>
        </p:nvSpPr>
        <p:spPr>
          <a:xfrm>
            <a:off x="4545000" y="415296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-1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74" name="CustomShape 47"/>
          <p:cNvSpPr/>
          <p:nvPr/>
        </p:nvSpPr>
        <p:spPr>
          <a:xfrm>
            <a:off x="3954600" y="5057640"/>
            <a:ext cx="36252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75" name="CustomShape 48"/>
          <p:cNvSpPr/>
          <p:nvPr/>
        </p:nvSpPr>
        <p:spPr>
          <a:xfrm>
            <a:off x="3220920" y="415296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-6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576" name="CustomShape 49"/>
          <p:cNvSpPr/>
          <p:nvPr/>
        </p:nvSpPr>
        <p:spPr>
          <a:xfrm>
            <a:off x="5356080" y="3760920"/>
            <a:ext cx="3539520" cy="2287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Look at edge (s, b):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d[b] = -1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d[s] + w(s, b) = -4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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d[b] &gt; d[s] + w(s, b)</a:t>
            </a:r>
            <a:r>
              <a:rPr lang="en-US" sz="24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Effect">
                      <p:stCondLst>
                        <p:cond delay="indefinite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Effect">
                      <p:stCondLst>
                        <p:cond delay="indefinite"/>
                      </p:stCondLst>
                      <p:childTnLst>
                        <p:par>
                          <p:cTn id="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Effect">
                      <p:stCondLst>
                        <p:cond delay="indefinite"/>
                      </p:stCondLst>
                      <p:childTnLst>
                        <p:par>
                          <p:cTn id="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Effect">
                      <p:stCondLst>
                        <p:cond delay="indefinite"/>
                      </p:stCondLst>
                      <p:childTnLst>
                        <p:par>
                          <p:cTn id="4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97CF05-710E-4C0F-8BF6-8795A9D25D8D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15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578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BELLMAN-FORD(</a:t>
            </a:r>
            <a:r>
              <a:rPr lang="en-US" sz="44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V, E, w, s</a:t>
            </a: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79" name="CustomShape 3"/>
          <p:cNvSpPr/>
          <p:nvPr/>
        </p:nvSpPr>
        <p:spPr>
          <a:xfrm>
            <a:off x="351000" y="1213920"/>
            <a:ext cx="6564960" cy="5333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0000" lnSpcReduction="10000"/>
          </a:bodyPr>
          <a:lstStyle/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 INITIALIZE-SINGLE-SOURCE(V, s)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for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i ← 1 to |V| - 1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do for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each edge (u, v) </a:t>
            </a: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E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              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  do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RELAX(u, v, w)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for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each edge (u, v) </a:t>
            </a: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E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     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do if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d[v] &gt; d[u] + w(u, v)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             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then return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FALSE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</a:t>
            </a: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Symbol"/>
              </a:rPr>
              <a:t>return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TRUE</a:t>
            </a: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tabLst>
                <a:tab pos="0" algn="l"/>
              </a:tabLst>
            </a:pPr>
            <a:endParaRPr lang="en-US" sz="3200" b="0" strike="noStrike" spc="-1">
              <a:latin typeface="Arial"/>
            </a:endParaRPr>
          </a:p>
          <a:p>
            <a:pPr marL="533160" indent="-532440">
              <a:lnSpc>
                <a:spcPct val="10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Running time: O(VE)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580" name="CustomShape 4"/>
          <p:cNvSpPr/>
          <p:nvPr/>
        </p:nvSpPr>
        <p:spPr>
          <a:xfrm>
            <a:off x="7386120" y="1292400"/>
            <a:ext cx="92160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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(V)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81" name="Line 5"/>
          <p:cNvSpPr/>
          <p:nvPr/>
        </p:nvSpPr>
        <p:spPr>
          <a:xfrm flipH="1">
            <a:off x="6965640" y="1522440"/>
            <a:ext cx="4395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2" name="CustomShape 6"/>
          <p:cNvSpPr/>
          <p:nvPr/>
        </p:nvSpPr>
        <p:spPr>
          <a:xfrm>
            <a:off x="7439760" y="1763640"/>
            <a:ext cx="82476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O(V)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83" name="Line 7"/>
          <p:cNvSpPr/>
          <p:nvPr/>
        </p:nvSpPr>
        <p:spPr>
          <a:xfrm flipH="1">
            <a:off x="6965640" y="1989000"/>
            <a:ext cx="4395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4" name="CustomShape 8"/>
          <p:cNvSpPr/>
          <p:nvPr/>
        </p:nvSpPr>
        <p:spPr>
          <a:xfrm>
            <a:off x="7420680" y="2306520"/>
            <a:ext cx="82476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O(E)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85" name="Line 9"/>
          <p:cNvSpPr/>
          <p:nvPr/>
        </p:nvSpPr>
        <p:spPr>
          <a:xfrm flipH="1">
            <a:off x="6946560" y="2532240"/>
            <a:ext cx="4395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6" name="CustomShape 10"/>
          <p:cNvSpPr/>
          <p:nvPr/>
        </p:nvSpPr>
        <p:spPr>
          <a:xfrm>
            <a:off x="7439760" y="3325680"/>
            <a:ext cx="82476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O(E)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87" name="Line 11"/>
          <p:cNvSpPr/>
          <p:nvPr/>
        </p:nvSpPr>
        <p:spPr>
          <a:xfrm flipH="1">
            <a:off x="6965640" y="3551400"/>
            <a:ext cx="4395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8" name="CustomShape 12"/>
          <p:cNvSpPr/>
          <p:nvPr/>
        </p:nvSpPr>
        <p:spPr>
          <a:xfrm>
            <a:off x="8115480" y="1841400"/>
            <a:ext cx="238680" cy="1125000"/>
          </a:xfrm>
          <a:custGeom>
            <a:avLst/>
            <a:gdLst/>
            <a:ahLst/>
            <a:cxnLst/>
            <a:rect l="l" t="t" r="r" b="b"/>
            <a:pathLst>
              <a:path w="667" h="3129">
                <a:moveTo>
                  <a:pt x="0" y="0"/>
                </a:moveTo>
                <a:cubicBezTo>
                  <a:pt x="166" y="0"/>
                  <a:pt x="333" y="130"/>
                  <a:pt x="333" y="260"/>
                </a:cubicBezTo>
                <a:lnTo>
                  <a:pt x="333" y="1303"/>
                </a:lnTo>
                <a:cubicBezTo>
                  <a:pt x="333" y="1433"/>
                  <a:pt x="499" y="1564"/>
                  <a:pt x="666" y="1564"/>
                </a:cubicBezTo>
                <a:cubicBezTo>
                  <a:pt x="499" y="1564"/>
                  <a:pt x="333" y="1694"/>
                  <a:pt x="333" y="1824"/>
                </a:cubicBezTo>
                <a:lnTo>
                  <a:pt x="333" y="2867"/>
                </a:lnTo>
                <a:cubicBezTo>
                  <a:pt x="333" y="2997"/>
                  <a:pt x="166" y="3128"/>
                  <a:pt x="0" y="3128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9" name="CustomShape 13"/>
          <p:cNvSpPr/>
          <p:nvPr/>
        </p:nvSpPr>
        <p:spPr>
          <a:xfrm>
            <a:off x="8317080" y="2241720"/>
            <a:ext cx="726120" cy="306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DejaVu Sans"/>
              </a:rPr>
              <a:t>O(VE)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Effect">
                      <p:stCondLst>
                        <p:cond delay="indefinite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Effect">
                      <p:stCondLst>
                        <p:cond delay="indefinite"/>
                      </p:stCondLst>
                      <p:childTnLst>
                        <p:par>
                          <p:cTn id="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Effect">
                      <p:stCondLst>
                        <p:cond delay="indefinite"/>
                      </p:stCondLst>
                      <p:childTnLst>
                        <p:par>
                          <p:cTn id="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Effect">
                      <p:stCondLst>
                        <p:cond delay="indefinite"/>
                      </p:stCondLst>
                      <p:childTnLst>
                        <p:par>
                          <p:cTn id="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4B6B56F-47D7-4F8A-8F18-1A2A78DF09BF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16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591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Shortest Path Properties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92" name="CustomShape 3"/>
          <p:cNvSpPr/>
          <p:nvPr/>
        </p:nvSpPr>
        <p:spPr>
          <a:xfrm>
            <a:off x="351000" y="1213920"/>
            <a:ext cx="840024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Triangle inequality</a:t>
            </a:r>
            <a:endParaRPr lang="en-US" sz="3200" b="0" strike="noStrike" spc="-1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	For all (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u, v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) </a:t>
            </a: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E, we have: </a:t>
            </a:r>
            <a:endParaRPr lang="en-US" sz="3200" b="0" strike="noStrike" spc="-1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		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Symbol"/>
              </a:rPr>
              <a:t>δ(s, v) ≤ δ(s, u) + w(u, v)</a:t>
            </a:r>
            <a:endParaRPr lang="en-US" sz="3200" b="0" strike="noStrike" spc="-1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endParaRPr lang="en-US" sz="3200" b="0" strike="noStrike" spc="-1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endParaRPr lang="en-US" sz="3200" b="0" strike="noStrike" spc="-1">
              <a:latin typeface="Arial"/>
            </a:endParaRPr>
          </a:p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If 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Symbol"/>
              </a:rPr>
              <a:t>u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is on the shortest path to 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Symbol"/>
              </a:rPr>
              <a:t>v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we have the equality sign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593" name="Group 4"/>
          <p:cNvGrpSpPr/>
          <p:nvPr/>
        </p:nvGrpSpPr>
        <p:grpSpPr>
          <a:xfrm>
            <a:off x="6813720" y="1752480"/>
            <a:ext cx="1741680" cy="747000"/>
            <a:chOff x="6813720" y="1752480"/>
            <a:chExt cx="1741680" cy="747000"/>
          </a:xfrm>
        </p:grpSpPr>
        <p:sp>
          <p:nvSpPr>
            <p:cNvPr id="594" name="CustomShape 5"/>
            <p:cNvSpPr/>
            <p:nvPr/>
          </p:nvSpPr>
          <p:spPr>
            <a:xfrm>
              <a:off x="6813720" y="207936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95" name="CustomShape 6"/>
            <p:cNvSpPr/>
            <p:nvPr/>
          </p:nvSpPr>
          <p:spPr>
            <a:xfrm>
              <a:off x="8134200" y="207936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96" name="Line 7"/>
            <p:cNvSpPr/>
            <p:nvPr/>
          </p:nvSpPr>
          <p:spPr>
            <a:xfrm>
              <a:off x="7232040" y="2277720"/>
              <a:ext cx="92196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97" name="CustomShape 8"/>
            <p:cNvSpPr/>
            <p:nvPr/>
          </p:nvSpPr>
          <p:spPr>
            <a:xfrm>
              <a:off x="7540200" y="19620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598" name="CustomShape 9"/>
            <p:cNvSpPr/>
            <p:nvPr/>
          </p:nvSpPr>
          <p:spPr>
            <a:xfrm>
              <a:off x="6902280" y="17524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599" name="CustomShape 10"/>
            <p:cNvSpPr/>
            <p:nvPr/>
          </p:nvSpPr>
          <p:spPr>
            <a:xfrm>
              <a:off x="8206920" y="17524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600" name="Group 11"/>
          <p:cNvGrpSpPr/>
          <p:nvPr/>
        </p:nvGrpSpPr>
        <p:grpSpPr>
          <a:xfrm>
            <a:off x="6805440" y="3292560"/>
            <a:ext cx="1742400" cy="747000"/>
            <a:chOff x="6805440" y="3292560"/>
            <a:chExt cx="1742400" cy="747000"/>
          </a:xfrm>
        </p:grpSpPr>
        <p:sp>
          <p:nvSpPr>
            <p:cNvPr id="601" name="CustomShape 12"/>
            <p:cNvSpPr/>
            <p:nvPr/>
          </p:nvSpPr>
          <p:spPr>
            <a:xfrm>
              <a:off x="6805440" y="361944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02" name="CustomShape 13"/>
            <p:cNvSpPr/>
            <p:nvPr/>
          </p:nvSpPr>
          <p:spPr>
            <a:xfrm>
              <a:off x="8126280" y="361944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03" name="Line 14"/>
            <p:cNvSpPr/>
            <p:nvPr/>
          </p:nvSpPr>
          <p:spPr>
            <a:xfrm>
              <a:off x="7224480" y="381780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04" name="CustomShape 15"/>
            <p:cNvSpPr/>
            <p:nvPr/>
          </p:nvSpPr>
          <p:spPr>
            <a:xfrm>
              <a:off x="7532640" y="35020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605" name="CustomShape 16"/>
            <p:cNvSpPr/>
            <p:nvPr/>
          </p:nvSpPr>
          <p:spPr>
            <a:xfrm>
              <a:off x="6894720" y="32925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06" name="CustomShape 17"/>
            <p:cNvSpPr/>
            <p:nvPr/>
          </p:nvSpPr>
          <p:spPr>
            <a:xfrm>
              <a:off x="8199000" y="32925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607" name="Group 18"/>
          <p:cNvGrpSpPr/>
          <p:nvPr/>
        </p:nvGrpSpPr>
        <p:grpSpPr>
          <a:xfrm>
            <a:off x="6342120" y="1430280"/>
            <a:ext cx="1907280" cy="683280"/>
            <a:chOff x="6342120" y="1430280"/>
            <a:chExt cx="1907280" cy="683280"/>
          </a:xfrm>
        </p:grpSpPr>
        <p:sp>
          <p:nvSpPr>
            <p:cNvPr id="608" name="CustomShape 19"/>
            <p:cNvSpPr/>
            <p:nvPr/>
          </p:nvSpPr>
          <p:spPr>
            <a:xfrm>
              <a:off x="6342120" y="1430280"/>
              <a:ext cx="376920" cy="356400"/>
            </a:xfrm>
            <a:prstGeom prst="ellipse">
              <a:avLst/>
            </a:prstGeom>
            <a:solidFill>
              <a:srgbClr val="BBE0E3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09" name="CustomShape 20"/>
            <p:cNvSpPr/>
            <p:nvPr/>
          </p:nvSpPr>
          <p:spPr>
            <a:xfrm>
              <a:off x="6669000" y="1747800"/>
              <a:ext cx="258120" cy="365760"/>
            </a:xfrm>
            <a:custGeom>
              <a:avLst/>
              <a:gdLst/>
              <a:ahLst/>
              <a:cxnLst/>
              <a:rect l="l" t="t" r="r" b="b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0" name="CustomShape 21"/>
            <p:cNvSpPr/>
            <p:nvPr/>
          </p:nvSpPr>
          <p:spPr>
            <a:xfrm>
              <a:off x="6645240" y="1701720"/>
              <a:ext cx="1604160" cy="383400"/>
            </a:xfrm>
            <a:custGeom>
              <a:avLst/>
              <a:gdLst/>
              <a:ahLst/>
              <a:cxnLst/>
              <a:rect l="l" t="t" r="r" b="b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611" name="Group 22"/>
          <p:cNvGrpSpPr/>
          <p:nvPr/>
        </p:nvGrpSpPr>
        <p:grpSpPr>
          <a:xfrm>
            <a:off x="6323040" y="2960640"/>
            <a:ext cx="1907280" cy="683280"/>
            <a:chOff x="6323040" y="2960640"/>
            <a:chExt cx="1907280" cy="683280"/>
          </a:xfrm>
        </p:grpSpPr>
        <p:sp>
          <p:nvSpPr>
            <p:cNvPr id="612" name="CustomShape 23"/>
            <p:cNvSpPr/>
            <p:nvPr/>
          </p:nvSpPr>
          <p:spPr>
            <a:xfrm>
              <a:off x="6323040" y="2960640"/>
              <a:ext cx="376920" cy="356400"/>
            </a:xfrm>
            <a:prstGeom prst="ellipse">
              <a:avLst/>
            </a:prstGeom>
            <a:solidFill>
              <a:srgbClr val="BBE0E3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13" name="CustomShape 24"/>
            <p:cNvSpPr/>
            <p:nvPr/>
          </p:nvSpPr>
          <p:spPr>
            <a:xfrm>
              <a:off x="6649920" y="3278160"/>
              <a:ext cx="258120" cy="365760"/>
            </a:xfrm>
            <a:custGeom>
              <a:avLst/>
              <a:gdLst/>
              <a:ahLst/>
              <a:cxnLst/>
              <a:rect l="l" t="t" r="r" b="b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4" name="CustomShape 25"/>
            <p:cNvSpPr/>
            <p:nvPr/>
          </p:nvSpPr>
          <p:spPr>
            <a:xfrm>
              <a:off x="6626160" y="3232080"/>
              <a:ext cx="1604160" cy="383400"/>
            </a:xfrm>
            <a:custGeom>
              <a:avLst/>
              <a:gdLst/>
              <a:ahLst/>
              <a:cxnLst/>
              <a:rect l="l" t="t" r="r" b="b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5CFE4CA-E4AA-4D59-93F7-C46D52A9F857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17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616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Shortest Path Properties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617" name="CustomShape 3"/>
          <p:cNvSpPr/>
          <p:nvPr/>
        </p:nvSpPr>
        <p:spPr>
          <a:xfrm>
            <a:off x="351000" y="1014120"/>
            <a:ext cx="8533440" cy="559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Upper-bound property</a:t>
            </a:r>
            <a:endParaRPr lang="en-US" sz="3200" b="0" strike="noStrike" spc="-1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	We always have d[v] ≥ δ(s, v) for all v.</a:t>
            </a:r>
            <a:endParaRPr lang="en-US" sz="3200" b="0" strike="noStrike" spc="-1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	Once d[v] = δ(s, v), it never changes.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2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The estimate never goes up – relaxation only lowers the estimate</a:t>
            </a:r>
            <a:endParaRPr lang="en-US" sz="2800" b="0" strike="noStrike" spc="-1">
              <a:latin typeface="Arial"/>
            </a:endParaRPr>
          </a:p>
        </p:txBody>
      </p:sp>
      <p:grpSp>
        <p:nvGrpSpPr>
          <p:cNvPr id="618" name="Group 4"/>
          <p:cNvGrpSpPr/>
          <p:nvPr/>
        </p:nvGrpSpPr>
        <p:grpSpPr>
          <a:xfrm>
            <a:off x="663480" y="3778200"/>
            <a:ext cx="2758320" cy="2529360"/>
            <a:chOff x="663480" y="3778200"/>
            <a:chExt cx="2758320" cy="2529360"/>
          </a:xfrm>
        </p:grpSpPr>
        <p:sp>
          <p:nvSpPr>
            <p:cNvPr id="619" name="Line 5"/>
            <p:cNvSpPr/>
            <p:nvPr/>
          </p:nvSpPr>
          <p:spPr>
            <a:xfrm>
              <a:off x="1913040" y="4514040"/>
              <a:ext cx="1173240" cy="107316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0" name="Line 6"/>
            <p:cNvSpPr/>
            <p:nvPr/>
          </p:nvSpPr>
          <p:spPr>
            <a:xfrm flipV="1">
              <a:off x="1952640" y="4462200"/>
              <a:ext cx="1036800" cy="113688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1" name="Line 7"/>
            <p:cNvSpPr/>
            <p:nvPr/>
          </p:nvSpPr>
          <p:spPr>
            <a:xfrm flipV="1">
              <a:off x="1281240" y="4457160"/>
              <a:ext cx="414360" cy="40788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2" name="Line 8"/>
            <p:cNvSpPr/>
            <p:nvPr/>
          </p:nvSpPr>
          <p:spPr>
            <a:xfrm>
              <a:off x="1278000" y="5212440"/>
              <a:ext cx="407880" cy="41436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623" name="Group 9"/>
            <p:cNvGrpSpPr/>
            <p:nvPr/>
          </p:nvGrpSpPr>
          <p:grpSpPr>
            <a:xfrm>
              <a:off x="663480" y="3778200"/>
              <a:ext cx="2758320" cy="2529360"/>
              <a:chOff x="663480" y="3778200"/>
              <a:chExt cx="2758320" cy="2529360"/>
            </a:xfrm>
          </p:grpSpPr>
          <p:sp>
            <p:nvSpPr>
              <p:cNvPr id="624" name="CustomShape 10"/>
              <p:cNvSpPr/>
              <p:nvPr/>
            </p:nvSpPr>
            <p:spPr>
              <a:xfrm>
                <a:off x="943200" y="4843080"/>
                <a:ext cx="42156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0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25" name="CustomShape 11"/>
              <p:cNvSpPr/>
              <p:nvPr/>
            </p:nvSpPr>
            <p:spPr>
              <a:xfrm>
                <a:off x="1623960" y="4105080"/>
                <a:ext cx="421560" cy="41940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26" name="CustomShape 12"/>
              <p:cNvSpPr/>
              <p:nvPr/>
            </p:nvSpPr>
            <p:spPr>
              <a:xfrm>
                <a:off x="2944800" y="4105080"/>
                <a:ext cx="421560" cy="41940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Symbol"/>
                    <a:ea typeface="Symbol"/>
                  </a:rPr>
                  <a:t>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27" name="CustomShape 13"/>
              <p:cNvSpPr/>
              <p:nvPr/>
            </p:nvSpPr>
            <p:spPr>
              <a:xfrm>
                <a:off x="1623960" y="5582880"/>
                <a:ext cx="42156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28" name="CustomShape 14"/>
              <p:cNvSpPr/>
              <p:nvPr/>
            </p:nvSpPr>
            <p:spPr>
              <a:xfrm>
                <a:off x="2944800" y="5582880"/>
                <a:ext cx="42156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Symbol"/>
                    <a:ea typeface="Symbol"/>
                  </a:rPr>
                  <a:t>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29" name="Line 15"/>
              <p:cNvSpPr/>
              <p:nvPr/>
            </p:nvSpPr>
            <p:spPr>
              <a:xfrm flipV="1">
                <a:off x="1271520" y="4465080"/>
                <a:ext cx="414360" cy="4140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Line 16"/>
              <p:cNvSpPr/>
              <p:nvPr/>
            </p:nvSpPr>
            <p:spPr>
              <a:xfrm>
                <a:off x="1273320" y="5208120"/>
                <a:ext cx="406440" cy="42804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31" name="CustomShape 17"/>
              <p:cNvSpPr/>
              <p:nvPr/>
            </p:nvSpPr>
            <p:spPr>
              <a:xfrm>
                <a:off x="1239840" y="441288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32" name="CustomShape 18"/>
              <p:cNvSpPr/>
              <p:nvPr/>
            </p:nvSpPr>
            <p:spPr>
              <a:xfrm>
                <a:off x="2329200" y="388764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33" name="CustomShape 19"/>
              <p:cNvSpPr/>
              <p:nvPr/>
            </p:nvSpPr>
            <p:spPr>
              <a:xfrm>
                <a:off x="1257480" y="531468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34" name="CustomShape 20"/>
              <p:cNvSpPr/>
              <p:nvPr/>
            </p:nvSpPr>
            <p:spPr>
              <a:xfrm>
                <a:off x="3129120" y="478440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35" name="CustomShape 21"/>
              <p:cNvSpPr/>
              <p:nvPr/>
            </p:nvSpPr>
            <p:spPr>
              <a:xfrm>
                <a:off x="2360880" y="575928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36" name="CustomShape 22"/>
              <p:cNvSpPr/>
              <p:nvPr/>
            </p:nvSpPr>
            <p:spPr>
              <a:xfrm>
                <a:off x="663480" y="486216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37" name="CustomShape 23"/>
              <p:cNvSpPr/>
              <p:nvPr/>
            </p:nvSpPr>
            <p:spPr>
              <a:xfrm>
                <a:off x="1712880" y="377820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v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38" name="CustomShape 24"/>
              <p:cNvSpPr/>
              <p:nvPr/>
            </p:nvSpPr>
            <p:spPr>
              <a:xfrm>
                <a:off x="3017880" y="377820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x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39" name="CustomShape 25"/>
              <p:cNvSpPr/>
              <p:nvPr/>
            </p:nvSpPr>
            <p:spPr>
              <a:xfrm>
                <a:off x="1687320" y="594000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40" name="CustomShape 26"/>
              <p:cNvSpPr/>
              <p:nvPr/>
            </p:nvSpPr>
            <p:spPr>
              <a:xfrm>
                <a:off x="3043080" y="5940000"/>
                <a:ext cx="294480" cy="3675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z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41" name="Line 27"/>
              <p:cNvSpPr/>
              <p:nvPr/>
            </p:nvSpPr>
            <p:spPr>
              <a:xfrm>
                <a:off x="2052720" y="5806440"/>
                <a:ext cx="9079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Line 28"/>
              <p:cNvSpPr/>
              <p:nvPr/>
            </p:nvSpPr>
            <p:spPr>
              <a:xfrm flipV="1">
                <a:off x="1943280" y="4450680"/>
                <a:ext cx="1063440" cy="11505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43" name="Line 29"/>
              <p:cNvSpPr/>
              <p:nvPr/>
            </p:nvSpPr>
            <p:spPr>
              <a:xfrm flipH="1" flipV="1">
                <a:off x="1343160" y="5129640"/>
                <a:ext cx="1636560" cy="5778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44" name="CustomShape 30"/>
              <p:cNvSpPr/>
              <p:nvPr/>
            </p:nvSpPr>
            <p:spPr>
              <a:xfrm>
                <a:off x="1562400" y="472716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8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45" name="CustomShape 31"/>
              <p:cNvSpPr/>
              <p:nvPr/>
            </p:nvSpPr>
            <p:spPr>
              <a:xfrm>
                <a:off x="1952640" y="4759200"/>
                <a:ext cx="183600" cy="3351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CustomShape 32"/>
              <p:cNvSpPr/>
              <p:nvPr/>
            </p:nvSpPr>
            <p:spPr>
              <a:xfrm>
                <a:off x="2696400" y="4546440"/>
                <a:ext cx="36000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-3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47" name="CustomShape 33"/>
              <p:cNvSpPr/>
              <p:nvPr/>
            </p:nvSpPr>
            <p:spPr>
              <a:xfrm>
                <a:off x="2422800" y="5278320"/>
                <a:ext cx="29268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48" name="Line 34"/>
              <p:cNvSpPr/>
              <p:nvPr/>
            </p:nvSpPr>
            <p:spPr>
              <a:xfrm>
                <a:off x="1832040" y="4515840"/>
                <a:ext cx="0" cy="10710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49" name="Line 35"/>
              <p:cNvSpPr/>
              <p:nvPr/>
            </p:nvSpPr>
            <p:spPr>
              <a:xfrm>
                <a:off x="3156120" y="4511160"/>
                <a:ext cx="0" cy="10710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Line 36"/>
              <p:cNvSpPr/>
              <p:nvPr/>
            </p:nvSpPr>
            <p:spPr>
              <a:xfrm>
                <a:off x="1920960" y="4520520"/>
                <a:ext cx="1150920" cy="106344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CustomShape 37"/>
              <p:cNvSpPr/>
              <p:nvPr/>
            </p:nvSpPr>
            <p:spPr>
              <a:xfrm>
                <a:off x="2734200" y="5055840"/>
                <a:ext cx="36000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-4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652" name="CustomShape 38"/>
              <p:cNvSpPr/>
              <p:nvPr/>
            </p:nvSpPr>
            <p:spPr>
              <a:xfrm>
                <a:off x="2028960" y="4194000"/>
                <a:ext cx="923040" cy="7812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CustomShape 39"/>
              <p:cNvSpPr/>
              <p:nvPr/>
            </p:nvSpPr>
            <p:spPr>
              <a:xfrm flipH="1" flipV="1">
                <a:off x="2044080" y="4388400"/>
                <a:ext cx="9230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CustomShape 40"/>
              <p:cNvSpPr/>
              <p:nvPr/>
            </p:nvSpPr>
            <p:spPr>
              <a:xfrm>
                <a:off x="2259720" y="4393800"/>
                <a:ext cx="360000" cy="336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-2</a:t>
                </a:r>
                <a:endParaRPr lang="en-US" sz="1600" b="0" strike="noStrike" spc="-1">
                  <a:latin typeface="Arial"/>
                </a:endParaRPr>
              </a:p>
            </p:txBody>
          </p:sp>
        </p:grpSp>
        <p:sp>
          <p:nvSpPr>
            <p:cNvPr id="655" name="CustomShape 41"/>
            <p:cNvSpPr/>
            <p:nvPr/>
          </p:nvSpPr>
          <p:spPr>
            <a:xfrm>
              <a:off x="2981520" y="4147920"/>
              <a:ext cx="36252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56" name="CustomShape 42"/>
            <p:cNvSpPr/>
            <p:nvPr/>
          </p:nvSpPr>
          <p:spPr>
            <a:xfrm>
              <a:off x="2981520" y="5619600"/>
              <a:ext cx="36252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657" name="CustomShape 43"/>
            <p:cNvSpPr/>
            <p:nvPr/>
          </p:nvSpPr>
          <p:spPr>
            <a:xfrm>
              <a:off x="2976480" y="4143240"/>
              <a:ext cx="36288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658" name="Group 44"/>
          <p:cNvGrpSpPr/>
          <p:nvPr/>
        </p:nvGrpSpPr>
        <p:grpSpPr>
          <a:xfrm>
            <a:off x="5472000" y="3778200"/>
            <a:ext cx="2758320" cy="2529720"/>
            <a:chOff x="5472000" y="3778200"/>
            <a:chExt cx="2758320" cy="2529720"/>
          </a:xfrm>
        </p:grpSpPr>
        <p:sp>
          <p:nvSpPr>
            <p:cNvPr id="659" name="CustomShape 45"/>
            <p:cNvSpPr/>
            <p:nvPr/>
          </p:nvSpPr>
          <p:spPr>
            <a:xfrm flipH="1" flipV="1">
              <a:off x="6844680" y="4384800"/>
              <a:ext cx="9230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7632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660" name="Group 46"/>
            <p:cNvGrpSpPr/>
            <p:nvPr/>
          </p:nvGrpSpPr>
          <p:grpSpPr>
            <a:xfrm>
              <a:off x="5472000" y="3778200"/>
              <a:ext cx="2758320" cy="2529720"/>
              <a:chOff x="5472000" y="3778200"/>
              <a:chExt cx="2758320" cy="2529720"/>
            </a:xfrm>
          </p:grpSpPr>
          <p:sp>
            <p:nvSpPr>
              <p:cNvPr id="661" name="Line 47"/>
              <p:cNvSpPr/>
              <p:nvPr/>
            </p:nvSpPr>
            <p:spPr>
              <a:xfrm>
                <a:off x="6721560" y="4514040"/>
                <a:ext cx="1173240" cy="1073160"/>
              </a:xfrm>
              <a:prstGeom prst="line">
                <a:avLst/>
              </a:prstGeom>
              <a:ln w="76320">
                <a:solidFill>
                  <a:srgbClr val="80808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62" name="Line 48"/>
              <p:cNvSpPr/>
              <p:nvPr/>
            </p:nvSpPr>
            <p:spPr>
              <a:xfrm flipV="1">
                <a:off x="6761160" y="4462200"/>
                <a:ext cx="1036800" cy="1136520"/>
              </a:xfrm>
              <a:prstGeom prst="line">
                <a:avLst/>
              </a:prstGeom>
              <a:ln w="76320">
                <a:solidFill>
                  <a:srgbClr val="80808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Line 49"/>
              <p:cNvSpPr/>
              <p:nvPr/>
            </p:nvSpPr>
            <p:spPr>
              <a:xfrm flipV="1">
                <a:off x="6089760" y="4457520"/>
                <a:ext cx="414360" cy="408240"/>
              </a:xfrm>
              <a:prstGeom prst="line">
                <a:avLst/>
              </a:prstGeom>
              <a:ln w="19080">
                <a:solidFill>
                  <a:srgbClr val="80808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Line 50"/>
              <p:cNvSpPr/>
              <p:nvPr/>
            </p:nvSpPr>
            <p:spPr>
              <a:xfrm>
                <a:off x="6086520" y="5213520"/>
                <a:ext cx="408240" cy="414000"/>
              </a:xfrm>
              <a:prstGeom prst="line">
                <a:avLst/>
              </a:prstGeom>
              <a:ln w="76320">
                <a:solidFill>
                  <a:srgbClr val="80808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65" name="Group 51"/>
              <p:cNvGrpSpPr/>
              <p:nvPr/>
            </p:nvGrpSpPr>
            <p:grpSpPr>
              <a:xfrm>
                <a:off x="5472000" y="3778200"/>
                <a:ext cx="2758320" cy="2529720"/>
                <a:chOff x="5472000" y="3778200"/>
                <a:chExt cx="2758320" cy="2529720"/>
              </a:xfrm>
            </p:grpSpPr>
            <p:sp>
              <p:nvSpPr>
                <p:cNvPr id="666" name="CustomShape 52"/>
                <p:cNvSpPr/>
                <p:nvPr/>
              </p:nvSpPr>
              <p:spPr>
                <a:xfrm>
                  <a:off x="5751720" y="4843440"/>
                  <a:ext cx="421560" cy="42012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0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67" name="CustomShape 53"/>
                <p:cNvSpPr/>
                <p:nvPr/>
              </p:nvSpPr>
              <p:spPr>
                <a:xfrm>
                  <a:off x="6432480" y="4105440"/>
                  <a:ext cx="421560" cy="41976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6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68" name="CustomShape 54"/>
                <p:cNvSpPr/>
                <p:nvPr/>
              </p:nvSpPr>
              <p:spPr>
                <a:xfrm>
                  <a:off x="7753320" y="4105440"/>
                  <a:ext cx="421560" cy="41976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Symbol"/>
                      <a:ea typeface="Symbol"/>
                    </a:rPr>
                    <a:t>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69" name="CustomShape 55"/>
                <p:cNvSpPr/>
                <p:nvPr/>
              </p:nvSpPr>
              <p:spPr>
                <a:xfrm>
                  <a:off x="6432480" y="5583240"/>
                  <a:ext cx="421560" cy="42012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7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70" name="CustomShape 56"/>
                <p:cNvSpPr/>
                <p:nvPr/>
              </p:nvSpPr>
              <p:spPr>
                <a:xfrm>
                  <a:off x="7753320" y="5583240"/>
                  <a:ext cx="421560" cy="420120"/>
                </a:xfrm>
                <a:prstGeom prst="ellipse">
                  <a:avLst/>
                </a:prstGeom>
                <a:noFill/>
                <a:ln w="19080">
                  <a:solidFill>
                    <a:srgbClr val="000000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Symbol"/>
                      <a:ea typeface="Symbol"/>
                    </a:rPr>
                    <a:t>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71" name="Line 57"/>
                <p:cNvSpPr/>
                <p:nvPr/>
              </p:nvSpPr>
              <p:spPr>
                <a:xfrm flipV="1">
                  <a:off x="6080040" y="4465440"/>
                  <a:ext cx="414360" cy="41436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2" name="Line 58"/>
                <p:cNvSpPr/>
                <p:nvPr/>
              </p:nvSpPr>
              <p:spPr>
                <a:xfrm>
                  <a:off x="6081840" y="5208840"/>
                  <a:ext cx="406440" cy="42840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3" name="CustomShape 59"/>
                <p:cNvSpPr/>
                <p:nvPr/>
              </p:nvSpPr>
              <p:spPr>
                <a:xfrm>
                  <a:off x="6048360" y="441324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6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74" name="CustomShape 60"/>
                <p:cNvSpPr/>
                <p:nvPr/>
              </p:nvSpPr>
              <p:spPr>
                <a:xfrm>
                  <a:off x="7137720" y="388800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5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75" name="CustomShape 61"/>
                <p:cNvSpPr/>
                <p:nvPr/>
              </p:nvSpPr>
              <p:spPr>
                <a:xfrm>
                  <a:off x="6066000" y="531504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7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76" name="CustomShape 62"/>
                <p:cNvSpPr/>
                <p:nvPr/>
              </p:nvSpPr>
              <p:spPr>
                <a:xfrm>
                  <a:off x="7937640" y="478476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7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77" name="CustomShape 63"/>
                <p:cNvSpPr/>
                <p:nvPr/>
              </p:nvSpPr>
              <p:spPr>
                <a:xfrm>
                  <a:off x="7169400" y="575964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9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78" name="CustomShape 64"/>
                <p:cNvSpPr/>
                <p:nvPr/>
              </p:nvSpPr>
              <p:spPr>
                <a:xfrm>
                  <a:off x="5472000" y="486252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s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79" name="CustomShape 65"/>
                <p:cNvSpPr/>
                <p:nvPr/>
              </p:nvSpPr>
              <p:spPr>
                <a:xfrm>
                  <a:off x="6521400" y="377820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v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80" name="CustomShape 66"/>
                <p:cNvSpPr/>
                <p:nvPr/>
              </p:nvSpPr>
              <p:spPr>
                <a:xfrm>
                  <a:off x="7826400" y="377820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x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81" name="CustomShape 67"/>
                <p:cNvSpPr/>
                <p:nvPr/>
              </p:nvSpPr>
              <p:spPr>
                <a:xfrm>
                  <a:off x="6495840" y="594036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y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82" name="CustomShape 68"/>
                <p:cNvSpPr/>
                <p:nvPr/>
              </p:nvSpPr>
              <p:spPr>
                <a:xfrm>
                  <a:off x="7851600" y="5940360"/>
                  <a:ext cx="294480" cy="36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z</a:t>
                  </a:r>
                  <a:endParaRPr lang="en-US" sz="1800" b="0" strike="noStrike" spc="-1">
                    <a:latin typeface="Arial"/>
                  </a:endParaRPr>
                </a:p>
              </p:txBody>
            </p:sp>
            <p:sp>
              <p:nvSpPr>
                <p:cNvPr id="683" name="Line 69"/>
                <p:cNvSpPr/>
                <p:nvPr/>
              </p:nvSpPr>
              <p:spPr>
                <a:xfrm>
                  <a:off x="6861240" y="5807160"/>
                  <a:ext cx="907920" cy="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4" name="Line 70"/>
                <p:cNvSpPr/>
                <p:nvPr/>
              </p:nvSpPr>
              <p:spPr>
                <a:xfrm flipV="1">
                  <a:off x="6751800" y="4451040"/>
                  <a:ext cx="1063440" cy="115092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5" name="Line 71"/>
                <p:cNvSpPr/>
                <p:nvPr/>
              </p:nvSpPr>
              <p:spPr>
                <a:xfrm flipH="1" flipV="1">
                  <a:off x="6151680" y="5130720"/>
                  <a:ext cx="1636560" cy="57816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6" name="CustomShape 72"/>
                <p:cNvSpPr/>
                <p:nvPr/>
              </p:nvSpPr>
              <p:spPr>
                <a:xfrm>
                  <a:off x="6370920" y="472752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8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87" name="CustomShape 73"/>
                <p:cNvSpPr/>
                <p:nvPr/>
              </p:nvSpPr>
              <p:spPr>
                <a:xfrm>
                  <a:off x="6761160" y="4759560"/>
                  <a:ext cx="183600" cy="335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8" name="CustomShape 74"/>
                <p:cNvSpPr/>
                <p:nvPr/>
              </p:nvSpPr>
              <p:spPr>
                <a:xfrm>
                  <a:off x="7504920" y="4546800"/>
                  <a:ext cx="36000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-3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89" name="CustomShape 75"/>
                <p:cNvSpPr/>
                <p:nvPr/>
              </p:nvSpPr>
              <p:spPr>
                <a:xfrm>
                  <a:off x="7231320" y="5278680"/>
                  <a:ext cx="29268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2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90" name="Line 76"/>
                <p:cNvSpPr/>
                <p:nvPr/>
              </p:nvSpPr>
              <p:spPr>
                <a:xfrm>
                  <a:off x="6640560" y="4516560"/>
                  <a:ext cx="0" cy="107136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1" name="Line 77"/>
                <p:cNvSpPr/>
                <p:nvPr/>
              </p:nvSpPr>
              <p:spPr>
                <a:xfrm>
                  <a:off x="7964640" y="4511880"/>
                  <a:ext cx="0" cy="107136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head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2" name="Line 78"/>
                <p:cNvSpPr/>
                <p:nvPr/>
              </p:nvSpPr>
              <p:spPr>
                <a:xfrm>
                  <a:off x="6729480" y="4520520"/>
                  <a:ext cx="1150920" cy="1063800"/>
                </a:xfrm>
                <a:prstGeom prst="line">
                  <a:avLst/>
                </a:prstGeom>
                <a:ln w="19080">
                  <a:solidFill>
                    <a:srgbClr val="000000"/>
                  </a:solidFill>
                  <a:miter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3" name="CustomShape 79"/>
                <p:cNvSpPr/>
                <p:nvPr/>
              </p:nvSpPr>
              <p:spPr>
                <a:xfrm>
                  <a:off x="7542720" y="5056200"/>
                  <a:ext cx="36000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-4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  <p:sp>
              <p:nvSpPr>
                <p:cNvPr id="694" name="CustomShape 80"/>
                <p:cNvSpPr/>
                <p:nvPr/>
              </p:nvSpPr>
              <p:spPr>
                <a:xfrm>
                  <a:off x="6837480" y="4194360"/>
                  <a:ext cx="923040" cy="7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" h="50">
                      <a:moveTo>
                        <a:pt x="15" y="50"/>
                      </a:moveTo>
                      <a:cubicBezTo>
                        <a:pt x="7" y="47"/>
                        <a:pt x="0" y="45"/>
                        <a:pt x="47" y="37"/>
                      </a:cubicBezTo>
                      <a:cubicBezTo>
                        <a:pt x="94" y="29"/>
                        <a:pt x="210" y="0"/>
                        <a:pt x="299" y="1"/>
                      </a:cubicBezTo>
                      <a:cubicBezTo>
                        <a:pt x="388" y="2"/>
                        <a:pt x="536" y="34"/>
                        <a:pt x="582" y="41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5" name="CustomShape 81"/>
                <p:cNvSpPr/>
                <p:nvPr/>
              </p:nvSpPr>
              <p:spPr>
                <a:xfrm flipH="1" flipV="1">
                  <a:off x="6852600" y="4388040"/>
                  <a:ext cx="923040" cy="78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" h="50">
                      <a:moveTo>
                        <a:pt x="15" y="50"/>
                      </a:moveTo>
                      <a:cubicBezTo>
                        <a:pt x="7" y="47"/>
                        <a:pt x="0" y="45"/>
                        <a:pt x="47" y="37"/>
                      </a:cubicBezTo>
                      <a:cubicBezTo>
                        <a:pt x="94" y="29"/>
                        <a:pt x="210" y="0"/>
                        <a:pt x="299" y="1"/>
                      </a:cubicBezTo>
                      <a:cubicBezTo>
                        <a:pt x="388" y="2"/>
                        <a:pt x="536" y="34"/>
                        <a:pt x="582" y="41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6" name="CustomShape 82"/>
                <p:cNvSpPr/>
                <p:nvPr/>
              </p:nvSpPr>
              <p:spPr>
                <a:xfrm>
                  <a:off x="7068240" y="4394160"/>
                  <a:ext cx="360000" cy="33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lnSpc>
                      <a:spcPct val="100000"/>
                    </a:lnSpc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6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rPr>
                    <a:t>-2</a:t>
                  </a:r>
                  <a:endParaRPr lang="en-US" sz="1600" b="0" strike="noStrike" spc="-1">
                    <a:latin typeface="Arial"/>
                  </a:endParaRPr>
                </a:p>
              </p:txBody>
            </p:sp>
          </p:grpSp>
          <p:sp>
            <p:nvSpPr>
              <p:cNvPr id="697" name="CustomShape 83"/>
              <p:cNvSpPr/>
              <p:nvPr/>
            </p:nvSpPr>
            <p:spPr>
              <a:xfrm>
                <a:off x="7790040" y="4148280"/>
                <a:ext cx="362880" cy="33552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11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98" name="CustomShape 84"/>
              <p:cNvSpPr/>
              <p:nvPr/>
            </p:nvSpPr>
            <p:spPr>
              <a:xfrm>
                <a:off x="7790040" y="5619600"/>
                <a:ext cx="362880" cy="335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699" name="CustomShape 85"/>
              <p:cNvSpPr/>
              <p:nvPr/>
            </p:nvSpPr>
            <p:spPr>
              <a:xfrm>
                <a:off x="7785360" y="4143240"/>
                <a:ext cx="362520" cy="33588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4</a:t>
                </a:r>
                <a:endParaRPr lang="en-US" sz="1800" b="0" strike="noStrike" spc="-1">
                  <a:latin typeface="Arial"/>
                </a:endParaRPr>
              </a:p>
            </p:txBody>
          </p:sp>
        </p:grpSp>
        <p:sp>
          <p:nvSpPr>
            <p:cNvPr id="700" name="CustomShape 86"/>
            <p:cNvSpPr/>
            <p:nvPr/>
          </p:nvSpPr>
          <p:spPr>
            <a:xfrm>
              <a:off x="6458040" y="4140360"/>
              <a:ext cx="36288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701" name="CustomShape 87"/>
          <p:cNvSpPr/>
          <p:nvPr/>
        </p:nvSpPr>
        <p:spPr>
          <a:xfrm>
            <a:off x="3814920" y="4465800"/>
            <a:ext cx="133524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Relax (x, v)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02" name="CustomShape 88"/>
          <p:cNvSpPr/>
          <p:nvPr/>
        </p:nvSpPr>
        <p:spPr>
          <a:xfrm>
            <a:off x="3676680" y="4819680"/>
            <a:ext cx="1637640" cy="418320"/>
          </a:xfrm>
          <a:custGeom>
            <a:avLst/>
            <a:gdLst/>
            <a:ahLst/>
            <a:cxnLst/>
            <a:rect l="l" t="t" r="r" b="b"/>
            <a:pathLst>
              <a:path w="4553" h="1166">
                <a:moveTo>
                  <a:pt x="0" y="291"/>
                </a:moveTo>
                <a:lnTo>
                  <a:pt x="3414" y="291"/>
                </a:lnTo>
                <a:lnTo>
                  <a:pt x="3414" y="0"/>
                </a:lnTo>
                <a:lnTo>
                  <a:pt x="4552" y="582"/>
                </a:lnTo>
                <a:lnTo>
                  <a:pt x="3414" y="1165"/>
                </a:lnTo>
                <a:lnTo>
                  <a:pt x="3414" y="873"/>
                </a:lnTo>
                <a:lnTo>
                  <a:pt x="0" y="873"/>
                </a:lnTo>
                <a:lnTo>
                  <a:pt x="0" y="291"/>
                </a:lnTo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14BC354-B2A8-4BCB-AA06-8BD5D8453040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18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704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Shortest Path Properties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705" name="CustomShape 3"/>
          <p:cNvSpPr/>
          <p:nvPr/>
        </p:nvSpPr>
        <p:spPr>
          <a:xfrm>
            <a:off x="351000" y="1213920"/>
            <a:ext cx="853344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No-path property</a:t>
            </a:r>
            <a:endParaRPr lang="en-US" sz="3200" b="0" strike="noStrike" spc="-1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	If there is no path from 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s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 to </a:t>
            </a:r>
            <a:r>
              <a:rPr lang="en-US" sz="32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v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 then d[v] = ∞ always.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2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δ(s, h) = ∞ and d[h] ≥ δ(s, h) </a:t>
            </a:r>
            <a:r>
              <a:rPr lang="en-US" sz="2800" b="0" strike="noStrike" spc="-1">
                <a:solidFill>
                  <a:srgbClr val="000000"/>
                </a:solidFill>
                <a:latin typeface="Symbol"/>
                <a:ea typeface="Symbol"/>
              </a:rPr>
              <a:t>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Symbol"/>
              </a:rPr>
              <a:t> d[h] = ∞ </a:t>
            </a:r>
            <a:endParaRPr lang="en-US" sz="2800" b="0" strike="noStrike" spc="-1">
              <a:latin typeface="Arial"/>
            </a:endParaRPr>
          </a:p>
        </p:txBody>
      </p:sp>
      <p:grpSp>
        <p:nvGrpSpPr>
          <p:cNvPr id="706" name="Group 4"/>
          <p:cNvGrpSpPr/>
          <p:nvPr/>
        </p:nvGrpSpPr>
        <p:grpSpPr>
          <a:xfrm>
            <a:off x="621360" y="3616632"/>
            <a:ext cx="3843720" cy="2529720"/>
            <a:chOff x="720720" y="2894040"/>
            <a:chExt cx="3843720" cy="2529720"/>
          </a:xfrm>
        </p:grpSpPr>
        <p:sp>
          <p:nvSpPr>
            <p:cNvPr id="707" name="CustomShape 5"/>
            <p:cNvSpPr/>
            <p:nvPr/>
          </p:nvSpPr>
          <p:spPr>
            <a:xfrm>
              <a:off x="1000080" y="39592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08" name="CustomShape 6"/>
            <p:cNvSpPr/>
            <p:nvPr/>
          </p:nvSpPr>
          <p:spPr>
            <a:xfrm>
              <a:off x="1895400" y="322092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09" name="CustomShape 7"/>
            <p:cNvSpPr/>
            <p:nvPr/>
          </p:nvSpPr>
          <p:spPr>
            <a:xfrm>
              <a:off x="3214440" y="322092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10" name="CustomShape 8"/>
            <p:cNvSpPr/>
            <p:nvPr/>
          </p:nvSpPr>
          <p:spPr>
            <a:xfrm>
              <a:off x="1895400" y="46990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11" name="CustomShape 9"/>
            <p:cNvSpPr/>
            <p:nvPr/>
          </p:nvSpPr>
          <p:spPr>
            <a:xfrm>
              <a:off x="3214440" y="46990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12" name="Line 10"/>
            <p:cNvSpPr/>
            <p:nvPr/>
          </p:nvSpPr>
          <p:spPr>
            <a:xfrm>
              <a:off x="2314440" y="3419280"/>
              <a:ext cx="92196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3" name="Line 11"/>
            <p:cNvSpPr/>
            <p:nvPr/>
          </p:nvSpPr>
          <p:spPr>
            <a:xfrm flipV="1">
              <a:off x="1334880" y="3581640"/>
              <a:ext cx="622080" cy="40608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4" name="Line 12"/>
            <p:cNvSpPr/>
            <p:nvPr/>
          </p:nvSpPr>
          <p:spPr>
            <a:xfrm>
              <a:off x="1373040" y="4311720"/>
              <a:ext cx="577440" cy="44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5" name="CustomShape 13"/>
            <p:cNvSpPr/>
            <p:nvPr/>
          </p:nvSpPr>
          <p:spPr>
            <a:xfrm>
              <a:off x="1407960" y="35290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16" name="CustomShape 14"/>
            <p:cNvSpPr/>
            <p:nvPr/>
          </p:nvSpPr>
          <p:spPr>
            <a:xfrm>
              <a:off x="2622600" y="310356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17" name="CustomShape 15"/>
            <p:cNvSpPr/>
            <p:nvPr/>
          </p:nvSpPr>
          <p:spPr>
            <a:xfrm>
              <a:off x="1456920" y="44593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18" name="CustomShape 16"/>
            <p:cNvSpPr/>
            <p:nvPr/>
          </p:nvSpPr>
          <p:spPr>
            <a:xfrm>
              <a:off x="3722400" y="38577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19" name="CustomShape 17"/>
            <p:cNvSpPr/>
            <p:nvPr/>
          </p:nvSpPr>
          <p:spPr>
            <a:xfrm>
              <a:off x="2903760" y="499752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20" name="CustomShape 18"/>
            <p:cNvSpPr/>
            <p:nvPr/>
          </p:nvSpPr>
          <p:spPr>
            <a:xfrm>
              <a:off x="720720" y="39783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21" name="CustomShape 19"/>
            <p:cNvSpPr/>
            <p:nvPr/>
          </p:nvSpPr>
          <p:spPr>
            <a:xfrm>
              <a:off x="1984320" y="28940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a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22" name="CustomShape 20"/>
            <p:cNvSpPr/>
            <p:nvPr/>
          </p:nvSpPr>
          <p:spPr>
            <a:xfrm>
              <a:off x="3289320" y="28940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b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23" name="CustomShape 21"/>
            <p:cNvSpPr/>
            <p:nvPr/>
          </p:nvSpPr>
          <p:spPr>
            <a:xfrm>
              <a:off x="1959120" y="50562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e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24" name="CustomShape 22"/>
            <p:cNvSpPr/>
            <p:nvPr/>
          </p:nvSpPr>
          <p:spPr>
            <a:xfrm>
              <a:off x="3314160" y="505620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f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25" name="CustomShape 23"/>
            <p:cNvSpPr/>
            <p:nvPr/>
          </p:nvSpPr>
          <p:spPr>
            <a:xfrm>
              <a:off x="4143240" y="39592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</a:t>
              </a: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26" name="CustomShape 24"/>
            <p:cNvSpPr/>
            <p:nvPr/>
          </p:nvSpPr>
          <p:spPr>
            <a:xfrm>
              <a:off x="1895400" y="3962520"/>
              <a:ext cx="42120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27" name="CustomShape 25"/>
            <p:cNvSpPr/>
            <p:nvPr/>
          </p:nvSpPr>
          <p:spPr>
            <a:xfrm>
              <a:off x="3214440" y="3962520"/>
              <a:ext cx="42120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28" name="CustomShape 26"/>
            <p:cNvSpPr/>
            <p:nvPr/>
          </p:nvSpPr>
          <p:spPr>
            <a:xfrm>
              <a:off x="2824200" y="423864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29" name="CustomShape 27"/>
            <p:cNvSpPr/>
            <p:nvPr/>
          </p:nvSpPr>
          <p:spPr>
            <a:xfrm>
              <a:off x="1964880" y="43196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30" name="Line 28"/>
            <p:cNvSpPr/>
            <p:nvPr/>
          </p:nvSpPr>
          <p:spPr>
            <a:xfrm>
              <a:off x="3619440" y="3549240"/>
              <a:ext cx="577440" cy="441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1" name="Line 29"/>
            <p:cNvSpPr/>
            <p:nvPr/>
          </p:nvSpPr>
          <p:spPr>
            <a:xfrm flipV="1">
              <a:off x="3573360" y="4339800"/>
              <a:ext cx="622080" cy="4064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2" name="Line 30"/>
            <p:cNvSpPr/>
            <p:nvPr/>
          </p:nvSpPr>
          <p:spPr>
            <a:xfrm>
              <a:off x="1444320" y="4165560"/>
              <a:ext cx="4507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3" name="Line 31"/>
            <p:cNvSpPr/>
            <p:nvPr/>
          </p:nvSpPr>
          <p:spPr>
            <a:xfrm>
              <a:off x="3668400" y="4167360"/>
              <a:ext cx="4507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4" name="CustomShape 32"/>
            <p:cNvSpPr/>
            <p:nvPr/>
          </p:nvSpPr>
          <p:spPr>
            <a:xfrm>
              <a:off x="2307960" y="3986280"/>
              <a:ext cx="89928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5" name="CustomShape 33"/>
            <p:cNvSpPr/>
            <p:nvPr/>
          </p:nvSpPr>
          <p:spPr>
            <a:xfrm flipH="1" flipV="1">
              <a:off x="2308320" y="4249080"/>
              <a:ext cx="89892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6" name="CustomShape 34"/>
            <p:cNvSpPr/>
            <p:nvPr/>
          </p:nvSpPr>
          <p:spPr>
            <a:xfrm>
              <a:off x="2393640" y="44910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37" name="CustomShape 35"/>
            <p:cNvSpPr/>
            <p:nvPr/>
          </p:nvSpPr>
          <p:spPr>
            <a:xfrm>
              <a:off x="2311200" y="4730760"/>
              <a:ext cx="89892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8" name="CustomShape 36"/>
            <p:cNvSpPr/>
            <p:nvPr/>
          </p:nvSpPr>
          <p:spPr>
            <a:xfrm flipH="1" flipV="1">
              <a:off x="2311560" y="4993560"/>
              <a:ext cx="898920" cy="123120"/>
            </a:xfrm>
            <a:custGeom>
              <a:avLst/>
              <a:gdLst/>
              <a:ahLst/>
              <a:cxnLst/>
              <a:rect l="l" t="t" r="r" b="b"/>
              <a:pathLst>
                <a:path w="567" h="78">
                  <a:moveTo>
                    <a:pt x="0" y="65"/>
                  </a:moveTo>
                  <a:cubicBezTo>
                    <a:pt x="103" y="32"/>
                    <a:pt x="207" y="0"/>
                    <a:pt x="301" y="2"/>
                  </a:cubicBezTo>
                  <a:cubicBezTo>
                    <a:pt x="395" y="4"/>
                    <a:pt x="523" y="66"/>
                    <a:pt x="567" y="78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9" name="CustomShape 37"/>
            <p:cNvSpPr/>
            <p:nvPr/>
          </p:nvSpPr>
          <p:spPr>
            <a:xfrm>
              <a:off x="1509480" y="38908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40" name="CustomShape 38"/>
            <p:cNvSpPr/>
            <p:nvPr/>
          </p:nvSpPr>
          <p:spPr>
            <a:xfrm>
              <a:off x="2603160" y="36972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41" name="CustomShape 39"/>
            <p:cNvSpPr/>
            <p:nvPr/>
          </p:nvSpPr>
          <p:spPr>
            <a:xfrm>
              <a:off x="3809880" y="344664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42" name="CustomShape 40"/>
            <p:cNvSpPr/>
            <p:nvPr/>
          </p:nvSpPr>
          <p:spPr>
            <a:xfrm>
              <a:off x="3795480" y="44830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43" name="CustomShape 41"/>
            <p:cNvSpPr/>
            <p:nvPr/>
          </p:nvSpPr>
          <p:spPr>
            <a:xfrm>
              <a:off x="1944360" y="36259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c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44" name="CustomShape 42"/>
            <p:cNvSpPr/>
            <p:nvPr/>
          </p:nvSpPr>
          <p:spPr>
            <a:xfrm>
              <a:off x="3265560" y="36464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d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45" name="CustomShape 43"/>
            <p:cNvSpPr/>
            <p:nvPr/>
          </p:nvSpPr>
          <p:spPr>
            <a:xfrm>
              <a:off x="4194360" y="36324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g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746" name="Group 44"/>
          <p:cNvGrpSpPr/>
          <p:nvPr/>
        </p:nvGrpSpPr>
        <p:grpSpPr>
          <a:xfrm>
            <a:off x="4640400" y="3429000"/>
            <a:ext cx="1740240" cy="2023560"/>
            <a:chOff x="4984920" y="3033720"/>
            <a:chExt cx="1740240" cy="2023560"/>
          </a:xfrm>
        </p:grpSpPr>
        <p:sp>
          <p:nvSpPr>
            <p:cNvPr id="747" name="CustomShape 45"/>
            <p:cNvSpPr/>
            <p:nvPr/>
          </p:nvSpPr>
          <p:spPr>
            <a:xfrm>
              <a:off x="4984920" y="337824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48" name="CustomShape 46"/>
            <p:cNvSpPr/>
            <p:nvPr/>
          </p:nvSpPr>
          <p:spPr>
            <a:xfrm>
              <a:off x="6303960" y="337824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49" name="CustomShape 47"/>
            <p:cNvSpPr/>
            <p:nvPr/>
          </p:nvSpPr>
          <p:spPr>
            <a:xfrm>
              <a:off x="5719680" y="4268880"/>
              <a:ext cx="42120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50" name="CustomShape 48"/>
            <p:cNvSpPr/>
            <p:nvPr/>
          </p:nvSpPr>
          <p:spPr>
            <a:xfrm>
              <a:off x="5827680" y="4689720"/>
              <a:ext cx="23040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j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51" name="CustomShape 49"/>
            <p:cNvSpPr/>
            <p:nvPr/>
          </p:nvSpPr>
          <p:spPr>
            <a:xfrm>
              <a:off x="5065920" y="30337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h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52" name="CustomShape 50"/>
            <p:cNvSpPr/>
            <p:nvPr/>
          </p:nvSpPr>
          <p:spPr>
            <a:xfrm>
              <a:off x="6373800" y="3035520"/>
              <a:ext cx="23040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i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753" name="Line 51"/>
            <p:cNvSpPr/>
            <p:nvPr/>
          </p:nvSpPr>
          <p:spPr>
            <a:xfrm>
              <a:off x="5389560" y="3584520"/>
              <a:ext cx="92196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4" name="CustomShape 52"/>
            <p:cNvSpPr/>
            <p:nvPr/>
          </p:nvSpPr>
          <p:spPr>
            <a:xfrm>
              <a:off x="5673600" y="32734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55" name="CustomShape 53"/>
            <p:cNvSpPr/>
            <p:nvPr/>
          </p:nvSpPr>
          <p:spPr>
            <a:xfrm>
              <a:off x="6318000" y="404820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56" name="CustomShape 54"/>
            <p:cNvSpPr/>
            <p:nvPr/>
          </p:nvSpPr>
          <p:spPr>
            <a:xfrm>
              <a:off x="5104080" y="4056120"/>
              <a:ext cx="36000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-8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57" name="Line 55"/>
            <p:cNvSpPr/>
            <p:nvPr/>
          </p:nvSpPr>
          <p:spPr>
            <a:xfrm flipH="1">
              <a:off x="6065280" y="3772080"/>
              <a:ext cx="363240" cy="5364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8" name="Line 56"/>
            <p:cNvSpPr/>
            <p:nvPr/>
          </p:nvSpPr>
          <p:spPr>
            <a:xfrm flipH="1" flipV="1">
              <a:off x="5308560" y="3765600"/>
              <a:ext cx="470880" cy="549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759" name="CustomShape 57"/>
          <p:cNvSpPr/>
          <p:nvPr/>
        </p:nvSpPr>
        <p:spPr>
          <a:xfrm>
            <a:off x="4709232" y="5407992"/>
            <a:ext cx="3099600" cy="398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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(s, h) = </a:t>
            </a:r>
            <a:r>
              <a:rPr lang="en-US" sz="20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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(s,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  <a:ea typeface="DejaVu Sans"/>
              </a:rPr>
              <a:t>i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) =</a:t>
            </a:r>
            <a:r>
              <a:rPr lang="en-US" sz="2000" b="0" i="1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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(s, j) =</a:t>
            </a:r>
            <a:r>
              <a:rPr lang="en-US" sz="2000" b="0" i="1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760" name="CustomShape 58"/>
          <p:cNvSpPr/>
          <p:nvPr/>
        </p:nvSpPr>
        <p:spPr>
          <a:xfrm>
            <a:off x="6779880" y="3708360"/>
            <a:ext cx="1300320" cy="100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h,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  <a:ea typeface="DejaVu Sans"/>
              </a:rPr>
              <a:t>i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, j 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reachable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from s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88A475B-FE9C-49DB-8D04-A233ABB61083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19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762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Shortest Path Properties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763" name="CustomShape 3"/>
          <p:cNvSpPr/>
          <p:nvPr/>
        </p:nvSpPr>
        <p:spPr>
          <a:xfrm>
            <a:off x="350640" y="1213920"/>
            <a:ext cx="848916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Convergence property</a:t>
            </a:r>
            <a:endParaRPr lang="en-US" sz="3200" b="0" strike="noStrike" spc="-1" dirty="0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	If s     u → v is a shortest path, and if d[u] = δ(s, u) at any time prior to relaxing edge (u, v), then     d[v] = δ(s, v) at all times afterward.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764" name="CustomShape 4"/>
          <p:cNvSpPr/>
          <p:nvPr/>
        </p:nvSpPr>
        <p:spPr>
          <a:xfrm>
            <a:off x="1316160" y="2155680"/>
            <a:ext cx="362520" cy="90000"/>
          </a:xfrm>
          <a:custGeom>
            <a:avLst/>
            <a:gdLst/>
            <a:ahLst/>
            <a:cxnLst/>
            <a:rect l="l" t="t" r="r" b="b"/>
            <a:pathLst>
              <a:path w="229" h="57">
                <a:moveTo>
                  <a:pt x="0" y="26"/>
                </a:moveTo>
                <a:cubicBezTo>
                  <a:pt x="18" y="13"/>
                  <a:pt x="36" y="0"/>
                  <a:pt x="54" y="4"/>
                </a:cubicBezTo>
                <a:cubicBezTo>
                  <a:pt x="72" y="8"/>
                  <a:pt x="88" y="49"/>
                  <a:pt x="108" y="53"/>
                </a:cubicBezTo>
                <a:cubicBezTo>
                  <a:pt x="128" y="57"/>
                  <a:pt x="155" y="30"/>
                  <a:pt x="175" y="26"/>
                </a:cubicBezTo>
                <a:cubicBezTo>
                  <a:pt x="195" y="22"/>
                  <a:pt x="212" y="24"/>
                  <a:pt x="229" y="26"/>
                </a:cubicBezTo>
              </a:path>
            </a:pathLst>
          </a:custGeom>
          <a:noFill/>
          <a:ln w="1908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65" name="CustomShape 5"/>
          <p:cNvSpPr/>
          <p:nvPr/>
        </p:nvSpPr>
        <p:spPr>
          <a:xfrm>
            <a:off x="1055520" y="469116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66" name="CustomShape 6"/>
          <p:cNvSpPr/>
          <p:nvPr/>
        </p:nvSpPr>
        <p:spPr>
          <a:xfrm>
            <a:off x="1736640" y="3952800"/>
            <a:ext cx="421560" cy="4201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67" name="CustomShape 7"/>
          <p:cNvSpPr/>
          <p:nvPr/>
        </p:nvSpPr>
        <p:spPr>
          <a:xfrm>
            <a:off x="3057480" y="3952800"/>
            <a:ext cx="421560" cy="4201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68" name="CustomShape 8"/>
          <p:cNvSpPr/>
          <p:nvPr/>
        </p:nvSpPr>
        <p:spPr>
          <a:xfrm>
            <a:off x="1736640" y="543096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7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69" name="Line 9"/>
          <p:cNvSpPr/>
          <p:nvPr/>
        </p:nvSpPr>
        <p:spPr>
          <a:xfrm>
            <a:off x="1386000" y="5056200"/>
            <a:ext cx="406440" cy="42876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70" name="CustomShape 10"/>
          <p:cNvSpPr/>
          <p:nvPr/>
        </p:nvSpPr>
        <p:spPr>
          <a:xfrm>
            <a:off x="1314360" y="4213080"/>
            <a:ext cx="292680" cy="336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71" name="CustomShape 11"/>
          <p:cNvSpPr/>
          <p:nvPr/>
        </p:nvSpPr>
        <p:spPr>
          <a:xfrm>
            <a:off x="2441520" y="3735360"/>
            <a:ext cx="292680" cy="336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72" name="CustomShape 12"/>
          <p:cNvSpPr/>
          <p:nvPr/>
        </p:nvSpPr>
        <p:spPr>
          <a:xfrm>
            <a:off x="1370160" y="5162400"/>
            <a:ext cx="292680" cy="336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73" name="CustomShape 13"/>
          <p:cNvSpPr/>
          <p:nvPr/>
        </p:nvSpPr>
        <p:spPr>
          <a:xfrm>
            <a:off x="776160" y="4710240"/>
            <a:ext cx="2944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74" name="CustomShape 14"/>
          <p:cNvSpPr/>
          <p:nvPr/>
        </p:nvSpPr>
        <p:spPr>
          <a:xfrm>
            <a:off x="1825920" y="362592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u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75" name="CustomShape 15"/>
          <p:cNvSpPr/>
          <p:nvPr/>
        </p:nvSpPr>
        <p:spPr>
          <a:xfrm>
            <a:off x="3130560" y="3625920"/>
            <a:ext cx="2944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76" name="Line 16"/>
          <p:cNvSpPr/>
          <p:nvPr/>
        </p:nvSpPr>
        <p:spPr>
          <a:xfrm flipV="1">
            <a:off x="2055960" y="4298760"/>
            <a:ext cx="1063440" cy="115092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77" name="CustomShape 17"/>
          <p:cNvSpPr/>
          <p:nvPr/>
        </p:nvSpPr>
        <p:spPr>
          <a:xfrm>
            <a:off x="2141640" y="4041720"/>
            <a:ext cx="923040" cy="78840"/>
          </a:xfrm>
          <a:custGeom>
            <a:avLst/>
            <a:gdLst/>
            <a:ahLst/>
            <a:cxnLst/>
            <a:rect l="l" t="t" r="r" b="b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1908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78" name="CustomShape 18"/>
          <p:cNvSpPr/>
          <p:nvPr/>
        </p:nvSpPr>
        <p:spPr>
          <a:xfrm>
            <a:off x="3094200" y="3995640"/>
            <a:ext cx="36252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79" name="CustomShape 19"/>
          <p:cNvSpPr/>
          <p:nvPr/>
        </p:nvSpPr>
        <p:spPr>
          <a:xfrm>
            <a:off x="3089160" y="399096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80" name="CustomShape 20"/>
          <p:cNvSpPr/>
          <p:nvPr/>
        </p:nvSpPr>
        <p:spPr>
          <a:xfrm>
            <a:off x="1762200" y="398772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81" name="CustomShape 21"/>
          <p:cNvSpPr/>
          <p:nvPr/>
        </p:nvSpPr>
        <p:spPr>
          <a:xfrm>
            <a:off x="2560680" y="4848120"/>
            <a:ext cx="292680" cy="336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82" name="CustomShape 22"/>
          <p:cNvSpPr/>
          <p:nvPr/>
        </p:nvSpPr>
        <p:spPr>
          <a:xfrm>
            <a:off x="1380960" y="4124160"/>
            <a:ext cx="1675800" cy="609120"/>
          </a:xfrm>
          <a:custGeom>
            <a:avLst/>
            <a:gdLst/>
            <a:ahLst/>
            <a:cxnLst/>
            <a:rect l="l" t="t" r="r" b="b"/>
            <a:pathLst>
              <a:path w="1056" h="384">
                <a:moveTo>
                  <a:pt x="0" y="384"/>
                </a:moveTo>
                <a:cubicBezTo>
                  <a:pt x="28" y="365"/>
                  <a:pt x="61" y="358"/>
                  <a:pt x="90" y="342"/>
                </a:cubicBezTo>
                <a:cubicBezTo>
                  <a:pt x="103" y="335"/>
                  <a:pt x="114" y="326"/>
                  <a:pt x="126" y="318"/>
                </a:cubicBezTo>
                <a:cubicBezTo>
                  <a:pt x="132" y="314"/>
                  <a:pt x="144" y="306"/>
                  <a:pt x="144" y="306"/>
                </a:cubicBezTo>
                <a:cubicBezTo>
                  <a:pt x="173" y="263"/>
                  <a:pt x="158" y="280"/>
                  <a:pt x="186" y="252"/>
                </a:cubicBezTo>
                <a:cubicBezTo>
                  <a:pt x="202" y="204"/>
                  <a:pt x="178" y="260"/>
                  <a:pt x="210" y="228"/>
                </a:cubicBezTo>
                <a:cubicBezTo>
                  <a:pt x="214" y="224"/>
                  <a:pt x="212" y="215"/>
                  <a:pt x="216" y="210"/>
                </a:cubicBezTo>
                <a:cubicBezTo>
                  <a:pt x="221" y="204"/>
                  <a:pt x="228" y="202"/>
                  <a:pt x="234" y="198"/>
                </a:cubicBezTo>
                <a:cubicBezTo>
                  <a:pt x="250" y="150"/>
                  <a:pt x="226" y="206"/>
                  <a:pt x="258" y="174"/>
                </a:cubicBezTo>
                <a:cubicBezTo>
                  <a:pt x="290" y="142"/>
                  <a:pt x="234" y="166"/>
                  <a:pt x="282" y="150"/>
                </a:cubicBezTo>
                <a:cubicBezTo>
                  <a:pt x="305" y="115"/>
                  <a:pt x="342" y="104"/>
                  <a:pt x="378" y="84"/>
                </a:cubicBezTo>
                <a:cubicBezTo>
                  <a:pt x="517" y="7"/>
                  <a:pt x="691" y="16"/>
                  <a:pt x="846" y="12"/>
                </a:cubicBezTo>
                <a:cubicBezTo>
                  <a:pt x="932" y="7"/>
                  <a:pt x="919" y="0"/>
                  <a:pt x="978" y="12"/>
                </a:cubicBezTo>
                <a:cubicBezTo>
                  <a:pt x="1001" y="17"/>
                  <a:pt x="1015" y="22"/>
                  <a:pt x="1038" y="30"/>
                </a:cubicBezTo>
                <a:cubicBezTo>
                  <a:pt x="1044" y="32"/>
                  <a:pt x="1056" y="36"/>
                  <a:pt x="1056" y="36"/>
                </a:cubicBezTo>
              </a:path>
            </a:pathLst>
          </a:custGeom>
          <a:noFill/>
          <a:ln w="38160">
            <a:solidFill>
              <a:srgbClr val="DD0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83" name="CustomShape 23"/>
          <p:cNvSpPr/>
          <p:nvPr/>
        </p:nvSpPr>
        <p:spPr>
          <a:xfrm>
            <a:off x="3800520" y="3489480"/>
            <a:ext cx="4990320" cy="265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56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If d[v] &gt; δ(s, v)</a:t>
            </a:r>
            <a:r>
              <a:rPr lang="en-US" sz="24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2400" b="0" i="1" strike="noStrike" spc="-1">
                <a:solidFill>
                  <a:srgbClr val="000000"/>
                </a:solidFill>
                <a:latin typeface="Symbol"/>
                <a:ea typeface="Symbol"/>
              </a:rPr>
              <a:t></a:t>
            </a:r>
            <a:r>
              <a:rPr lang="en-US" sz="24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after relaxation:</a:t>
            </a:r>
            <a:endParaRPr lang="en-US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	d[v] = d[u] + w(u, v)</a:t>
            </a:r>
            <a:endParaRPr lang="en-US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	d[v] = 5 + 2 = 7</a:t>
            </a:r>
            <a:endParaRPr lang="en-US" sz="2400" b="0" strike="noStrike" spc="-1">
              <a:latin typeface="Arial"/>
            </a:endParaRPr>
          </a:p>
          <a:p>
            <a:pPr marL="457200" indent="-2156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Otherwise, the value remains unchanged, because it must have been the shortest path value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784" name="CustomShape 24"/>
          <p:cNvSpPr/>
          <p:nvPr/>
        </p:nvSpPr>
        <p:spPr>
          <a:xfrm>
            <a:off x="1380960" y="4324320"/>
            <a:ext cx="408960" cy="399240"/>
          </a:xfrm>
          <a:custGeom>
            <a:avLst/>
            <a:gdLst/>
            <a:ahLst/>
            <a:cxnLst/>
            <a:rect l="l" t="t" r="r" b="b"/>
            <a:pathLst>
              <a:path w="258" h="252">
                <a:moveTo>
                  <a:pt x="0" y="252"/>
                </a:moveTo>
                <a:cubicBezTo>
                  <a:pt x="28" y="210"/>
                  <a:pt x="12" y="224"/>
                  <a:pt x="42" y="204"/>
                </a:cubicBezTo>
                <a:cubicBezTo>
                  <a:pt x="52" y="173"/>
                  <a:pt x="71" y="172"/>
                  <a:pt x="102" y="162"/>
                </a:cubicBezTo>
                <a:cubicBezTo>
                  <a:pt x="108" y="160"/>
                  <a:pt x="120" y="156"/>
                  <a:pt x="120" y="156"/>
                </a:cubicBezTo>
                <a:cubicBezTo>
                  <a:pt x="123" y="146"/>
                  <a:pt x="142" y="92"/>
                  <a:pt x="150" y="84"/>
                </a:cubicBezTo>
                <a:cubicBezTo>
                  <a:pt x="160" y="74"/>
                  <a:pt x="186" y="60"/>
                  <a:pt x="186" y="60"/>
                </a:cubicBezTo>
                <a:cubicBezTo>
                  <a:pt x="190" y="48"/>
                  <a:pt x="186" y="28"/>
                  <a:pt x="198" y="24"/>
                </a:cubicBezTo>
                <a:cubicBezTo>
                  <a:pt x="211" y="20"/>
                  <a:pt x="258" y="14"/>
                  <a:pt x="258" y="0"/>
                </a:cubicBezTo>
              </a:path>
            </a:pathLst>
          </a:custGeom>
          <a:noFill/>
          <a:ln w="1908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915EF68-6454-4D05-B69F-D421ECB58C8C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20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786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Shortest Path Properties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787" name="CustomShape 3"/>
          <p:cNvSpPr/>
          <p:nvPr/>
        </p:nvSpPr>
        <p:spPr>
          <a:xfrm>
            <a:off x="246240" y="1157400"/>
            <a:ext cx="8632080" cy="2990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5500"/>
          </a:bodyPr>
          <a:lstStyle/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Path relaxation property</a:t>
            </a:r>
            <a:endParaRPr lang="en-US" sz="3200" b="0" strike="noStrike" spc="-1">
              <a:latin typeface="Arial"/>
            </a:endParaRPr>
          </a:p>
          <a:p>
            <a:pPr marL="342720" indent="-3420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	Let p = </a:t>
            </a: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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0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, 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1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, . . . , 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k</a:t>
            </a:r>
            <a:r>
              <a:rPr lang="en-US" sz="3200" b="0" strike="noStrike" spc="-1">
                <a:solidFill>
                  <a:srgbClr val="000000"/>
                </a:solidFill>
                <a:latin typeface="Symbol"/>
                <a:ea typeface="Symbol"/>
              </a:rPr>
              <a:t>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be a shortest path from       s = 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0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 to 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k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. If we relax, in order, (v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0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, 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1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), (v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1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, 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2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), . . . , (v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k-1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, 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k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), even intermixed with other relaxations, then d[v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k 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] = δ(s, v</a:t>
            </a:r>
            <a:r>
              <a:rPr lang="en-US" sz="3200" b="0" strike="noStrike" spc="-1" baseline="-25000">
                <a:solidFill>
                  <a:srgbClr val="000000"/>
                </a:solidFill>
                <a:latin typeface="Arial"/>
                <a:ea typeface="Symbol"/>
              </a:rPr>
              <a:t>k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Symbol"/>
              </a:rPr>
              <a:t>).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788" name="Line 4"/>
          <p:cNvSpPr/>
          <p:nvPr/>
        </p:nvSpPr>
        <p:spPr>
          <a:xfrm flipV="1">
            <a:off x="1517760" y="4848120"/>
            <a:ext cx="414360" cy="408240"/>
          </a:xfrm>
          <a:prstGeom prst="line">
            <a:avLst/>
          </a:prstGeom>
          <a:ln w="1908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89" name="CustomShape 5"/>
          <p:cNvSpPr/>
          <p:nvPr/>
        </p:nvSpPr>
        <p:spPr>
          <a:xfrm>
            <a:off x="1179360" y="523404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90" name="CustomShape 6"/>
          <p:cNvSpPr/>
          <p:nvPr/>
        </p:nvSpPr>
        <p:spPr>
          <a:xfrm>
            <a:off x="1860480" y="4495680"/>
            <a:ext cx="421560" cy="4201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91" name="CustomShape 7"/>
          <p:cNvSpPr/>
          <p:nvPr/>
        </p:nvSpPr>
        <p:spPr>
          <a:xfrm>
            <a:off x="3181320" y="4495680"/>
            <a:ext cx="421560" cy="4201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92" name="CustomShape 8"/>
          <p:cNvSpPr/>
          <p:nvPr/>
        </p:nvSpPr>
        <p:spPr>
          <a:xfrm>
            <a:off x="3917880" y="5230800"/>
            <a:ext cx="421560" cy="4201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93" name="Line 9"/>
          <p:cNvSpPr/>
          <p:nvPr/>
        </p:nvSpPr>
        <p:spPr>
          <a:xfrm flipV="1">
            <a:off x="1508040" y="4855680"/>
            <a:ext cx="414360" cy="41436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94" name="Line 10"/>
          <p:cNvSpPr/>
          <p:nvPr/>
        </p:nvSpPr>
        <p:spPr>
          <a:xfrm>
            <a:off x="3567240" y="4884840"/>
            <a:ext cx="406440" cy="42840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95" name="CustomShape 11"/>
          <p:cNvSpPr/>
          <p:nvPr/>
        </p:nvSpPr>
        <p:spPr>
          <a:xfrm>
            <a:off x="1476360" y="4803840"/>
            <a:ext cx="292680" cy="336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96" name="CustomShape 12"/>
          <p:cNvSpPr/>
          <p:nvPr/>
        </p:nvSpPr>
        <p:spPr>
          <a:xfrm>
            <a:off x="2565360" y="4278240"/>
            <a:ext cx="292680" cy="336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97" name="CustomShape 13"/>
          <p:cNvSpPr/>
          <p:nvPr/>
        </p:nvSpPr>
        <p:spPr>
          <a:xfrm>
            <a:off x="3551400" y="4991040"/>
            <a:ext cx="292680" cy="336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98" name="CustomShape 14"/>
          <p:cNvSpPr/>
          <p:nvPr/>
        </p:nvSpPr>
        <p:spPr>
          <a:xfrm>
            <a:off x="900000" y="5253120"/>
            <a:ext cx="2944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99" name="CustomShape 15"/>
          <p:cNvSpPr/>
          <p:nvPr/>
        </p:nvSpPr>
        <p:spPr>
          <a:xfrm>
            <a:off x="1954800" y="4168800"/>
            <a:ext cx="367560" cy="40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00" name="CustomShape 16"/>
          <p:cNvSpPr/>
          <p:nvPr/>
        </p:nvSpPr>
        <p:spPr>
          <a:xfrm>
            <a:off x="3259800" y="4168800"/>
            <a:ext cx="367560" cy="40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01" name="Line 17"/>
          <p:cNvSpPr/>
          <p:nvPr/>
        </p:nvSpPr>
        <p:spPr>
          <a:xfrm flipV="1">
            <a:off x="4361040" y="4965840"/>
            <a:ext cx="920520" cy="39816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02" name="CustomShape 18"/>
          <p:cNvSpPr/>
          <p:nvPr/>
        </p:nvSpPr>
        <p:spPr>
          <a:xfrm>
            <a:off x="2265480" y="4584600"/>
            <a:ext cx="923040" cy="78840"/>
          </a:xfrm>
          <a:custGeom>
            <a:avLst/>
            <a:gdLst/>
            <a:ahLst/>
            <a:cxnLst/>
            <a:rect l="l" t="t" r="r" b="b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1908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03" name="CustomShape 19"/>
          <p:cNvSpPr/>
          <p:nvPr/>
        </p:nvSpPr>
        <p:spPr>
          <a:xfrm>
            <a:off x="3218040" y="4538520"/>
            <a:ext cx="36252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04" name="CustomShape 20"/>
          <p:cNvSpPr/>
          <p:nvPr/>
        </p:nvSpPr>
        <p:spPr>
          <a:xfrm>
            <a:off x="3213000" y="453384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05" name="CustomShape 21"/>
          <p:cNvSpPr/>
          <p:nvPr/>
        </p:nvSpPr>
        <p:spPr>
          <a:xfrm>
            <a:off x="1886040" y="4530600"/>
            <a:ext cx="362880" cy="33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06" name="CustomShape 22"/>
          <p:cNvSpPr/>
          <p:nvPr/>
        </p:nvSpPr>
        <p:spPr>
          <a:xfrm>
            <a:off x="5280120" y="470700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07" name="CustomShape 23"/>
          <p:cNvSpPr/>
          <p:nvPr/>
        </p:nvSpPr>
        <p:spPr>
          <a:xfrm>
            <a:off x="4589640" y="4876920"/>
            <a:ext cx="292680" cy="336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808" name="CustomShape 24"/>
          <p:cNvSpPr/>
          <p:nvPr/>
        </p:nvSpPr>
        <p:spPr>
          <a:xfrm>
            <a:off x="1906560" y="4552920"/>
            <a:ext cx="348480" cy="313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09" name="CustomShape 25"/>
          <p:cNvSpPr/>
          <p:nvPr/>
        </p:nvSpPr>
        <p:spPr>
          <a:xfrm>
            <a:off x="3220920" y="4543560"/>
            <a:ext cx="348480" cy="313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7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0" name="CustomShape 26"/>
          <p:cNvSpPr/>
          <p:nvPr/>
        </p:nvSpPr>
        <p:spPr>
          <a:xfrm>
            <a:off x="3954600" y="5286240"/>
            <a:ext cx="348480" cy="313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1" name="CustomShape 27"/>
          <p:cNvSpPr/>
          <p:nvPr/>
        </p:nvSpPr>
        <p:spPr>
          <a:xfrm>
            <a:off x="5307120" y="4753080"/>
            <a:ext cx="348480" cy="313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14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2" name="CustomShape 28"/>
          <p:cNvSpPr/>
          <p:nvPr/>
        </p:nvSpPr>
        <p:spPr>
          <a:xfrm>
            <a:off x="1504800" y="4667400"/>
            <a:ext cx="1675800" cy="608760"/>
          </a:xfrm>
          <a:custGeom>
            <a:avLst/>
            <a:gdLst/>
            <a:ahLst/>
            <a:cxnLst/>
            <a:rect l="l" t="t" r="r" b="b"/>
            <a:pathLst>
              <a:path w="1056" h="384">
                <a:moveTo>
                  <a:pt x="0" y="384"/>
                </a:moveTo>
                <a:cubicBezTo>
                  <a:pt x="28" y="365"/>
                  <a:pt x="61" y="358"/>
                  <a:pt x="90" y="342"/>
                </a:cubicBezTo>
                <a:cubicBezTo>
                  <a:pt x="103" y="335"/>
                  <a:pt x="114" y="326"/>
                  <a:pt x="126" y="318"/>
                </a:cubicBezTo>
                <a:cubicBezTo>
                  <a:pt x="132" y="314"/>
                  <a:pt x="144" y="306"/>
                  <a:pt x="144" y="306"/>
                </a:cubicBezTo>
                <a:cubicBezTo>
                  <a:pt x="173" y="263"/>
                  <a:pt x="158" y="280"/>
                  <a:pt x="186" y="252"/>
                </a:cubicBezTo>
                <a:cubicBezTo>
                  <a:pt x="202" y="204"/>
                  <a:pt x="178" y="260"/>
                  <a:pt x="210" y="228"/>
                </a:cubicBezTo>
                <a:cubicBezTo>
                  <a:pt x="214" y="224"/>
                  <a:pt x="212" y="215"/>
                  <a:pt x="216" y="210"/>
                </a:cubicBezTo>
                <a:cubicBezTo>
                  <a:pt x="221" y="204"/>
                  <a:pt x="228" y="202"/>
                  <a:pt x="234" y="198"/>
                </a:cubicBezTo>
                <a:cubicBezTo>
                  <a:pt x="250" y="150"/>
                  <a:pt x="226" y="206"/>
                  <a:pt x="258" y="174"/>
                </a:cubicBezTo>
                <a:cubicBezTo>
                  <a:pt x="290" y="142"/>
                  <a:pt x="234" y="166"/>
                  <a:pt x="282" y="150"/>
                </a:cubicBezTo>
                <a:cubicBezTo>
                  <a:pt x="305" y="115"/>
                  <a:pt x="342" y="104"/>
                  <a:pt x="378" y="84"/>
                </a:cubicBezTo>
                <a:cubicBezTo>
                  <a:pt x="517" y="7"/>
                  <a:pt x="691" y="16"/>
                  <a:pt x="846" y="12"/>
                </a:cubicBezTo>
                <a:cubicBezTo>
                  <a:pt x="932" y="7"/>
                  <a:pt x="919" y="0"/>
                  <a:pt x="978" y="12"/>
                </a:cubicBezTo>
                <a:cubicBezTo>
                  <a:pt x="1001" y="17"/>
                  <a:pt x="1015" y="22"/>
                  <a:pt x="1038" y="30"/>
                </a:cubicBezTo>
                <a:cubicBezTo>
                  <a:pt x="1044" y="32"/>
                  <a:pt x="1056" y="36"/>
                  <a:pt x="1056" y="36"/>
                </a:cubicBezTo>
              </a:path>
            </a:pathLst>
          </a:custGeom>
          <a:noFill/>
          <a:ln w="38160">
            <a:solidFill>
              <a:srgbClr val="DD0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13" name="CustomShape 29"/>
          <p:cNvSpPr/>
          <p:nvPr/>
        </p:nvSpPr>
        <p:spPr>
          <a:xfrm>
            <a:off x="3162240" y="4724280"/>
            <a:ext cx="2133000" cy="818640"/>
          </a:xfrm>
          <a:custGeom>
            <a:avLst/>
            <a:gdLst/>
            <a:ahLst/>
            <a:cxnLst/>
            <a:rect l="l" t="t" r="r" b="b"/>
            <a:pathLst>
              <a:path w="1344" h="516">
                <a:moveTo>
                  <a:pt x="0" y="0"/>
                </a:moveTo>
                <a:cubicBezTo>
                  <a:pt x="31" y="21"/>
                  <a:pt x="9" y="26"/>
                  <a:pt x="48" y="36"/>
                </a:cubicBezTo>
                <a:cubicBezTo>
                  <a:pt x="60" y="44"/>
                  <a:pt x="76" y="48"/>
                  <a:pt x="84" y="60"/>
                </a:cubicBezTo>
                <a:cubicBezTo>
                  <a:pt x="104" y="89"/>
                  <a:pt x="140" y="161"/>
                  <a:pt x="168" y="180"/>
                </a:cubicBezTo>
                <a:cubicBezTo>
                  <a:pt x="190" y="245"/>
                  <a:pt x="232" y="303"/>
                  <a:pt x="270" y="360"/>
                </a:cubicBezTo>
                <a:cubicBezTo>
                  <a:pt x="278" y="372"/>
                  <a:pt x="294" y="376"/>
                  <a:pt x="306" y="384"/>
                </a:cubicBezTo>
                <a:cubicBezTo>
                  <a:pt x="335" y="403"/>
                  <a:pt x="363" y="427"/>
                  <a:pt x="396" y="438"/>
                </a:cubicBezTo>
                <a:cubicBezTo>
                  <a:pt x="425" y="481"/>
                  <a:pt x="384" y="428"/>
                  <a:pt x="444" y="468"/>
                </a:cubicBezTo>
                <a:cubicBezTo>
                  <a:pt x="480" y="492"/>
                  <a:pt x="499" y="506"/>
                  <a:pt x="540" y="516"/>
                </a:cubicBezTo>
                <a:cubicBezTo>
                  <a:pt x="578" y="514"/>
                  <a:pt x="616" y="515"/>
                  <a:pt x="654" y="510"/>
                </a:cubicBezTo>
                <a:cubicBezTo>
                  <a:pt x="691" y="506"/>
                  <a:pt x="727" y="480"/>
                  <a:pt x="762" y="468"/>
                </a:cubicBezTo>
                <a:cubicBezTo>
                  <a:pt x="882" y="428"/>
                  <a:pt x="990" y="370"/>
                  <a:pt x="1110" y="330"/>
                </a:cubicBezTo>
                <a:cubicBezTo>
                  <a:pt x="1128" y="324"/>
                  <a:pt x="1146" y="308"/>
                  <a:pt x="1164" y="300"/>
                </a:cubicBezTo>
                <a:cubicBezTo>
                  <a:pt x="1195" y="286"/>
                  <a:pt x="1225" y="280"/>
                  <a:pt x="1254" y="264"/>
                </a:cubicBezTo>
                <a:cubicBezTo>
                  <a:pt x="1254" y="264"/>
                  <a:pt x="1299" y="234"/>
                  <a:pt x="1308" y="228"/>
                </a:cubicBezTo>
                <a:cubicBezTo>
                  <a:pt x="1320" y="220"/>
                  <a:pt x="1344" y="204"/>
                  <a:pt x="1344" y="204"/>
                </a:cubicBezTo>
              </a:path>
            </a:pathLst>
          </a:custGeom>
          <a:noFill/>
          <a:ln w="38160">
            <a:solidFill>
              <a:srgbClr val="DD0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14" name="CustomShape 30"/>
          <p:cNvSpPr/>
          <p:nvPr/>
        </p:nvSpPr>
        <p:spPr>
          <a:xfrm>
            <a:off x="1824120" y="4989600"/>
            <a:ext cx="1593000" cy="40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d[v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] = δ(s, 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5" name="CustomShape 31"/>
          <p:cNvSpPr/>
          <p:nvPr/>
        </p:nvSpPr>
        <p:spPr>
          <a:xfrm>
            <a:off x="3624480" y="4303800"/>
            <a:ext cx="1593000" cy="40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d[v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] = δ(s, 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6" name="CustomShape 32"/>
          <p:cNvSpPr/>
          <p:nvPr/>
        </p:nvSpPr>
        <p:spPr>
          <a:xfrm>
            <a:off x="4024440" y="5713560"/>
            <a:ext cx="1593000" cy="40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d[v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] = δ(s, 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7" name="CustomShape 33"/>
          <p:cNvSpPr/>
          <p:nvPr/>
        </p:nvSpPr>
        <p:spPr>
          <a:xfrm>
            <a:off x="5415120" y="5180040"/>
            <a:ext cx="1593000" cy="40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d[v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] = δ(s, 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8" name="CustomShape 34"/>
          <p:cNvSpPr/>
          <p:nvPr/>
        </p:nvSpPr>
        <p:spPr>
          <a:xfrm>
            <a:off x="4012200" y="4902120"/>
            <a:ext cx="367560" cy="40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9" name="CustomShape 35"/>
          <p:cNvSpPr/>
          <p:nvPr/>
        </p:nvSpPr>
        <p:spPr>
          <a:xfrm>
            <a:off x="5641200" y="4511520"/>
            <a:ext cx="367560" cy="405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Effect">
                      <p:stCondLst>
                        <p:cond delay="indefinite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CustomShape 1"/>
          <p:cNvSpPr/>
          <p:nvPr/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16000" indent="-21528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SINGLE-SOURCE SHORTEST PATHS IN DAGS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821" name="CustomShape 2"/>
          <p:cNvSpPr/>
          <p:nvPr/>
        </p:nvSpPr>
        <p:spPr>
          <a:xfrm>
            <a:off x="722160" y="2906280"/>
            <a:ext cx="7771680" cy="149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22" name="CustomShape 3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5A4181D-F79E-44FA-885B-26BDD6BE5958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21</a:t>
            </a:fld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943B00E-FEE1-4490-85A2-BEEC35562DE8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824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  <a:ea typeface="DejaVu Sans"/>
              </a:rPr>
              <a:t>Single-Source Shortest Paths in DAGs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825" name="CustomShape 3"/>
          <p:cNvSpPr/>
          <p:nvPr/>
        </p:nvSpPr>
        <p:spPr>
          <a:xfrm>
            <a:off x="351000" y="1214280"/>
            <a:ext cx="7376400" cy="54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8500"/>
          </a:bodyPr>
          <a:lstStyle/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Given a weighted DAG: G = (V, E) 	       – solve the shortest path problem</a:t>
            </a:r>
            <a:endParaRPr lang="en-US" sz="3200" b="0" strike="noStrike" spc="-1">
              <a:latin typeface="Arial"/>
            </a:endParaRPr>
          </a:p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Idea: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2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Topologically sort the vertices of the graph</a:t>
            </a:r>
            <a:endParaRPr lang="en-US" sz="2800" b="0" strike="noStrike" spc="-1">
              <a:latin typeface="Arial"/>
            </a:endParaRPr>
          </a:p>
          <a:p>
            <a:pPr marL="864000" lvl="1" indent="-323280">
              <a:lnSpc>
                <a:spcPct val="12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Relax the edges according to the order given by the topological sort</a:t>
            </a:r>
            <a:endParaRPr lang="en-US" sz="2800" b="0" strike="noStrike" spc="-1">
              <a:latin typeface="Arial"/>
            </a:endParaRPr>
          </a:p>
          <a:p>
            <a:pPr marL="1296000" lvl="2" indent="-28728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for each vertex, we relax each edge that starts from that vertex</a:t>
            </a:r>
            <a:endParaRPr lang="en-US" sz="2400" b="0" strike="noStrike" spc="-1">
              <a:latin typeface="Arial"/>
            </a:endParaRPr>
          </a:p>
          <a:p>
            <a:pPr marL="432000" indent="-32328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Are shortest-paths well defined in a DAG?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2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Yes, (negative-weight) cycles cannot exist</a:t>
            </a:r>
            <a:endParaRPr lang="en-US" sz="2800" b="0" strike="noStrike" spc="-1">
              <a:latin typeface="Arial"/>
            </a:endParaRPr>
          </a:p>
        </p:txBody>
      </p:sp>
      <p:grpSp>
        <p:nvGrpSpPr>
          <p:cNvPr id="826" name="Group 4"/>
          <p:cNvGrpSpPr/>
          <p:nvPr/>
        </p:nvGrpSpPr>
        <p:grpSpPr>
          <a:xfrm>
            <a:off x="6243480" y="1216080"/>
            <a:ext cx="2702880" cy="2444040"/>
            <a:chOff x="6243480" y="1216080"/>
            <a:chExt cx="2702880" cy="2444040"/>
          </a:xfrm>
        </p:grpSpPr>
        <p:sp>
          <p:nvSpPr>
            <p:cNvPr id="827" name="Line 5"/>
            <p:cNvSpPr/>
            <p:nvPr/>
          </p:nvSpPr>
          <p:spPr>
            <a:xfrm flipV="1">
              <a:off x="6860880" y="1895400"/>
              <a:ext cx="414360" cy="408240"/>
            </a:xfrm>
            <a:prstGeom prst="line">
              <a:avLst/>
            </a:prstGeom>
            <a:ln w="1908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28" name="CustomShape 6"/>
            <p:cNvSpPr/>
            <p:nvPr/>
          </p:nvSpPr>
          <p:spPr>
            <a:xfrm>
              <a:off x="6523200" y="22813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29" name="CustomShape 7"/>
            <p:cNvSpPr/>
            <p:nvPr/>
          </p:nvSpPr>
          <p:spPr>
            <a:xfrm>
              <a:off x="7203960" y="15429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30" name="CustomShape 8"/>
            <p:cNvSpPr/>
            <p:nvPr/>
          </p:nvSpPr>
          <p:spPr>
            <a:xfrm>
              <a:off x="8524800" y="154296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31" name="CustomShape 9"/>
            <p:cNvSpPr/>
            <p:nvPr/>
          </p:nvSpPr>
          <p:spPr>
            <a:xfrm>
              <a:off x="7203960" y="30211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2" name="Line 10"/>
            <p:cNvSpPr/>
            <p:nvPr/>
          </p:nvSpPr>
          <p:spPr>
            <a:xfrm flipV="1">
              <a:off x="6851160" y="1902960"/>
              <a:ext cx="414360" cy="414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3" name="Line 11"/>
            <p:cNvSpPr/>
            <p:nvPr/>
          </p:nvSpPr>
          <p:spPr>
            <a:xfrm>
              <a:off x="6852960" y="2646360"/>
              <a:ext cx="406440" cy="4287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4" name="CustomShape 12"/>
            <p:cNvSpPr/>
            <p:nvPr/>
          </p:nvSpPr>
          <p:spPr>
            <a:xfrm>
              <a:off x="6819840" y="18511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835" name="CustomShape 13"/>
            <p:cNvSpPr/>
            <p:nvPr/>
          </p:nvSpPr>
          <p:spPr>
            <a:xfrm>
              <a:off x="7908840" y="132552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836" name="CustomShape 14"/>
            <p:cNvSpPr/>
            <p:nvPr/>
          </p:nvSpPr>
          <p:spPr>
            <a:xfrm>
              <a:off x="6837480" y="275256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837" name="CustomShape 15"/>
            <p:cNvSpPr/>
            <p:nvPr/>
          </p:nvSpPr>
          <p:spPr>
            <a:xfrm>
              <a:off x="6243480" y="23004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38" name="CustomShape 16"/>
            <p:cNvSpPr/>
            <p:nvPr/>
          </p:nvSpPr>
          <p:spPr>
            <a:xfrm>
              <a:off x="7293240" y="12160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39" name="CustomShape 17"/>
            <p:cNvSpPr/>
            <p:nvPr/>
          </p:nvSpPr>
          <p:spPr>
            <a:xfrm>
              <a:off x="8597880" y="12160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40" name="Line 18"/>
            <p:cNvSpPr/>
            <p:nvPr/>
          </p:nvSpPr>
          <p:spPr>
            <a:xfrm flipV="1">
              <a:off x="7523280" y="1888920"/>
              <a:ext cx="1063440" cy="1150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1" name="CustomShape 19"/>
            <p:cNvSpPr/>
            <p:nvPr/>
          </p:nvSpPr>
          <p:spPr>
            <a:xfrm>
              <a:off x="7608960" y="1631880"/>
              <a:ext cx="9230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2" name="CustomShape 20"/>
            <p:cNvSpPr/>
            <p:nvPr/>
          </p:nvSpPr>
          <p:spPr>
            <a:xfrm>
              <a:off x="8561520" y="1585800"/>
              <a:ext cx="36252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43" name="CustomShape 21"/>
            <p:cNvSpPr/>
            <p:nvPr/>
          </p:nvSpPr>
          <p:spPr>
            <a:xfrm>
              <a:off x="8556480" y="1581120"/>
              <a:ext cx="36288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4" name="CustomShape 22"/>
            <p:cNvSpPr/>
            <p:nvPr/>
          </p:nvSpPr>
          <p:spPr>
            <a:xfrm>
              <a:off x="7229520" y="1577880"/>
              <a:ext cx="362880" cy="335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5" name="CustomShape 23"/>
            <p:cNvSpPr/>
            <p:nvPr/>
          </p:nvSpPr>
          <p:spPr>
            <a:xfrm>
              <a:off x="8028000" y="2438280"/>
              <a:ext cx="292680" cy="336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846" name="CustomShape 24"/>
            <p:cNvSpPr/>
            <p:nvPr/>
          </p:nvSpPr>
          <p:spPr>
            <a:xfrm>
              <a:off x="7511760" y="329256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C0F9DB-95E3-4B93-9707-97CEFA00F572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23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848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DAG-SHORTEST-PATHS(G, w, s)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49" name="CustomShape 3"/>
          <p:cNvSpPr/>
          <p:nvPr/>
        </p:nvSpPr>
        <p:spPr>
          <a:xfrm>
            <a:off x="350640" y="1213920"/>
            <a:ext cx="711756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topologically sort the vertices of G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INITIALIZE-SINGLE-SOURCE(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V, s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for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each vertex 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u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, taken in topologically sorted order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do for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each vertex 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  <a:ea typeface="DejaVu Sans"/>
              </a:rPr>
              <a:t>v </a:t>
            </a:r>
            <a:r>
              <a:rPr lang="en-US" sz="32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  <a:ea typeface="Symbol"/>
              </a:rPr>
              <a:t>Adj[u]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                 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Symbol"/>
              </a:rPr>
              <a:t>do 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RELAX(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  <a:ea typeface="Symbol"/>
              </a:rPr>
              <a:t>u, v, w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)</a:t>
            </a: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endParaRPr lang="en-US" sz="3200" b="0" strike="noStrike" spc="-1" dirty="0">
              <a:latin typeface="Arial"/>
            </a:endParaRPr>
          </a:p>
          <a:p>
            <a:pPr marL="533160" indent="-53244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Running time: </a:t>
            </a:r>
            <a:r>
              <a:rPr lang="en-US" sz="3200" b="0" strike="noStrike" spc="-1" dirty="0">
                <a:solidFill>
                  <a:srgbClr val="000000"/>
                </a:solidFill>
                <a:latin typeface="Symbol"/>
                <a:ea typeface="Symbol"/>
              </a:rPr>
              <a:t>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Symbol"/>
              </a:rPr>
              <a:t>(V+E)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850" name="CustomShape 4"/>
          <p:cNvSpPr/>
          <p:nvPr/>
        </p:nvSpPr>
        <p:spPr>
          <a:xfrm>
            <a:off x="7366680" y="1320840"/>
            <a:ext cx="130284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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(V+E)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851" name="CustomShape 5"/>
          <p:cNvSpPr/>
          <p:nvPr/>
        </p:nvSpPr>
        <p:spPr>
          <a:xfrm>
            <a:off x="7367040" y="1913040"/>
            <a:ext cx="92160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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(V)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852" name="CustomShape 6"/>
          <p:cNvSpPr/>
          <p:nvPr/>
        </p:nvSpPr>
        <p:spPr>
          <a:xfrm>
            <a:off x="7367040" y="2522520"/>
            <a:ext cx="92160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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(V)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853" name="CustomShape 7"/>
          <p:cNvSpPr/>
          <p:nvPr/>
        </p:nvSpPr>
        <p:spPr>
          <a:xfrm>
            <a:off x="8147880" y="3306600"/>
            <a:ext cx="921600" cy="45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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(E)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854" name="CustomShape 8"/>
          <p:cNvSpPr/>
          <p:nvPr/>
        </p:nvSpPr>
        <p:spPr>
          <a:xfrm>
            <a:off x="8110440" y="2581200"/>
            <a:ext cx="109080" cy="2063160"/>
          </a:xfrm>
          <a:custGeom>
            <a:avLst/>
            <a:gdLst/>
            <a:ahLst/>
            <a:cxnLst/>
            <a:rect l="l" t="t" r="r" b="b"/>
            <a:pathLst>
              <a:path w="307" h="5735">
                <a:moveTo>
                  <a:pt x="0" y="0"/>
                </a:moveTo>
                <a:cubicBezTo>
                  <a:pt x="76" y="0"/>
                  <a:pt x="153" y="238"/>
                  <a:pt x="153" y="477"/>
                </a:cubicBezTo>
                <a:lnTo>
                  <a:pt x="153" y="2389"/>
                </a:lnTo>
                <a:cubicBezTo>
                  <a:pt x="153" y="2628"/>
                  <a:pt x="229" y="2867"/>
                  <a:pt x="306" y="2867"/>
                </a:cubicBezTo>
                <a:cubicBezTo>
                  <a:pt x="229" y="2867"/>
                  <a:pt x="153" y="3105"/>
                  <a:pt x="153" y="3344"/>
                </a:cubicBezTo>
                <a:lnTo>
                  <a:pt x="153" y="5256"/>
                </a:lnTo>
                <a:cubicBezTo>
                  <a:pt x="153" y="5495"/>
                  <a:pt x="76" y="5734"/>
                  <a:pt x="0" y="5734"/>
                </a:cubicBezTo>
              </a:path>
            </a:pathLst>
          </a:cu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55" name="Line 9"/>
          <p:cNvSpPr/>
          <p:nvPr/>
        </p:nvSpPr>
        <p:spPr>
          <a:xfrm flipH="1">
            <a:off x="6946560" y="1550880"/>
            <a:ext cx="4395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56" name="Line 10"/>
          <p:cNvSpPr/>
          <p:nvPr/>
        </p:nvSpPr>
        <p:spPr>
          <a:xfrm flipH="1">
            <a:off x="6946560" y="2170080"/>
            <a:ext cx="4395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Effect">
                      <p:stCondLst>
                        <p:cond delay="indefinite"/>
                      </p:stCondLst>
                      <p:childTnLst>
                        <p:par>
                          <p:cTn id="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C843D62-33D0-40DC-9DCF-7B5111DB2B7A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24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858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Example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59" name="CustomShape 3"/>
          <p:cNvSpPr/>
          <p:nvPr/>
        </p:nvSpPr>
        <p:spPr>
          <a:xfrm>
            <a:off x="3005280" y="189720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0" name="CustomShape 4"/>
          <p:cNvSpPr/>
          <p:nvPr/>
        </p:nvSpPr>
        <p:spPr>
          <a:xfrm>
            <a:off x="2117880" y="189720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1" name="CustomShape 5"/>
          <p:cNvSpPr/>
          <p:nvPr/>
        </p:nvSpPr>
        <p:spPr>
          <a:xfrm>
            <a:off x="3892680" y="189720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2" name="CustomShape 6"/>
          <p:cNvSpPr/>
          <p:nvPr/>
        </p:nvSpPr>
        <p:spPr>
          <a:xfrm>
            <a:off x="5667480" y="189720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3" name="CustomShape 7"/>
          <p:cNvSpPr/>
          <p:nvPr/>
        </p:nvSpPr>
        <p:spPr>
          <a:xfrm>
            <a:off x="4780080" y="189720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4" name="CustomShape 8"/>
          <p:cNvSpPr/>
          <p:nvPr/>
        </p:nvSpPr>
        <p:spPr>
          <a:xfrm>
            <a:off x="3057480" y="1552680"/>
            <a:ext cx="2944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5" name="CustomShape 9"/>
          <p:cNvSpPr/>
          <p:nvPr/>
        </p:nvSpPr>
        <p:spPr>
          <a:xfrm>
            <a:off x="3966840" y="1552680"/>
            <a:ext cx="2440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6" name="CustomShape 10"/>
          <p:cNvSpPr/>
          <p:nvPr/>
        </p:nvSpPr>
        <p:spPr>
          <a:xfrm>
            <a:off x="4827600" y="1552680"/>
            <a:ext cx="2944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7" name="CustomShape 11"/>
          <p:cNvSpPr/>
          <p:nvPr/>
        </p:nvSpPr>
        <p:spPr>
          <a:xfrm>
            <a:off x="5736960" y="1552680"/>
            <a:ext cx="2944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8" name="CustomShape 12"/>
          <p:cNvSpPr/>
          <p:nvPr/>
        </p:nvSpPr>
        <p:spPr>
          <a:xfrm>
            <a:off x="6648480" y="1552680"/>
            <a:ext cx="2944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z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69" name="CustomShape 13"/>
          <p:cNvSpPr/>
          <p:nvPr/>
        </p:nvSpPr>
        <p:spPr>
          <a:xfrm>
            <a:off x="6554880" y="1897200"/>
            <a:ext cx="421560" cy="4197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70" name="CustomShape 14"/>
          <p:cNvSpPr/>
          <p:nvPr/>
        </p:nvSpPr>
        <p:spPr>
          <a:xfrm>
            <a:off x="2157480" y="1552680"/>
            <a:ext cx="25632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71" name="Line 15"/>
          <p:cNvSpPr/>
          <p:nvPr/>
        </p:nvSpPr>
        <p:spPr>
          <a:xfrm>
            <a:off x="2530440" y="2114640"/>
            <a:ext cx="48420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2" name="Line 16"/>
          <p:cNvSpPr/>
          <p:nvPr/>
        </p:nvSpPr>
        <p:spPr>
          <a:xfrm>
            <a:off x="3416400" y="2114640"/>
            <a:ext cx="48420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3" name="Line 17"/>
          <p:cNvSpPr/>
          <p:nvPr/>
        </p:nvSpPr>
        <p:spPr>
          <a:xfrm>
            <a:off x="4313160" y="2114640"/>
            <a:ext cx="48420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4" name="Line 18"/>
          <p:cNvSpPr/>
          <p:nvPr/>
        </p:nvSpPr>
        <p:spPr>
          <a:xfrm>
            <a:off x="5199120" y="2114640"/>
            <a:ext cx="48420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5" name="Line 19"/>
          <p:cNvSpPr/>
          <p:nvPr/>
        </p:nvSpPr>
        <p:spPr>
          <a:xfrm>
            <a:off x="6076800" y="2114640"/>
            <a:ext cx="48420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6" name="CustomShape 20"/>
          <p:cNvSpPr/>
          <p:nvPr/>
        </p:nvSpPr>
        <p:spPr>
          <a:xfrm>
            <a:off x="3230640" y="1593720"/>
            <a:ext cx="1693080" cy="315360"/>
          </a:xfrm>
          <a:custGeom>
            <a:avLst/>
            <a:gdLst/>
            <a:ahLst/>
            <a:cxnLst/>
            <a:rect l="l" t="t" r="r" b="b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7" name="CustomShape 21"/>
          <p:cNvSpPr/>
          <p:nvPr/>
        </p:nvSpPr>
        <p:spPr>
          <a:xfrm>
            <a:off x="5022720" y="1593720"/>
            <a:ext cx="1693440" cy="315360"/>
          </a:xfrm>
          <a:custGeom>
            <a:avLst/>
            <a:gdLst/>
            <a:ahLst/>
            <a:cxnLst/>
            <a:rect l="l" t="t" r="r" b="b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8" name="CustomShape 22"/>
          <p:cNvSpPr/>
          <p:nvPr/>
        </p:nvSpPr>
        <p:spPr>
          <a:xfrm flipV="1">
            <a:off x="4127400" y="2316960"/>
            <a:ext cx="1693080" cy="315000"/>
          </a:xfrm>
          <a:custGeom>
            <a:avLst/>
            <a:gdLst/>
            <a:ahLst/>
            <a:cxnLst/>
            <a:rect l="l" t="t" r="r" b="b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9" name="CustomShape 23"/>
          <p:cNvSpPr/>
          <p:nvPr/>
        </p:nvSpPr>
        <p:spPr>
          <a:xfrm flipV="1">
            <a:off x="2341440" y="2316960"/>
            <a:ext cx="1693440" cy="315000"/>
          </a:xfrm>
          <a:custGeom>
            <a:avLst/>
            <a:gdLst/>
            <a:ahLst/>
            <a:cxnLst/>
            <a:rect l="l" t="t" r="r" b="b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80" name="CustomShape 24"/>
          <p:cNvSpPr/>
          <p:nvPr/>
        </p:nvSpPr>
        <p:spPr>
          <a:xfrm>
            <a:off x="4091040" y="2322360"/>
            <a:ext cx="2652120" cy="497880"/>
          </a:xfrm>
          <a:custGeom>
            <a:avLst/>
            <a:gdLst/>
            <a:ahLst/>
            <a:cxnLst/>
            <a:rect l="l" t="t" r="r" b="b"/>
            <a:pathLst>
              <a:path w="1671" h="314">
                <a:moveTo>
                  <a:pt x="0" y="0"/>
                </a:moveTo>
                <a:cubicBezTo>
                  <a:pt x="159" y="107"/>
                  <a:pt x="319" y="215"/>
                  <a:pt x="514" y="260"/>
                </a:cubicBezTo>
                <a:cubicBezTo>
                  <a:pt x="709" y="305"/>
                  <a:pt x="976" y="314"/>
                  <a:pt x="1169" y="271"/>
                </a:cubicBezTo>
                <a:cubicBezTo>
                  <a:pt x="1362" y="228"/>
                  <a:pt x="1516" y="114"/>
                  <a:pt x="1671" y="0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81" name="CustomShape 25"/>
          <p:cNvSpPr/>
          <p:nvPr/>
        </p:nvSpPr>
        <p:spPr>
          <a:xfrm>
            <a:off x="2581560" y="180180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82" name="CustomShape 26"/>
          <p:cNvSpPr/>
          <p:nvPr/>
        </p:nvSpPr>
        <p:spPr>
          <a:xfrm>
            <a:off x="3478680" y="180180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83" name="CustomShape 27"/>
          <p:cNvSpPr/>
          <p:nvPr/>
        </p:nvSpPr>
        <p:spPr>
          <a:xfrm>
            <a:off x="3011760" y="232236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84" name="CustomShape 28"/>
          <p:cNvSpPr/>
          <p:nvPr/>
        </p:nvSpPr>
        <p:spPr>
          <a:xfrm>
            <a:off x="3935880" y="126540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85" name="CustomShape 29"/>
          <p:cNvSpPr/>
          <p:nvPr/>
        </p:nvSpPr>
        <p:spPr>
          <a:xfrm>
            <a:off x="4383360" y="180180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7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86" name="CustomShape 30"/>
          <p:cNvSpPr/>
          <p:nvPr/>
        </p:nvSpPr>
        <p:spPr>
          <a:xfrm>
            <a:off x="5675760" y="126540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87" name="CustomShape 31"/>
          <p:cNvSpPr/>
          <p:nvPr/>
        </p:nvSpPr>
        <p:spPr>
          <a:xfrm>
            <a:off x="5270760" y="1801800"/>
            <a:ext cx="3826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-1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88" name="CustomShape 32"/>
          <p:cNvSpPr/>
          <p:nvPr/>
        </p:nvSpPr>
        <p:spPr>
          <a:xfrm>
            <a:off x="6131160" y="1801800"/>
            <a:ext cx="38268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-2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89" name="CustomShape 33"/>
          <p:cNvSpPr/>
          <p:nvPr/>
        </p:nvSpPr>
        <p:spPr>
          <a:xfrm>
            <a:off x="4840560" y="232236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90" name="CustomShape 34"/>
          <p:cNvSpPr/>
          <p:nvPr/>
        </p:nvSpPr>
        <p:spPr>
          <a:xfrm>
            <a:off x="6093000" y="2322360"/>
            <a:ext cx="306360" cy="36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891" name="Group 35"/>
          <p:cNvGrpSpPr/>
          <p:nvPr/>
        </p:nvGrpSpPr>
        <p:grpSpPr>
          <a:xfrm>
            <a:off x="2117880" y="2671920"/>
            <a:ext cx="4858560" cy="1554840"/>
            <a:chOff x="2117880" y="2671920"/>
            <a:chExt cx="4858560" cy="1554840"/>
          </a:xfrm>
        </p:grpSpPr>
        <p:sp>
          <p:nvSpPr>
            <p:cNvPr id="892" name="CustomShape 36"/>
            <p:cNvSpPr/>
            <p:nvPr/>
          </p:nvSpPr>
          <p:spPr>
            <a:xfrm>
              <a:off x="3005280" y="33037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93" name="CustomShape 37"/>
            <p:cNvSpPr/>
            <p:nvPr/>
          </p:nvSpPr>
          <p:spPr>
            <a:xfrm>
              <a:off x="2117880" y="330372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94" name="CustomShape 38"/>
            <p:cNvSpPr/>
            <p:nvPr/>
          </p:nvSpPr>
          <p:spPr>
            <a:xfrm>
              <a:off x="3892680" y="33037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95" name="CustomShape 39"/>
            <p:cNvSpPr/>
            <p:nvPr/>
          </p:nvSpPr>
          <p:spPr>
            <a:xfrm>
              <a:off x="5667480" y="33037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96" name="CustomShape 40"/>
            <p:cNvSpPr/>
            <p:nvPr/>
          </p:nvSpPr>
          <p:spPr>
            <a:xfrm>
              <a:off x="4780080" y="33037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97" name="CustomShape 41"/>
            <p:cNvSpPr/>
            <p:nvPr/>
          </p:nvSpPr>
          <p:spPr>
            <a:xfrm>
              <a:off x="3057480" y="2959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98" name="CustomShape 42"/>
            <p:cNvSpPr/>
            <p:nvPr/>
          </p:nvSpPr>
          <p:spPr>
            <a:xfrm>
              <a:off x="3966840" y="295920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899" name="CustomShape 43"/>
            <p:cNvSpPr/>
            <p:nvPr/>
          </p:nvSpPr>
          <p:spPr>
            <a:xfrm>
              <a:off x="4827600" y="2959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00" name="CustomShape 44"/>
            <p:cNvSpPr/>
            <p:nvPr/>
          </p:nvSpPr>
          <p:spPr>
            <a:xfrm>
              <a:off x="5736960" y="2959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01" name="CustomShape 45"/>
            <p:cNvSpPr/>
            <p:nvPr/>
          </p:nvSpPr>
          <p:spPr>
            <a:xfrm>
              <a:off x="6648480" y="2959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02" name="CustomShape 46"/>
            <p:cNvSpPr/>
            <p:nvPr/>
          </p:nvSpPr>
          <p:spPr>
            <a:xfrm>
              <a:off x="6554880" y="330372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03" name="CustomShape 47"/>
            <p:cNvSpPr/>
            <p:nvPr/>
          </p:nvSpPr>
          <p:spPr>
            <a:xfrm>
              <a:off x="2157480" y="2959200"/>
              <a:ext cx="25632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04" name="Line 48"/>
            <p:cNvSpPr/>
            <p:nvPr/>
          </p:nvSpPr>
          <p:spPr>
            <a:xfrm>
              <a:off x="2530440" y="3521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5" name="Line 49"/>
            <p:cNvSpPr/>
            <p:nvPr/>
          </p:nvSpPr>
          <p:spPr>
            <a:xfrm>
              <a:off x="3416400" y="3521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6" name="Line 50"/>
            <p:cNvSpPr/>
            <p:nvPr/>
          </p:nvSpPr>
          <p:spPr>
            <a:xfrm>
              <a:off x="4313160" y="3521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7" name="Line 51"/>
            <p:cNvSpPr/>
            <p:nvPr/>
          </p:nvSpPr>
          <p:spPr>
            <a:xfrm>
              <a:off x="5199120" y="3521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8" name="Line 52"/>
            <p:cNvSpPr/>
            <p:nvPr/>
          </p:nvSpPr>
          <p:spPr>
            <a:xfrm>
              <a:off x="6076800" y="3521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9" name="CustomShape 53"/>
            <p:cNvSpPr/>
            <p:nvPr/>
          </p:nvSpPr>
          <p:spPr>
            <a:xfrm>
              <a:off x="3230640" y="3000240"/>
              <a:ext cx="169308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0" name="CustomShape 54"/>
            <p:cNvSpPr/>
            <p:nvPr/>
          </p:nvSpPr>
          <p:spPr>
            <a:xfrm>
              <a:off x="5022720" y="3000240"/>
              <a:ext cx="169344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1" name="CustomShape 55"/>
            <p:cNvSpPr/>
            <p:nvPr/>
          </p:nvSpPr>
          <p:spPr>
            <a:xfrm flipV="1">
              <a:off x="4127400" y="372348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2" name="CustomShape 56"/>
            <p:cNvSpPr/>
            <p:nvPr/>
          </p:nvSpPr>
          <p:spPr>
            <a:xfrm flipV="1">
              <a:off x="2341440" y="3723480"/>
              <a:ext cx="169344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3" name="CustomShape 57"/>
            <p:cNvSpPr/>
            <p:nvPr/>
          </p:nvSpPr>
          <p:spPr>
            <a:xfrm>
              <a:off x="4091040" y="3728880"/>
              <a:ext cx="2652120" cy="497880"/>
            </a:xfrm>
            <a:custGeom>
              <a:avLst/>
              <a:gdLst/>
              <a:ahLst/>
              <a:cxnLst/>
              <a:rect l="l" t="t" r="r" b="b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4" name="CustomShape 58"/>
            <p:cNvSpPr/>
            <p:nvPr/>
          </p:nvSpPr>
          <p:spPr>
            <a:xfrm>
              <a:off x="2581560" y="32083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15" name="CustomShape 59"/>
            <p:cNvSpPr/>
            <p:nvPr/>
          </p:nvSpPr>
          <p:spPr>
            <a:xfrm>
              <a:off x="3478680" y="32083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16" name="CustomShape 60"/>
            <p:cNvSpPr/>
            <p:nvPr/>
          </p:nvSpPr>
          <p:spPr>
            <a:xfrm>
              <a:off x="3011760" y="37288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17" name="CustomShape 61"/>
            <p:cNvSpPr/>
            <p:nvPr/>
          </p:nvSpPr>
          <p:spPr>
            <a:xfrm>
              <a:off x="3935880" y="26719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18" name="CustomShape 62"/>
            <p:cNvSpPr/>
            <p:nvPr/>
          </p:nvSpPr>
          <p:spPr>
            <a:xfrm>
              <a:off x="4383360" y="32083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19" name="CustomShape 63"/>
            <p:cNvSpPr/>
            <p:nvPr/>
          </p:nvSpPr>
          <p:spPr>
            <a:xfrm>
              <a:off x="5675760" y="26719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20" name="CustomShape 64"/>
            <p:cNvSpPr/>
            <p:nvPr/>
          </p:nvSpPr>
          <p:spPr>
            <a:xfrm>
              <a:off x="5270760" y="320832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21" name="CustomShape 65"/>
            <p:cNvSpPr/>
            <p:nvPr/>
          </p:nvSpPr>
          <p:spPr>
            <a:xfrm>
              <a:off x="6131160" y="320832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22" name="CustomShape 66"/>
            <p:cNvSpPr/>
            <p:nvPr/>
          </p:nvSpPr>
          <p:spPr>
            <a:xfrm>
              <a:off x="4840560" y="37288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23" name="CustomShape 67"/>
            <p:cNvSpPr/>
            <p:nvPr/>
          </p:nvSpPr>
          <p:spPr>
            <a:xfrm>
              <a:off x="6093000" y="37288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924" name="Group 68"/>
          <p:cNvGrpSpPr/>
          <p:nvPr/>
        </p:nvGrpSpPr>
        <p:grpSpPr>
          <a:xfrm>
            <a:off x="2117880" y="4313160"/>
            <a:ext cx="4858560" cy="1554840"/>
            <a:chOff x="2117880" y="4313160"/>
            <a:chExt cx="4858560" cy="1554840"/>
          </a:xfrm>
        </p:grpSpPr>
        <p:sp>
          <p:nvSpPr>
            <p:cNvPr id="925" name="CustomShape 69"/>
            <p:cNvSpPr/>
            <p:nvPr/>
          </p:nvSpPr>
          <p:spPr>
            <a:xfrm>
              <a:off x="3005280" y="494496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26" name="CustomShape 70"/>
            <p:cNvSpPr/>
            <p:nvPr/>
          </p:nvSpPr>
          <p:spPr>
            <a:xfrm>
              <a:off x="2117880" y="494496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27" name="CustomShape 71"/>
            <p:cNvSpPr/>
            <p:nvPr/>
          </p:nvSpPr>
          <p:spPr>
            <a:xfrm>
              <a:off x="3892680" y="494496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28" name="CustomShape 72"/>
            <p:cNvSpPr/>
            <p:nvPr/>
          </p:nvSpPr>
          <p:spPr>
            <a:xfrm>
              <a:off x="5667480" y="494496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29" name="CustomShape 73"/>
            <p:cNvSpPr/>
            <p:nvPr/>
          </p:nvSpPr>
          <p:spPr>
            <a:xfrm>
              <a:off x="4780080" y="494496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0" name="CustomShape 74"/>
            <p:cNvSpPr/>
            <p:nvPr/>
          </p:nvSpPr>
          <p:spPr>
            <a:xfrm>
              <a:off x="3057480" y="46004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1" name="CustomShape 75"/>
            <p:cNvSpPr/>
            <p:nvPr/>
          </p:nvSpPr>
          <p:spPr>
            <a:xfrm>
              <a:off x="3966840" y="460044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2" name="CustomShape 76"/>
            <p:cNvSpPr/>
            <p:nvPr/>
          </p:nvSpPr>
          <p:spPr>
            <a:xfrm>
              <a:off x="4827600" y="46004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3" name="CustomShape 77"/>
            <p:cNvSpPr/>
            <p:nvPr/>
          </p:nvSpPr>
          <p:spPr>
            <a:xfrm>
              <a:off x="5736960" y="46004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4" name="CustomShape 78"/>
            <p:cNvSpPr/>
            <p:nvPr/>
          </p:nvSpPr>
          <p:spPr>
            <a:xfrm>
              <a:off x="6648480" y="460044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5" name="CustomShape 79"/>
            <p:cNvSpPr/>
            <p:nvPr/>
          </p:nvSpPr>
          <p:spPr>
            <a:xfrm>
              <a:off x="6554880" y="494496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6" name="CustomShape 80"/>
            <p:cNvSpPr/>
            <p:nvPr/>
          </p:nvSpPr>
          <p:spPr>
            <a:xfrm>
              <a:off x="2157480" y="4600440"/>
              <a:ext cx="25632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37" name="Line 81"/>
            <p:cNvSpPr/>
            <p:nvPr/>
          </p:nvSpPr>
          <p:spPr>
            <a:xfrm>
              <a:off x="2530440" y="51620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38" name="Line 82"/>
            <p:cNvSpPr/>
            <p:nvPr/>
          </p:nvSpPr>
          <p:spPr>
            <a:xfrm>
              <a:off x="3416400" y="51620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39" name="Line 83"/>
            <p:cNvSpPr/>
            <p:nvPr/>
          </p:nvSpPr>
          <p:spPr>
            <a:xfrm>
              <a:off x="4313160" y="51620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0" name="Line 84"/>
            <p:cNvSpPr/>
            <p:nvPr/>
          </p:nvSpPr>
          <p:spPr>
            <a:xfrm>
              <a:off x="5199120" y="51620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1" name="Line 85"/>
            <p:cNvSpPr/>
            <p:nvPr/>
          </p:nvSpPr>
          <p:spPr>
            <a:xfrm>
              <a:off x="6076800" y="51620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2" name="CustomShape 86"/>
            <p:cNvSpPr/>
            <p:nvPr/>
          </p:nvSpPr>
          <p:spPr>
            <a:xfrm>
              <a:off x="3230640" y="4641480"/>
              <a:ext cx="169308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3" name="CustomShape 87"/>
            <p:cNvSpPr/>
            <p:nvPr/>
          </p:nvSpPr>
          <p:spPr>
            <a:xfrm>
              <a:off x="5022720" y="4641480"/>
              <a:ext cx="169344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4" name="CustomShape 88"/>
            <p:cNvSpPr/>
            <p:nvPr/>
          </p:nvSpPr>
          <p:spPr>
            <a:xfrm flipV="1">
              <a:off x="4127400" y="536472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5" name="CustomShape 89"/>
            <p:cNvSpPr/>
            <p:nvPr/>
          </p:nvSpPr>
          <p:spPr>
            <a:xfrm flipV="1">
              <a:off x="2341440" y="5364720"/>
              <a:ext cx="169344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6" name="CustomShape 90"/>
            <p:cNvSpPr/>
            <p:nvPr/>
          </p:nvSpPr>
          <p:spPr>
            <a:xfrm>
              <a:off x="4091040" y="5370120"/>
              <a:ext cx="2652120" cy="497880"/>
            </a:xfrm>
            <a:custGeom>
              <a:avLst/>
              <a:gdLst/>
              <a:ahLst/>
              <a:cxnLst/>
              <a:rect l="l" t="t" r="r" b="b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7" name="CustomShape 91"/>
            <p:cNvSpPr/>
            <p:nvPr/>
          </p:nvSpPr>
          <p:spPr>
            <a:xfrm>
              <a:off x="2581560" y="48495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48" name="CustomShape 92"/>
            <p:cNvSpPr/>
            <p:nvPr/>
          </p:nvSpPr>
          <p:spPr>
            <a:xfrm>
              <a:off x="3478680" y="48495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49" name="CustomShape 93"/>
            <p:cNvSpPr/>
            <p:nvPr/>
          </p:nvSpPr>
          <p:spPr>
            <a:xfrm>
              <a:off x="3011760" y="53701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0" name="CustomShape 94"/>
            <p:cNvSpPr/>
            <p:nvPr/>
          </p:nvSpPr>
          <p:spPr>
            <a:xfrm>
              <a:off x="3935880" y="43131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1" name="CustomShape 95"/>
            <p:cNvSpPr/>
            <p:nvPr/>
          </p:nvSpPr>
          <p:spPr>
            <a:xfrm>
              <a:off x="4383360" y="48495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2" name="CustomShape 96"/>
            <p:cNvSpPr/>
            <p:nvPr/>
          </p:nvSpPr>
          <p:spPr>
            <a:xfrm>
              <a:off x="5675760" y="43131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3" name="CustomShape 97"/>
            <p:cNvSpPr/>
            <p:nvPr/>
          </p:nvSpPr>
          <p:spPr>
            <a:xfrm>
              <a:off x="5270760" y="484956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4" name="CustomShape 98"/>
            <p:cNvSpPr/>
            <p:nvPr/>
          </p:nvSpPr>
          <p:spPr>
            <a:xfrm>
              <a:off x="6131160" y="484956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5" name="CustomShape 99"/>
            <p:cNvSpPr/>
            <p:nvPr/>
          </p:nvSpPr>
          <p:spPr>
            <a:xfrm>
              <a:off x="4840560" y="53701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56" name="CustomShape 100"/>
            <p:cNvSpPr/>
            <p:nvPr/>
          </p:nvSpPr>
          <p:spPr>
            <a:xfrm>
              <a:off x="6093000" y="53701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957" name="Group 101"/>
          <p:cNvGrpSpPr/>
          <p:nvPr/>
        </p:nvGrpSpPr>
        <p:grpSpPr>
          <a:xfrm>
            <a:off x="3451320" y="5010120"/>
            <a:ext cx="832680" cy="313560"/>
            <a:chOff x="3451320" y="5010120"/>
            <a:chExt cx="832680" cy="313560"/>
          </a:xfrm>
        </p:grpSpPr>
        <p:sp>
          <p:nvSpPr>
            <p:cNvPr id="958" name="Line 102"/>
            <p:cNvSpPr/>
            <p:nvPr/>
          </p:nvSpPr>
          <p:spPr>
            <a:xfrm>
              <a:off x="3451320" y="5154480"/>
              <a:ext cx="457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59" name="CustomShape 103"/>
            <p:cNvSpPr/>
            <p:nvPr/>
          </p:nvSpPr>
          <p:spPr>
            <a:xfrm>
              <a:off x="3935520" y="5010120"/>
              <a:ext cx="348480" cy="3135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960" name="Group 104"/>
          <p:cNvGrpSpPr/>
          <p:nvPr/>
        </p:nvGrpSpPr>
        <p:grpSpPr>
          <a:xfrm>
            <a:off x="3240000" y="4649760"/>
            <a:ext cx="1923480" cy="662400"/>
            <a:chOff x="3240000" y="4649760"/>
            <a:chExt cx="1923480" cy="662400"/>
          </a:xfrm>
        </p:grpSpPr>
        <p:sp>
          <p:nvSpPr>
            <p:cNvPr id="961" name="CustomShape 105"/>
            <p:cNvSpPr/>
            <p:nvPr/>
          </p:nvSpPr>
          <p:spPr>
            <a:xfrm>
              <a:off x="4815000" y="4998960"/>
              <a:ext cx="348480" cy="313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62" name="CustomShape 106"/>
            <p:cNvSpPr/>
            <p:nvPr/>
          </p:nvSpPr>
          <p:spPr>
            <a:xfrm>
              <a:off x="3240000" y="464976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941FB1C-52E4-4DFD-8DC7-94F49A2B3359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25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964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Example (cont.)</a:t>
            </a:r>
            <a:endParaRPr lang="en-US" sz="4400" b="0" strike="noStrike" spc="-1">
              <a:latin typeface="Arial"/>
            </a:endParaRPr>
          </a:p>
        </p:txBody>
      </p:sp>
      <p:grpSp>
        <p:nvGrpSpPr>
          <p:cNvPr id="965" name="Group 3"/>
          <p:cNvGrpSpPr/>
          <p:nvPr/>
        </p:nvGrpSpPr>
        <p:grpSpPr>
          <a:xfrm>
            <a:off x="1903320" y="1292400"/>
            <a:ext cx="4858560" cy="1554840"/>
            <a:chOff x="1903320" y="1292400"/>
            <a:chExt cx="4858560" cy="1554840"/>
          </a:xfrm>
        </p:grpSpPr>
        <p:sp>
          <p:nvSpPr>
            <p:cNvPr id="966" name="CustomShape 4"/>
            <p:cNvSpPr/>
            <p:nvPr/>
          </p:nvSpPr>
          <p:spPr>
            <a:xfrm>
              <a:off x="2790720" y="192420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67" name="CustomShape 5"/>
            <p:cNvSpPr/>
            <p:nvPr/>
          </p:nvSpPr>
          <p:spPr>
            <a:xfrm>
              <a:off x="1903320" y="192420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68" name="CustomShape 6"/>
            <p:cNvSpPr/>
            <p:nvPr/>
          </p:nvSpPr>
          <p:spPr>
            <a:xfrm>
              <a:off x="3678120" y="192420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69" name="CustomShape 7"/>
            <p:cNvSpPr/>
            <p:nvPr/>
          </p:nvSpPr>
          <p:spPr>
            <a:xfrm>
              <a:off x="5452920" y="192420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0" name="CustomShape 8"/>
            <p:cNvSpPr/>
            <p:nvPr/>
          </p:nvSpPr>
          <p:spPr>
            <a:xfrm>
              <a:off x="4565520" y="192420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1" name="CustomShape 9"/>
            <p:cNvSpPr/>
            <p:nvPr/>
          </p:nvSpPr>
          <p:spPr>
            <a:xfrm>
              <a:off x="2842920" y="15796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2" name="CustomShape 10"/>
            <p:cNvSpPr/>
            <p:nvPr/>
          </p:nvSpPr>
          <p:spPr>
            <a:xfrm>
              <a:off x="3752640" y="157968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3" name="CustomShape 11"/>
            <p:cNvSpPr/>
            <p:nvPr/>
          </p:nvSpPr>
          <p:spPr>
            <a:xfrm>
              <a:off x="4613040" y="15796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4" name="CustomShape 12"/>
            <p:cNvSpPr/>
            <p:nvPr/>
          </p:nvSpPr>
          <p:spPr>
            <a:xfrm>
              <a:off x="5522760" y="15796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5" name="CustomShape 13"/>
            <p:cNvSpPr/>
            <p:nvPr/>
          </p:nvSpPr>
          <p:spPr>
            <a:xfrm>
              <a:off x="6433920" y="15796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6" name="CustomShape 14"/>
            <p:cNvSpPr/>
            <p:nvPr/>
          </p:nvSpPr>
          <p:spPr>
            <a:xfrm>
              <a:off x="6340320" y="192420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7" name="CustomShape 15"/>
            <p:cNvSpPr/>
            <p:nvPr/>
          </p:nvSpPr>
          <p:spPr>
            <a:xfrm>
              <a:off x="1942920" y="1579680"/>
              <a:ext cx="25632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78" name="Line 16"/>
            <p:cNvSpPr/>
            <p:nvPr/>
          </p:nvSpPr>
          <p:spPr>
            <a:xfrm>
              <a:off x="2316240" y="21416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79" name="Line 17"/>
            <p:cNvSpPr/>
            <p:nvPr/>
          </p:nvSpPr>
          <p:spPr>
            <a:xfrm>
              <a:off x="3201840" y="21416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0" name="Line 18"/>
            <p:cNvSpPr/>
            <p:nvPr/>
          </p:nvSpPr>
          <p:spPr>
            <a:xfrm>
              <a:off x="4098960" y="21416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1" name="Line 19"/>
            <p:cNvSpPr/>
            <p:nvPr/>
          </p:nvSpPr>
          <p:spPr>
            <a:xfrm>
              <a:off x="4984920" y="2141640"/>
              <a:ext cx="48384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2" name="Line 20"/>
            <p:cNvSpPr/>
            <p:nvPr/>
          </p:nvSpPr>
          <p:spPr>
            <a:xfrm>
              <a:off x="5862600" y="21416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3" name="CustomShape 21"/>
            <p:cNvSpPr/>
            <p:nvPr/>
          </p:nvSpPr>
          <p:spPr>
            <a:xfrm>
              <a:off x="3016080" y="1620720"/>
              <a:ext cx="169344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4" name="CustomShape 22"/>
            <p:cNvSpPr/>
            <p:nvPr/>
          </p:nvSpPr>
          <p:spPr>
            <a:xfrm>
              <a:off x="4808520" y="1620720"/>
              <a:ext cx="169308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5" name="CustomShape 23"/>
            <p:cNvSpPr/>
            <p:nvPr/>
          </p:nvSpPr>
          <p:spPr>
            <a:xfrm flipV="1">
              <a:off x="3913200" y="234396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6" name="CustomShape 24"/>
            <p:cNvSpPr/>
            <p:nvPr/>
          </p:nvSpPr>
          <p:spPr>
            <a:xfrm flipV="1">
              <a:off x="2127240" y="234396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7" name="CustomShape 25"/>
            <p:cNvSpPr/>
            <p:nvPr/>
          </p:nvSpPr>
          <p:spPr>
            <a:xfrm>
              <a:off x="3876840" y="2349360"/>
              <a:ext cx="2651760" cy="497880"/>
            </a:xfrm>
            <a:custGeom>
              <a:avLst/>
              <a:gdLst/>
              <a:ahLst/>
              <a:cxnLst/>
              <a:rect l="l" t="t" r="r" b="b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8" name="CustomShape 26"/>
            <p:cNvSpPr/>
            <p:nvPr/>
          </p:nvSpPr>
          <p:spPr>
            <a:xfrm>
              <a:off x="2367360" y="18288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89" name="CustomShape 27"/>
            <p:cNvSpPr/>
            <p:nvPr/>
          </p:nvSpPr>
          <p:spPr>
            <a:xfrm>
              <a:off x="3264120" y="18288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0" name="CustomShape 28"/>
            <p:cNvSpPr/>
            <p:nvPr/>
          </p:nvSpPr>
          <p:spPr>
            <a:xfrm>
              <a:off x="2797560" y="23493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1" name="CustomShape 29"/>
            <p:cNvSpPr/>
            <p:nvPr/>
          </p:nvSpPr>
          <p:spPr>
            <a:xfrm>
              <a:off x="3721320" y="12924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2" name="CustomShape 30"/>
            <p:cNvSpPr/>
            <p:nvPr/>
          </p:nvSpPr>
          <p:spPr>
            <a:xfrm>
              <a:off x="4169160" y="18288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3" name="CustomShape 31"/>
            <p:cNvSpPr/>
            <p:nvPr/>
          </p:nvSpPr>
          <p:spPr>
            <a:xfrm>
              <a:off x="5461200" y="12924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4" name="CustomShape 32"/>
            <p:cNvSpPr/>
            <p:nvPr/>
          </p:nvSpPr>
          <p:spPr>
            <a:xfrm>
              <a:off x="5056560" y="182880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5" name="CustomShape 33"/>
            <p:cNvSpPr/>
            <p:nvPr/>
          </p:nvSpPr>
          <p:spPr>
            <a:xfrm>
              <a:off x="5916960" y="182880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6" name="CustomShape 34"/>
            <p:cNvSpPr/>
            <p:nvPr/>
          </p:nvSpPr>
          <p:spPr>
            <a:xfrm>
              <a:off x="4626360" y="23493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7" name="CustomShape 35"/>
            <p:cNvSpPr/>
            <p:nvPr/>
          </p:nvSpPr>
          <p:spPr>
            <a:xfrm>
              <a:off x="5878800" y="23493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998" name="Line 36"/>
            <p:cNvSpPr/>
            <p:nvPr/>
          </p:nvSpPr>
          <p:spPr>
            <a:xfrm>
              <a:off x="3236760" y="2133720"/>
              <a:ext cx="457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99" name="CustomShape 37"/>
            <p:cNvSpPr/>
            <p:nvPr/>
          </p:nvSpPr>
          <p:spPr>
            <a:xfrm>
              <a:off x="3025800" y="1628640"/>
              <a:ext cx="169308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000" name="Group 38"/>
          <p:cNvGrpSpPr/>
          <p:nvPr/>
        </p:nvGrpSpPr>
        <p:grpSpPr>
          <a:xfrm>
            <a:off x="3911760" y="1979640"/>
            <a:ext cx="1924920" cy="680040"/>
            <a:chOff x="3911760" y="1979640"/>
            <a:chExt cx="1924920" cy="680040"/>
          </a:xfrm>
        </p:grpSpPr>
        <p:sp>
          <p:nvSpPr>
            <p:cNvPr id="1001" name="CustomShape 39"/>
            <p:cNvSpPr/>
            <p:nvPr/>
          </p:nvSpPr>
          <p:spPr>
            <a:xfrm>
              <a:off x="5487840" y="1979640"/>
              <a:ext cx="348840" cy="3135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02" name="CustomShape 40"/>
            <p:cNvSpPr/>
            <p:nvPr/>
          </p:nvSpPr>
          <p:spPr>
            <a:xfrm flipV="1">
              <a:off x="3911760" y="234396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003" name="Group 41"/>
          <p:cNvGrpSpPr/>
          <p:nvPr/>
        </p:nvGrpSpPr>
        <p:grpSpPr>
          <a:xfrm>
            <a:off x="3875040" y="1982880"/>
            <a:ext cx="2849040" cy="864360"/>
            <a:chOff x="3875040" y="1982880"/>
            <a:chExt cx="2849040" cy="864360"/>
          </a:xfrm>
        </p:grpSpPr>
        <p:sp>
          <p:nvSpPr>
            <p:cNvPr id="1004" name="CustomShape 42"/>
            <p:cNvSpPr/>
            <p:nvPr/>
          </p:nvSpPr>
          <p:spPr>
            <a:xfrm>
              <a:off x="6375240" y="1982880"/>
              <a:ext cx="348840" cy="3135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05" name="CustomShape 43"/>
            <p:cNvSpPr/>
            <p:nvPr/>
          </p:nvSpPr>
          <p:spPr>
            <a:xfrm>
              <a:off x="3875040" y="2349360"/>
              <a:ext cx="2652120" cy="497880"/>
            </a:xfrm>
            <a:custGeom>
              <a:avLst/>
              <a:gdLst/>
              <a:ahLst/>
              <a:cxnLst/>
              <a:rect l="l" t="t" r="r" b="b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006" name="CustomShape 44"/>
          <p:cNvSpPr/>
          <p:nvPr/>
        </p:nvSpPr>
        <p:spPr>
          <a:xfrm flipV="1">
            <a:off x="4005360" y="3946320"/>
            <a:ext cx="1693080" cy="315360"/>
          </a:xfrm>
          <a:custGeom>
            <a:avLst/>
            <a:gdLst/>
            <a:ahLst/>
            <a:cxnLst/>
            <a:rect l="l" t="t" r="r" b="b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57240">
            <a:solidFill>
              <a:srgbClr val="8080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1007" name="Group 45"/>
          <p:cNvGrpSpPr/>
          <p:nvPr/>
        </p:nvGrpSpPr>
        <p:grpSpPr>
          <a:xfrm>
            <a:off x="1974960" y="2905200"/>
            <a:ext cx="4858560" cy="1554480"/>
            <a:chOff x="1974960" y="2905200"/>
            <a:chExt cx="4858560" cy="1554480"/>
          </a:xfrm>
        </p:grpSpPr>
        <p:sp>
          <p:nvSpPr>
            <p:cNvPr id="1008" name="CustomShape 46"/>
            <p:cNvSpPr/>
            <p:nvPr/>
          </p:nvSpPr>
          <p:spPr>
            <a:xfrm>
              <a:off x="3792960" y="29052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09" name="CustomShape 47"/>
            <p:cNvSpPr/>
            <p:nvPr/>
          </p:nvSpPr>
          <p:spPr>
            <a:xfrm>
              <a:off x="5532840" y="29052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0" name="CustomShape 48"/>
            <p:cNvSpPr/>
            <p:nvPr/>
          </p:nvSpPr>
          <p:spPr>
            <a:xfrm>
              <a:off x="2862360" y="353664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1" name="CustomShape 49"/>
            <p:cNvSpPr/>
            <p:nvPr/>
          </p:nvSpPr>
          <p:spPr>
            <a:xfrm>
              <a:off x="1974960" y="353664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2" name="CustomShape 50"/>
            <p:cNvSpPr/>
            <p:nvPr/>
          </p:nvSpPr>
          <p:spPr>
            <a:xfrm>
              <a:off x="3749760" y="353664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3" name="CustomShape 51"/>
            <p:cNvSpPr/>
            <p:nvPr/>
          </p:nvSpPr>
          <p:spPr>
            <a:xfrm>
              <a:off x="5524560" y="353664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4" name="CustomShape 52"/>
            <p:cNvSpPr/>
            <p:nvPr/>
          </p:nvSpPr>
          <p:spPr>
            <a:xfrm>
              <a:off x="4637160" y="3536640"/>
              <a:ext cx="421560" cy="41976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5" name="CustomShape 53"/>
            <p:cNvSpPr/>
            <p:nvPr/>
          </p:nvSpPr>
          <p:spPr>
            <a:xfrm>
              <a:off x="2914560" y="31921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6" name="CustomShape 54"/>
            <p:cNvSpPr/>
            <p:nvPr/>
          </p:nvSpPr>
          <p:spPr>
            <a:xfrm>
              <a:off x="3824280" y="319212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7" name="CustomShape 55"/>
            <p:cNvSpPr/>
            <p:nvPr/>
          </p:nvSpPr>
          <p:spPr>
            <a:xfrm>
              <a:off x="4684680" y="31921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8" name="CustomShape 56"/>
            <p:cNvSpPr/>
            <p:nvPr/>
          </p:nvSpPr>
          <p:spPr>
            <a:xfrm>
              <a:off x="5594400" y="31921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19" name="CustomShape 57"/>
            <p:cNvSpPr/>
            <p:nvPr/>
          </p:nvSpPr>
          <p:spPr>
            <a:xfrm>
              <a:off x="6505560" y="319212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20" name="CustomShape 58"/>
            <p:cNvSpPr/>
            <p:nvPr/>
          </p:nvSpPr>
          <p:spPr>
            <a:xfrm>
              <a:off x="6411960" y="3536640"/>
              <a:ext cx="421560" cy="419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21" name="CustomShape 59"/>
            <p:cNvSpPr/>
            <p:nvPr/>
          </p:nvSpPr>
          <p:spPr>
            <a:xfrm>
              <a:off x="2014560" y="3192120"/>
              <a:ext cx="25632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22" name="Line 60"/>
            <p:cNvSpPr/>
            <p:nvPr/>
          </p:nvSpPr>
          <p:spPr>
            <a:xfrm>
              <a:off x="2387520" y="375408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3" name="Line 61"/>
            <p:cNvSpPr/>
            <p:nvPr/>
          </p:nvSpPr>
          <p:spPr>
            <a:xfrm>
              <a:off x="3273480" y="375408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4" name="Line 62"/>
            <p:cNvSpPr/>
            <p:nvPr/>
          </p:nvSpPr>
          <p:spPr>
            <a:xfrm>
              <a:off x="4170240" y="375408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5" name="Line 63"/>
            <p:cNvSpPr/>
            <p:nvPr/>
          </p:nvSpPr>
          <p:spPr>
            <a:xfrm>
              <a:off x="5056200" y="375408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6" name="Line 64"/>
            <p:cNvSpPr/>
            <p:nvPr/>
          </p:nvSpPr>
          <p:spPr>
            <a:xfrm>
              <a:off x="5934240" y="375408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7" name="CustomShape 65"/>
            <p:cNvSpPr/>
            <p:nvPr/>
          </p:nvSpPr>
          <p:spPr>
            <a:xfrm>
              <a:off x="3087720" y="3233520"/>
              <a:ext cx="1693080" cy="31464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8" name="CustomShape 66"/>
            <p:cNvSpPr/>
            <p:nvPr/>
          </p:nvSpPr>
          <p:spPr>
            <a:xfrm>
              <a:off x="4880160" y="3233520"/>
              <a:ext cx="1693080" cy="31464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9" name="CustomShape 67"/>
            <p:cNvSpPr/>
            <p:nvPr/>
          </p:nvSpPr>
          <p:spPr>
            <a:xfrm flipV="1">
              <a:off x="3984480" y="3956400"/>
              <a:ext cx="169344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0" name="CustomShape 68"/>
            <p:cNvSpPr/>
            <p:nvPr/>
          </p:nvSpPr>
          <p:spPr>
            <a:xfrm flipV="1">
              <a:off x="2198880" y="395640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1" name="CustomShape 69"/>
            <p:cNvSpPr/>
            <p:nvPr/>
          </p:nvSpPr>
          <p:spPr>
            <a:xfrm>
              <a:off x="3948120" y="3962160"/>
              <a:ext cx="2652120" cy="497520"/>
            </a:xfrm>
            <a:custGeom>
              <a:avLst/>
              <a:gdLst/>
              <a:ahLst/>
              <a:cxnLst/>
              <a:rect l="l" t="t" r="r" b="b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2" name="CustomShape 70"/>
            <p:cNvSpPr/>
            <p:nvPr/>
          </p:nvSpPr>
          <p:spPr>
            <a:xfrm>
              <a:off x="2438640" y="34416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33" name="CustomShape 71"/>
            <p:cNvSpPr/>
            <p:nvPr/>
          </p:nvSpPr>
          <p:spPr>
            <a:xfrm>
              <a:off x="3335760" y="34416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34" name="CustomShape 72"/>
            <p:cNvSpPr/>
            <p:nvPr/>
          </p:nvSpPr>
          <p:spPr>
            <a:xfrm>
              <a:off x="2868840" y="39621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35" name="CustomShape 73"/>
            <p:cNvSpPr/>
            <p:nvPr/>
          </p:nvSpPr>
          <p:spPr>
            <a:xfrm>
              <a:off x="4240440" y="34416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36" name="CustomShape 74"/>
            <p:cNvSpPr/>
            <p:nvPr/>
          </p:nvSpPr>
          <p:spPr>
            <a:xfrm>
              <a:off x="5127840" y="344160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37" name="CustomShape 75"/>
            <p:cNvSpPr/>
            <p:nvPr/>
          </p:nvSpPr>
          <p:spPr>
            <a:xfrm>
              <a:off x="5988240" y="344160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38" name="CustomShape 76"/>
            <p:cNvSpPr/>
            <p:nvPr/>
          </p:nvSpPr>
          <p:spPr>
            <a:xfrm>
              <a:off x="4697640" y="39621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39" name="CustomShape 77"/>
            <p:cNvSpPr/>
            <p:nvPr/>
          </p:nvSpPr>
          <p:spPr>
            <a:xfrm>
              <a:off x="5950440" y="396216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40" name="Line 78"/>
            <p:cNvSpPr/>
            <p:nvPr/>
          </p:nvSpPr>
          <p:spPr>
            <a:xfrm>
              <a:off x="3308400" y="3746160"/>
              <a:ext cx="457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41" name="CustomShape 79"/>
            <p:cNvSpPr/>
            <p:nvPr/>
          </p:nvSpPr>
          <p:spPr>
            <a:xfrm>
              <a:off x="3097080" y="3241440"/>
              <a:ext cx="1693440" cy="31464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42" name="CustomShape 80"/>
            <p:cNvSpPr/>
            <p:nvPr/>
          </p:nvSpPr>
          <p:spPr>
            <a:xfrm>
              <a:off x="6446880" y="3595320"/>
              <a:ext cx="348480" cy="313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43" name="CustomShape 81"/>
            <p:cNvSpPr/>
            <p:nvPr/>
          </p:nvSpPr>
          <p:spPr>
            <a:xfrm>
              <a:off x="3946680" y="3962160"/>
              <a:ext cx="2651760" cy="497520"/>
            </a:xfrm>
            <a:custGeom>
              <a:avLst/>
              <a:gdLst/>
              <a:ahLst/>
              <a:cxnLst/>
              <a:rect l="l" t="t" r="r" b="b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044" name="Group 82"/>
          <p:cNvGrpSpPr/>
          <p:nvPr/>
        </p:nvGrpSpPr>
        <p:grpSpPr>
          <a:xfrm>
            <a:off x="5064120" y="3600360"/>
            <a:ext cx="845280" cy="313560"/>
            <a:chOff x="5064120" y="3600360"/>
            <a:chExt cx="845280" cy="313560"/>
          </a:xfrm>
        </p:grpSpPr>
        <p:sp>
          <p:nvSpPr>
            <p:cNvPr id="1045" name="CustomShape 83"/>
            <p:cNvSpPr/>
            <p:nvPr/>
          </p:nvSpPr>
          <p:spPr>
            <a:xfrm>
              <a:off x="5560920" y="3600360"/>
              <a:ext cx="348480" cy="3135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46" name="Line 84"/>
            <p:cNvSpPr/>
            <p:nvPr/>
          </p:nvSpPr>
          <p:spPr>
            <a:xfrm>
              <a:off x="5064120" y="3754440"/>
              <a:ext cx="484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047" name="CustomShape 85"/>
          <p:cNvSpPr/>
          <p:nvPr/>
        </p:nvSpPr>
        <p:spPr>
          <a:xfrm flipV="1">
            <a:off x="4006800" y="3947760"/>
            <a:ext cx="1693080" cy="315360"/>
          </a:xfrm>
          <a:custGeom>
            <a:avLst/>
            <a:gdLst/>
            <a:ahLst/>
            <a:cxnLst/>
            <a:rect l="l" t="t" r="r" b="b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76320">
            <a:solidFill>
              <a:srgbClr val="333333"/>
            </a:solidFill>
            <a:prstDash val="sysDot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48" name="CustomShape 86"/>
          <p:cNvSpPr/>
          <p:nvPr/>
        </p:nvSpPr>
        <p:spPr>
          <a:xfrm>
            <a:off x="3948120" y="5656320"/>
            <a:ext cx="2652120" cy="497520"/>
          </a:xfrm>
          <a:custGeom>
            <a:avLst/>
            <a:gdLst/>
            <a:ahLst/>
            <a:cxnLst/>
            <a:rect l="l" t="t" r="r" b="b"/>
            <a:pathLst>
              <a:path w="1671" h="314">
                <a:moveTo>
                  <a:pt x="0" y="0"/>
                </a:moveTo>
                <a:cubicBezTo>
                  <a:pt x="159" y="107"/>
                  <a:pt x="319" y="215"/>
                  <a:pt x="514" y="260"/>
                </a:cubicBezTo>
                <a:cubicBezTo>
                  <a:pt x="709" y="305"/>
                  <a:pt x="976" y="314"/>
                  <a:pt x="1169" y="271"/>
                </a:cubicBezTo>
                <a:cubicBezTo>
                  <a:pt x="1362" y="228"/>
                  <a:pt x="1516" y="114"/>
                  <a:pt x="1671" y="0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49" name="CustomShape 87"/>
          <p:cNvSpPr/>
          <p:nvPr/>
        </p:nvSpPr>
        <p:spPr>
          <a:xfrm>
            <a:off x="3965400" y="5637240"/>
            <a:ext cx="2652120" cy="497880"/>
          </a:xfrm>
          <a:custGeom>
            <a:avLst/>
            <a:gdLst/>
            <a:ahLst/>
            <a:cxnLst/>
            <a:rect l="l" t="t" r="r" b="b"/>
            <a:pathLst>
              <a:path w="1671" h="314">
                <a:moveTo>
                  <a:pt x="0" y="0"/>
                </a:moveTo>
                <a:cubicBezTo>
                  <a:pt x="159" y="107"/>
                  <a:pt x="319" y="215"/>
                  <a:pt x="514" y="260"/>
                </a:cubicBezTo>
                <a:cubicBezTo>
                  <a:pt x="709" y="305"/>
                  <a:pt x="976" y="314"/>
                  <a:pt x="1169" y="271"/>
                </a:cubicBezTo>
                <a:cubicBezTo>
                  <a:pt x="1362" y="228"/>
                  <a:pt x="1516" y="114"/>
                  <a:pt x="1671" y="0"/>
                </a:cubicBezTo>
              </a:path>
            </a:pathLst>
          </a:custGeom>
          <a:noFill/>
          <a:ln w="57240">
            <a:solidFill>
              <a:srgbClr val="8080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1050" name="Group 88"/>
          <p:cNvGrpSpPr/>
          <p:nvPr/>
        </p:nvGrpSpPr>
        <p:grpSpPr>
          <a:xfrm>
            <a:off x="1974960" y="4599000"/>
            <a:ext cx="4858560" cy="1424880"/>
            <a:chOff x="1974960" y="4599000"/>
            <a:chExt cx="4858560" cy="1424880"/>
          </a:xfrm>
        </p:grpSpPr>
        <p:sp>
          <p:nvSpPr>
            <p:cNvPr id="1051" name="CustomShape 89"/>
            <p:cNvSpPr/>
            <p:nvPr/>
          </p:nvSpPr>
          <p:spPr>
            <a:xfrm>
              <a:off x="3792960" y="45990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52" name="CustomShape 90"/>
            <p:cNvSpPr/>
            <p:nvPr/>
          </p:nvSpPr>
          <p:spPr>
            <a:xfrm>
              <a:off x="5532840" y="45990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53" name="CustomShape 91"/>
            <p:cNvSpPr/>
            <p:nvPr/>
          </p:nvSpPr>
          <p:spPr>
            <a:xfrm>
              <a:off x="2862360" y="523080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54" name="CustomShape 92"/>
            <p:cNvSpPr/>
            <p:nvPr/>
          </p:nvSpPr>
          <p:spPr>
            <a:xfrm>
              <a:off x="1974960" y="523080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55" name="CustomShape 93"/>
            <p:cNvSpPr/>
            <p:nvPr/>
          </p:nvSpPr>
          <p:spPr>
            <a:xfrm>
              <a:off x="3749760" y="523080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56" name="CustomShape 94"/>
            <p:cNvSpPr/>
            <p:nvPr/>
          </p:nvSpPr>
          <p:spPr>
            <a:xfrm>
              <a:off x="5524560" y="523080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57" name="CustomShape 95"/>
            <p:cNvSpPr/>
            <p:nvPr/>
          </p:nvSpPr>
          <p:spPr>
            <a:xfrm>
              <a:off x="4637160" y="523080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58" name="CustomShape 96"/>
            <p:cNvSpPr/>
            <p:nvPr/>
          </p:nvSpPr>
          <p:spPr>
            <a:xfrm>
              <a:off x="2914560" y="48862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59" name="CustomShape 97"/>
            <p:cNvSpPr/>
            <p:nvPr/>
          </p:nvSpPr>
          <p:spPr>
            <a:xfrm>
              <a:off x="3824280" y="488628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60" name="CustomShape 98"/>
            <p:cNvSpPr/>
            <p:nvPr/>
          </p:nvSpPr>
          <p:spPr>
            <a:xfrm>
              <a:off x="4684680" y="48862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61" name="CustomShape 99"/>
            <p:cNvSpPr/>
            <p:nvPr/>
          </p:nvSpPr>
          <p:spPr>
            <a:xfrm>
              <a:off x="5594040" y="48862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62" name="CustomShape 100"/>
            <p:cNvSpPr/>
            <p:nvPr/>
          </p:nvSpPr>
          <p:spPr>
            <a:xfrm>
              <a:off x="6505560" y="488628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63" name="CustomShape 101"/>
            <p:cNvSpPr/>
            <p:nvPr/>
          </p:nvSpPr>
          <p:spPr>
            <a:xfrm>
              <a:off x="6411960" y="523080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64" name="CustomShape 102"/>
            <p:cNvSpPr/>
            <p:nvPr/>
          </p:nvSpPr>
          <p:spPr>
            <a:xfrm>
              <a:off x="2014560" y="4886280"/>
              <a:ext cx="25632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65" name="Line 103"/>
            <p:cNvSpPr/>
            <p:nvPr/>
          </p:nvSpPr>
          <p:spPr>
            <a:xfrm>
              <a:off x="2387520" y="54482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6" name="Line 104"/>
            <p:cNvSpPr/>
            <p:nvPr/>
          </p:nvSpPr>
          <p:spPr>
            <a:xfrm>
              <a:off x="3273480" y="54482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7" name="Line 105"/>
            <p:cNvSpPr/>
            <p:nvPr/>
          </p:nvSpPr>
          <p:spPr>
            <a:xfrm>
              <a:off x="4170240" y="54482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8" name="Line 106"/>
            <p:cNvSpPr/>
            <p:nvPr/>
          </p:nvSpPr>
          <p:spPr>
            <a:xfrm>
              <a:off x="5056200" y="54482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9" name="Line 107"/>
            <p:cNvSpPr/>
            <p:nvPr/>
          </p:nvSpPr>
          <p:spPr>
            <a:xfrm>
              <a:off x="5934240" y="544824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0" name="CustomShape 108"/>
            <p:cNvSpPr/>
            <p:nvPr/>
          </p:nvSpPr>
          <p:spPr>
            <a:xfrm>
              <a:off x="3087720" y="492768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1" name="CustomShape 109"/>
            <p:cNvSpPr/>
            <p:nvPr/>
          </p:nvSpPr>
          <p:spPr>
            <a:xfrm>
              <a:off x="4879800" y="4927680"/>
              <a:ext cx="169344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2" name="CustomShape 110"/>
            <p:cNvSpPr/>
            <p:nvPr/>
          </p:nvSpPr>
          <p:spPr>
            <a:xfrm flipV="1">
              <a:off x="3984480" y="5651280"/>
              <a:ext cx="169344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3" name="CustomShape 111"/>
            <p:cNvSpPr/>
            <p:nvPr/>
          </p:nvSpPr>
          <p:spPr>
            <a:xfrm flipV="1">
              <a:off x="2198520" y="5651280"/>
              <a:ext cx="169344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4" name="CustomShape 112"/>
            <p:cNvSpPr/>
            <p:nvPr/>
          </p:nvSpPr>
          <p:spPr>
            <a:xfrm>
              <a:off x="2438640" y="51354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75" name="CustomShape 113"/>
            <p:cNvSpPr/>
            <p:nvPr/>
          </p:nvSpPr>
          <p:spPr>
            <a:xfrm>
              <a:off x="3335760" y="51354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76" name="CustomShape 114"/>
            <p:cNvSpPr/>
            <p:nvPr/>
          </p:nvSpPr>
          <p:spPr>
            <a:xfrm>
              <a:off x="2868840" y="56563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77" name="CustomShape 115"/>
            <p:cNvSpPr/>
            <p:nvPr/>
          </p:nvSpPr>
          <p:spPr>
            <a:xfrm>
              <a:off x="4240440" y="513540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78" name="CustomShape 116"/>
            <p:cNvSpPr/>
            <p:nvPr/>
          </p:nvSpPr>
          <p:spPr>
            <a:xfrm>
              <a:off x="5127840" y="513540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79" name="CustomShape 117"/>
            <p:cNvSpPr/>
            <p:nvPr/>
          </p:nvSpPr>
          <p:spPr>
            <a:xfrm>
              <a:off x="5988240" y="513540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80" name="CustomShape 118"/>
            <p:cNvSpPr/>
            <p:nvPr/>
          </p:nvSpPr>
          <p:spPr>
            <a:xfrm>
              <a:off x="4697640" y="56563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81" name="CustomShape 119"/>
            <p:cNvSpPr/>
            <p:nvPr/>
          </p:nvSpPr>
          <p:spPr>
            <a:xfrm>
              <a:off x="5950440" y="56563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82" name="Line 120"/>
            <p:cNvSpPr/>
            <p:nvPr/>
          </p:nvSpPr>
          <p:spPr>
            <a:xfrm>
              <a:off x="3308400" y="5440320"/>
              <a:ext cx="457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83" name="CustomShape 121"/>
            <p:cNvSpPr/>
            <p:nvPr/>
          </p:nvSpPr>
          <p:spPr>
            <a:xfrm>
              <a:off x="3097080" y="4935600"/>
              <a:ext cx="169344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84" name="CustomShape 122"/>
            <p:cNvSpPr/>
            <p:nvPr/>
          </p:nvSpPr>
          <p:spPr>
            <a:xfrm>
              <a:off x="6446880" y="5289480"/>
              <a:ext cx="348480" cy="3135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85" name="Line 123"/>
            <p:cNvSpPr/>
            <p:nvPr/>
          </p:nvSpPr>
          <p:spPr>
            <a:xfrm>
              <a:off x="5073480" y="5457960"/>
              <a:ext cx="484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086" name="Group 124"/>
          <p:cNvGrpSpPr/>
          <p:nvPr/>
        </p:nvGrpSpPr>
        <p:grpSpPr>
          <a:xfrm>
            <a:off x="5951520" y="5294160"/>
            <a:ext cx="856440" cy="313920"/>
            <a:chOff x="5951520" y="5294160"/>
            <a:chExt cx="856440" cy="313920"/>
          </a:xfrm>
        </p:grpSpPr>
        <p:sp>
          <p:nvSpPr>
            <p:cNvPr id="1087" name="CustomShape 125"/>
            <p:cNvSpPr/>
            <p:nvPr/>
          </p:nvSpPr>
          <p:spPr>
            <a:xfrm>
              <a:off x="6459480" y="5294160"/>
              <a:ext cx="348480" cy="3139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88" name="Line 126"/>
            <p:cNvSpPr/>
            <p:nvPr/>
          </p:nvSpPr>
          <p:spPr>
            <a:xfrm>
              <a:off x="5951520" y="5456160"/>
              <a:ext cx="484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089" name="CustomShape 127"/>
          <p:cNvSpPr/>
          <p:nvPr/>
        </p:nvSpPr>
        <p:spPr>
          <a:xfrm>
            <a:off x="3957480" y="5637240"/>
            <a:ext cx="2652120" cy="497880"/>
          </a:xfrm>
          <a:custGeom>
            <a:avLst/>
            <a:gdLst/>
            <a:ahLst/>
            <a:cxnLst/>
            <a:rect l="l" t="t" r="r" b="b"/>
            <a:pathLst>
              <a:path w="1671" h="314">
                <a:moveTo>
                  <a:pt x="0" y="0"/>
                </a:moveTo>
                <a:cubicBezTo>
                  <a:pt x="159" y="107"/>
                  <a:pt x="319" y="215"/>
                  <a:pt x="514" y="260"/>
                </a:cubicBezTo>
                <a:cubicBezTo>
                  <a:pt x="709" y="305"/>
                  <a:pt x="976" y="314"/>
                  <a:pt x="1169" y="271"/>
                </a:cubicBezTo>
                <a:cubicBezTo>
                  <a:pt x="1362" y="228"/>
                  <a:pt x="1516" y="114"/>
                  <a:pt x="1671" y="0"/>
                </a:cubicBezTo>
              </a:path>
            </a:pathLst>
          </a:custGeom>
          <a:noFill/>
          <a:ln w="76320">
            <a:solidFill>
              <a:srgbClr val="000000"/>
            </a:solidFill>
            <a:prstDash val="sysDot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 additive="repl">
                                        <p:cTn id="22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Effect">
                      <p:stCondLst>
                        <p:cond delay="indefinite"/>
                      </p:stCondLst>
                      <p:childTnLst>
                        <p:par>
                          <p:cTn id="2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Effect">
                      <p:stCondLst>
                        <p:cond delay="indefinite"/>
                      </p:stCondLst>
                      <p:childTnLst>
                        <p:par>
                          <p:cTn id="3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 additive="repl">
                                        <p:cTn id="39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AABED83-CC76-46EF-9311-503DAF38DAC8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26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091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Example (cont.)</a:t>
            </a:r>
            <a:endParaRPr lang="en-US" sz="4400" b="0" strike="noStrike" spc="-1">
              <a:latin typeface="Arial"/>
            </a:endParaRPr>
          </a:p>
        </p:txBody>
      </p:sp>
      <p:grpSp>
        <p:nvGrpSpPr>
          <p:cNvPr id="1092" name="Group 3"/>
          <p:cNvGrpSpPr/>
          <p:nvPr/>
        </p:nvGrpSpPr>
        <p:grpSpPr>
          <a:xfrm>
            <a:off x="1984320" y="2320920"/>
            <a:ext cx="4858560" cy="1555200"/>
            <a:chOff x="1984320" y="2320920"/>
            <a:chExt cx="4858560" cy="1555200"/>
          </a:xfrm>
        </p:grpSpPr>
        <p:sp>
          <p:nvSpPr>
            <p:cNvPr id="1093" name="CustomShape 4"/>
            <p:cNvSpPr/>
            <p:nvPr/>
          </p:nvSpPr>
          <p:spPr>
            <a:xfrm>
              <a:off x="3802320" y="23209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94" name="CustomShape 5"/>
            <p:cNvSpPr/>
            <p:nvPr/>
          </p:nvSpPr>
          <p:spPr>
            <a:xfrm>
              <a:off x="5542200" y="232092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95" name="CustomShape 6"/>
            <p:cNvSpPr/>
            <p:nvPr/>
          </p:nvSpPr>
          <p:spPr>
            <a:xfrm>
              <a:off x="2871720" y="295272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96" name="CustomShape 7"/>
            <p:cNvSpPr/>
            <p:nvPr/>
          </p:nvSpPr>
          <p:spPr>
            <a:xfrm>
              <a:off x="1984320" y="295272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97" name="CustomShape 8"/>
            <p:cNvSpPr/>
            <p:nvPr/>
          </p:nvSpPr>
          <p:spPr>
            <a:xfrm>
              <a:off x="3759120" y="295272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98" name="CustomShape 9"/>
            <p:cNvSpPr/>
            <p:nvPr/>
          </p:nvSpPr>
          <p:spPr>
            <a:xfrm>
              <a:off x="5533920" y="295272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099" name="CustomShape 10"/>
            <p:cNvSpPr/>
            <p:nvPr/>
          </p:nvSpPr>
          <p:spPr>
            <a:xfrm>
              <a:off x="4646520" y="295272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0" name="CustomShape 11"/>
            <p:cNvSpPr/>
            <p:nvPr/>
          </p:nvSpPr>
          <p:spPr>
            <a:xfrm>
              <a:off x="2923920" y="2608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1" name="CustomShape 12"/>
            <p:cNvSpPr/>
            <p:nvPr/>
          </p:nvSpPr>
          <p:spPr>
            <a:xfrm>
              <a:off x="3833640" y="2608200"/>
              <a:ext cx="2440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2" name="CustomShape 13"/>
            <p:cNvSpPr/>
            <p:nvPr/>
          </p:nvSpPr>
          <p:spPr>
            <a:xfrm>
              <a:off x="4694040" y="2608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3" name="CustomShape 14"/>
            <p:cNvSpPr/>
            <p:nvPr/>
          </p:nvSpPr>
          <p:spPr>
            <a:xfrm>
              <a:off x="5603760" y="2608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4" name="CustomShape 15"/>
            <p:cNvSpPr/>
            <p:nvPr/>
          </p:nvSpPr>
          <p:spPr>
            <a:xfrm>
              <a:off x="6514920" y="2608200"/>
              <a:ext cx="2944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5" name="CustomShape 16"/>
            <p:cNvSpPr/>
            <p:nvPr/>
          </p:nvSpPr>
          <p:spPr>
            <a:xfrm>
              <a:off x="6421320" y="2952720"/>
              <a:ext cx="42156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6" name="CustomShape 17"/>
            <p:cNvSpPr/>
            <p:nvPr/>
          </p:nvSpPr>
          <p:spPr>
            <a:xfrm>
              <a:off x="2023920" y="2608200"/>
              <a:ext cx="25632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r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07" name="Line 18"/>
            <p:cNvSpPr/>
            <p:nvPr/>
          </p:nvSpPr>
          <p:spPr>
            <a:xfrm>
              <a:off x="2397240" y="3170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08" name="Line 19"/>
            <p:cNvSpPr/>
            <p:nvPr/>
          </p:nvSpPr>
          <p:spPr>
            <a:xfrm>
              <a:off x="3282840" y="3170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09" name="Line 20"/>
            <p:cNvSpPr/>
            <p:nvPr/>
          </p:nvSpPr>
          <p:spPr>
            <a:xfrm>
              <a:off x="4179960" y="3170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0" name="Line 21"/>
            <p:cNvSpPr/>
            <p:nvPr/>
          </p:nvSpPr>
          <p:spPr>
            <a:xfrm>
              <a:off x="5065560" y="3170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1" name="Line 22"/>
            <p:cNvSpPr/>
            <p:nvPr/>
          </p:nvSpPr>
          <p:spPr>
            <a:xfrm>
              <a:off x="5943600" y="3170160"/>
              <a:ext cx="484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2" name="CustomShape 23"/>
            <p:cNvSpPr/>
            <p:nvPr/>
          </p:nvSpPr>
          <p:spPr>
            <a:xfrm>
              <a:off x="3097080" y="2649600"/>
              <a:ext cx="169344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3" name="CustomShape 24"/>
            <p:cNvSpPr/>
            <p:nvPr/>
          </p:nvSpPr>
          <p:spPr>
            <a:xfrm>
              <a:off x="4889520" y="264960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4" name="CustomShape 25"/>
            <p:cNvSpPr/>
            <p:nvPr/>
          </p:nvSpPr>
          <p:spPr>
            <a:xfrm flipV="1">
              <a:off x="3994200" y="3373200"/>
              <a:ext cx="169308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5" name="CustomShape 26"/>
            <p:cNvSpPr/>
            <p:nvPr/>
          </p:nvSpPr>
          <p:spPr>
            <a:xfrm flipV="1">
              <a:off x="2208240" y="3373200"/>
              <a:ext cx="1693080" cy="31536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6" name="CustomShape 27"/>
            <p:cNvSpPr/>
            <p:nvPr/>
          </p:nvSpPr>
          <p:spPr>
            <a:xfrm>
              <a:off x="3957480" y="3378240"/>
              <a:ext cx="2652120" cy="497880"/>
            </a:xfrm>
            <a:custGeom>
              <a:avLst/>
              <a:gdLst/>
              <a:ahLst/>
              <a:cxnLst/>
              <a:rect l="l" t="t" r="r" b="b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7" name="CustomShape 28"/>
            <p:cNvSpPr/>
            <p:nvPr/>
          </p:nvSpPr>
          <p:spPr>
            <a:xfrm>
              <a:off x="2448360" y="28576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18" name="CustomShape 29"/>
            <p:cNvSpPr/>
            <p:nvPr/>
          </p:nvSpPr>
          <p:spPr>
            <a:xfrm>
              <a:off x="3345120" y="28576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19" name="CustomShape 30"/>
            <p:cNvSpPr/>
            <p:nvPr/>
          </p:nvSpPr>
          <p:spPr>
            <a:xfrm>
              <a:off x="2878560" y="33782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20" name="CustomShape 31"/>
            <p:cNvSpPr/>
            <p:nvPr/>
          </p:nvSpPr>
          <p:spPr>
            <a:xfrm>
              <a:off x="4250160" y="285768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21" name="CustomShape 32"/>
            <p:cNvSpPr/>
            <p:nvPr/>
          </p:nvSpPr>
          <p:spPr>
            <a:xfrm>
              <a:off x="5137200" y="285768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-1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22" name="CustomShape 33"/>
            <p:cNvSpPr/>
            <p:nvPr/>
          </p:nvSpPr>
          <p:spPr>
            <a:xfrm>
              <a:off x="5997960" y="2857680"/>
              <a:ext cx="38268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-2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23" name="CustomShape 34"/>
            <p:cNvSpPr/>
            <p:nvPr/>
          </p:nvSpPr>
          <p:spPr>
            <a:xfrm>
              <a:off x="4707360" y="33782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24" name="CustomShape 35"/>
            <p:cNvSpPr/>
            <p:nvPr/>
          </p:nvSpPr>
          <p:spPr>
            <a:xfrm>
              <a:off x="5959800" y="3378240"/>
              <a:ext cx="306360" cy="36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125" name="Line 36"/>
            <p:cNvSpPr/>
            <p:nvPr/>
          </p:nvSpPr>
          <p:spPr>
            <a:xfrm>
              <a:off x="3317760" y="3162240"/>
              <a:ext cx="457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6" name="CustomShape 37"/>
            <p:cNvSpPr/>
            <p:nvPr/>
          </p:nvSpPr>
          <p:spPr>
            <a:xfrm>
              <a:off x="3106800" y="2657520"/>
              <a:ext cx="1693080" cy="315000"/>
            </a:xfrm>
            <a:custGeom>
              <a:avLst/>
              <a:gdLst/>
              <a:ahLst/>
              <a:cxnLst/>
              <a:rect l="l" t="t" r="r" b="b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7" name="Line 38"/>
            <p:cNvSpPr/>
            <p:nvPr/>
          </p:nvSpPr>
          <p:spPr>
            <a:xfrm>
              <a:off x="5083200" y="3179880"/>
              <a:ext cx="48420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8" name="Line 39"/>
            <p:cNvSpPr/>
            <p:nvPr/>
          </p:nvSpPr>
          <p:spPr>
            <a:xfrm>
              <a:off x="5961240" y="3168720"/>
              <a:ext cx="48384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CustomShape 1"/>
          <p:cNvSpPr/>
          <p:nvPr/>
        </p:nvSpPr>
        <p:spPr>
          <a:xfrm>
            <a:off x="6553080" y="6397560"/>
            <a:ext cx="213300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F587E4E-D483-4A1E-861D-685C0594A26D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130" name="CustomShape 2"/>
          <p:cNvSpPr/>
          <p:nvPr/>
        </p:nvSpPr>
        <p:spPr>
          <a:xfrm>
            <a:off x="341280" y="100080"/>
            <a:ext cx="8228880" cy="90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28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Readings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131" name="CustomShape 3"/>
          <p:cNvSpPr/>
          <p:nvPr/>
        </p:nvSpPr>
        <p:spPr>
          <a:xfrm>
            <a:off x="351000" y="1213920"/>
            <a:ext cx="8228880" cy="50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432000" indent="-3232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Chapter 24</a:t>
            </a:r>
            <a:endParaRPr lang="en-US" sz="3200" b="0" strike="noStrike" spc="-1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Exercise 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24.1-6 – Find negative cycle</a:t>
            </a:r>
            <a:endParaRPr lang="en-US" sz="2800" b="0" strike="noStrike" spc="-1">
              <a:latin typeface="Arial"/>
            </a:endParaRPr>
          </a:p>
          <a:p>
            <a:pPr marL="864000" lvl="1" indent="-3232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24.2-4 – Total Number of paths in a DAG</a:t>
            </a:r>
            <a:endParaRPr lang="en-US" sz="2800" b="0" strike="noStrike" spc="-1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Difficult Problems (Solve these if you want):</a:t>
            </a:r>
            <a:endParaRPr lang="en-US" sz="3200" b="0" strike="noStrike" spc="-1">
              <a:latin typeface="Arial"/>
            </a:endParaRPr>
          </a:p>
          <a:p>
            <a:pPr marL="864000" lvl="1" indent="-3232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24.3-6 modify dijkstra</a:t>
            </a:r>
            <a:endParaRPr lang="en-US" sz="2800" b="0" strike="noStrike" spc="-1">
              <a:latin typeface="Arial"/>
            </a:endParaRPr>
          </a:p>
          <a:p>
            <a:pPr marL="864000" lvl="1" indent="-3232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24-2 – nesting boxes</a:t>
            </a:r>
            <a:endParaRPr lang="en-US" sz="2800" b="0" strike="noStrike" spc="-1">
              <a:latin typeface="Arial"/>
            </a:endParaRPr>
          </a:p>
          <a:p>
            <a:pPr marL="864000" lvl="1" indent="-3232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24-3 - Arbitrage</a:t>
            </a:r>
            <a:endParaRPr lang="en-US" sz="2800" b="0" strike="noStrike" spc="-1">
              <a:latin typeface="Arial"/>
            </a:endParaRPr>
          </a:p>
          <a:p>
            <a:pPr marL="864000" lvl="1" indent="-3232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24.6 – Bitonic Shortest path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4740</TotalTime>
  <Words>2508</Words>
  <Application>Microsoft Office PowerPoint</Application>
  <PresentationFormat>On-screen Show (4:3)</PresentationFormat>
  <Paragraphs>819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aakar</vt:lpstr>
      <vt:lpstr>arial</vt:lpstr>
      <vt:lpstr>arial</vt:lpstr>
      <vt:lpstr>Calibri</vt:lpstr>
      <vt:lpstr>Comic Sans MS</vt:lpstr>
      <vt:lpstr>Monotype Corsiva</vt:lpstr>
      <vt:lpstr>padmaa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CSE304 - Design and Analysis of Algorithms</dc:title>
  <dc:subject>Bellman Ford and DAG</dc:subject>
  <dc:creator>Syed Monowar Hossain</dc:creator>
  <dc:description/>
  <cp:lastModifiedBy>Tahmid Mosaddeque</cp:lastModifiedBy>
  <cp:revision>904</cp:revision>
  <dcterms:created xsi:type="dcterms:W3CDTF">2003-07-26T06:47:08Z</dcterms:created>
  <dcterms:modified xsi:type="dcterms:W3CDTF">2024-12-30T19:16:06Z</dcterms:modified>
  <dc:language>en-US</dc:language>
</cp:coreProperties>
</file>