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281" r:id="rId3"/>
    <p:sldId id="264" r:id="rId4"/>
    <p:sldId id="257" r:id="rId5"/>
    <p:sldId id="265" r:id="rId6"/>
    <p:sldId id="258" r:id="rId7"/>
    <p:sldId id="259" r:id="rId8"/>
    <p:sldId id="260" r:id="rId9"/>
    <p:sldId id="261" r:id="rId10"/>
    <p:sldId id="262" r:id="rId11"/>
    <p:sldId id="263" r:id="rId12"/>
    <p:sldId id="266" r:id="rId13"/>
    <p:sldId id="268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317" r:id="rId25"/>
    <p:sldId id="278" r:id="rId26"/>
    <p:sldId id="279" r:id="rId27"/>
    <p:sldId id="282" r:id="rId28"/>
    <p:sldId id="280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7" r:id="rId53"/>
    <p:sldId id="318" r:id="rId54"/>
    <p:sldId id="306" r:id="rId55"/>
    <p:sldId id="308" r:id="rId56"/>
    <p:sldId id="309" r:id="rId57"/>
    <p:sldId id="311" r:id="rId58"/>
    <p:sldId id="312" r:id="rId59"/>
    <p:sldId id="319" r:id="rId60"/>
    <p:sldId id="313" r:id="rId61"/>
    <p:sldId id="314" r:id="rId62"/>
    <p:sldId id="320" r:id="rId63"/>
    <p:sldId id="315" r:id="rId64"/>
    <p:sldId id="316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1BBAC-9A6C-42A4-9CAA-504FC02C44E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DFED0-500F-4DB7-835C-29850BD41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0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B665-1400-449D-8BA3-B7F6F8797F7E}" type="datetime1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82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BDD8-74EF-49EA-88E0-A27CC5605E62}" type="datetime1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5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C0BAD-6072-4328-B1E8-2498B30A6E98}" type="datetime1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7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303CB-462B-4FD6-B1FA-B3333D67FC69}" type="datetime1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77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39FD0-EBAA-4E1D-8EAC-F72EED6CDC0A}" type="datetime1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Lec.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3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34B08-B038-4FD1-8505-C17FE542B386}" type="datetime1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6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41C2-9329-457E-8AB1-9B6788BAC7D3}" type="datetime1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6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1FB11-9473-4190-99BB-2C536FED1402}" type="datetime1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4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A125-8EAE-482C-A7C3-CF4178F3C96D}" type="datetime1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3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949B-61AF-418D-8C0A-EF1501CB6E25}" type="datetime1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06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6A970-2D70-4CC6-9A46-DAA60D3373BF}" type="datetime1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06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93DCA-3FFB-4F8E-81A6-77A90B737D17}" type="datetime1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5C897-9486-4CC2-B260-0AEAAFD8A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5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5AD47B-805C-4B85-9905-E7125A0A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13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AutoNum type="arabicPeriod"/>
            </a:pPr>
            <a:r>
              <a:rPr lang="en-US" dirty="0"/>
              <a:t>Direct addressing</a:t>
            </a:r>
          </a:p>
          <a:p>
            <a:pPr marL="514350" indent="-514350">
              <a:buAutoNum type="arabicPeriod"/>
            </a:pPr>
            <a:r>
              <a:rPr lang="en-US" dirty="0"/>
              <a:t>Hash Table</a:t>
            </a:r>
          </a:p>
          <a:p>
            <a:pPr marL="514350" indent="-514350">
              <a:buAutoNum type="arabicPeriod"/>
            </a:pPr>
            <a:r>
              <a:rPr lang="en-US" dirty="0"/>
              <a:t>Collision Resolution by Chaining</a:t>
            </a:r>
          </a:p>
          <a:p>
            <a:pPr marL="514350" indent="-514350">
              <a:buAutoNum type="arabicPeriod"/>
            </a:pPr>
            <a:r>
              <a:rPr lang="en-US" dirty="0"/>
              <a:t>Analysis of Hashing with Chaining</a:t>
            </a:r>
          </a:p>
          <a:p>
            <a:pPr marL="514350" indent="-514350">
              <a:buAutoNum type="arabicPeriod"/>
            </a:pPr>
            <a:r>
              <a:rPr lang="en-US" dirty="0"/>
              <a:t>Hash Functions</a:t>
            </a:r>
          </a:p>
          <a:p>
            <a:pPr marL="514350" indent="-514350">
              <a:buAutoNum type="arabicPeriod"/>
            </a:pPr>
            <a:r>
              <a:rPr lang="en-US" dirty="0"/>
              <a:t>Probing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9E7D1-87E4-4194-975B-A5EDB0DB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9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F9D96-0F7A-4E9C-BCF4-520512D5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10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about hash 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Linked List – O(n) time is required to retrieve an element</a:t>
            </a:r>
          </a:p>
          <a:p>
            <a:r>
              <a:rPr lang="en-US" dirty="0"/>
              <a:t>Hash Table – Expected time to retrieve an element is O(1)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891C0-1A4B-433E-A4EF-13B4D730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19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2.Direct Addressing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9882B-BB64-4E19-880F-8BD8DC8C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02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Addressing</a:t>
            </a:r>
          </a:p>
        </p:txBody>
      </p:sp>
      <p:pic>
        <p:nvPicPr>
          <p:cNvPr id="1026" name="Picture 2" descr="https://lh3.googleusercontent.com/S2tAzcZz6XJVwFL5IobX0SNo08WKzv-kpk3p0t5oI8efLcY2PZxvC19jzLxMCF3iSfdR8XUgUUH_bqUW0Mm5cPxQqm7XZobWZhLW7NKoexImZV6zb9NFtVkeUOIJR9Lxf5KnIwhU0AtZjdALvB-zK_pMUgS6B4gkHKaEJrRANHxhvemlCZeMt10bywlPtw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0066"/>
            <a:ext cx="6713370" cy="320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2ADD2-299F-4E86-97F9-678C0FC4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25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Addressing</a:t>
            </a:r>
          </a:p>
        </p:txBody>
      </p:sp>
      <p:pic>
        <p:nvPicPr>
          <p:cNvPr id="1026" name="Picture 2" descr="https://lh3.googleusercontent.com/S2tAzcZz6XJVwFL5IobX0SNo08WKzv-kpk3p0t5oI8efLcY2PZxvC19jzLxMCF3iSfdR8XUgUUH_bqUW0Mm5cPxQqm7XZobWZhLW7NKoexImZV6zb9NFtVkeUOIJR9Lxf5KnIwhU0AtZjdALvB-zK_pMUgS6B4gkHKaEJrRANHxhvemlCZeMt10bywlPtw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31" y="1994024"/>
            <a:ext cx="7054515" cy="4326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069179" y="1994024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universe, the number of keys is finite (here only 10)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A031B-8EEF-4AAE-A6BA-3EE76E03D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73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Addressing</a:t>
            </a:r>
          </a:p>
        </p:txBody>
      </p:sp>
      <p:pic>
        <p:nvPicPr>
          <p:cNvPr id="1026" name="Picture 2" descr="https://lh3.googleusercontent.com/S2tAzcZz6XJVwFL5IobX0SNo08WKzv-kpk3p0t5oI8efLcY2PZxvC19jzLxMCF3iSfdR8XUgUUH_bqUW0Mm5cPxQqm7XZobWZhLW7NKoexImZV6zb9NFtVkeUOIJR9Lxf5KnIwhU0AtZjdALvB-zK_pMUgS6B4gkHKaEJrRANHxhvemlCZeMt10bywlPtw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31" y="1994024"/>
            <a:ext cx="7054515" cy="4326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069179" y="1994024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universe, the number of keys is finite (here only 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9178" y="2943691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object is stored using a key in an</a:t>
            </a:r>
          </a:p>
          <a:p>
            <a:r>
              <a:rPr lang="en-US" dirty="0"/>
              <a:t>array 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F2E9D-B89C-4E80-B3F9-72328010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26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Addressing</a:t>
            </a:r>
          </a:p>
        </p:txBody>
      </p:sp>
      <p:pic>
        <p:nvPicPr>
          <p:cNvPr id="1026" name="Picture 2" descr="https://lh3.googleusercontent.com/S2tAzcZz6XJVwFL5IobX0SNo08WKzv-kpk3p0t5oI8efLcY2PZxvC19jzLxMCF3iSfdR8XUgUUH_bqUW0Mm5cPxQqm7XZobWZhLW7NKoexImZV6zb9NFtVkeUOIJR9Lxf5KnIwhU0AtZjdALvB-zK_pMUgS6B4gkHKaEJrRANHxhvemlCZeMt10bywlPtw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31" y="1994024"/>
            <a:ext cx="7054515" cy="4326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069179" y="1994024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universe, the number of keys is finite (here only 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9178" y="2943691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object is stored using a key in an</a:t>
            </a:r>
          </a:p>
          <a:p>
            <a:r>
              <a:rPr lang="en-US" dirty="0"/>
              <a:t>array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9177" y="3787975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for example, for the 10 keys,</a:t>
            </a:r>
          </a:p>
          <a:p>
            <a:r>
              <a:rPr lang="en-US" dirty="0"/>
              <a:t>there are 10 predefined locations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5E9E6-9C54-4A9E-819F-2F24D017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3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Addressing</a:t>
            </a:r>
          </a:p>
        </p:txBody>
      </p:sp>
      <p:pic>
        <p:nvPicPr>
          <p:cNvPr id="1026" name="Picture 2" descr="https://lh3.googleusercontent.com/S2tAzcZz6XJVwFL5IobX0SNo08WKzv-kpk3p0t5oI8efLcY2PZxvC19jzLxMCF3iSfdR8XUgUUH_bqUW0Mm5cPxQqm7XZobWZhLW7NKoexImZV6zb9NFtVkeUOIJR9Lxf5KnIwhU0AtZjdALvB-zK_pMUgS6B4gkHKaEJrRANHxhvemlCZeMt10bywlPtw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31" y="1994024"/>
            <a:ext cx="7054515" cy="4326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069179" y="1994024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universe, the number of keys is finite (here only 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9178" y="2943691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object is stored using a key in an</a:t>
            </a:r>
          </a:p>
          <a:p>
            <a:r>
              <a:rPr lang="en-US" dirty="0"/>
              <a:t>array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9177" y="3787975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for example, for the 10 keys,</a:t>
            </a:r>
          </a:p>
          <a:p>
            <a:r>
              <a:rPr lang="en-US" dirty="0"/>
              <a:t>there are 10 predefined locations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9177" y="4843025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address of the object is stored</a:t>
            </a:r>
          </a:p>
          <a:p>
            <a:r>
              <a:rPr lang="en-US" dirty="0"/>
              <a:t>In the array 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B3D441-A89A-47E1-81DB-980D1C97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Addressing</a:t>
            </a:r>
          </a:p>
        </p:txBody>
      </p:sp>
      <p:pic>
        <p:nvPicPr>
          <p:cNvPr id="1026" name="Picture 2" descr="https://lh3.googleusercontent.com/S2tAzcZz6XJVwFL5IobX0SNo08WKzv-kpk3p0t5oI8efLcY2PZxvC19jzLxMCF3iSfdR8XUgUUH_bqUW0Mm5cPxQqm7XZobWZhLW7NKoexImZV6zb9NFtVkeUOIJR9Lxf5KnIwhU0AtZjdALvB-zK_pMUgS6B4gkHKaEJrRANHxhvemlCZeMt10bywlPtw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31" y="1994024"/>
            <a:ext cx="7054515" cy="4326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069179" y="1994024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universe, the number of keys is finite (here only 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9178" y="2943691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object is stored using a key in an</a:t>
            </a:r>
          </a:p>
          <a:p>
            <a:r>
              <a:rPr lang="en-US" dirty="0"/>
              <a:t>array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9177" y="3787975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for example, for the 10 keys,</a:t>
            </a:r>
          </a:p>
          <a:p>
            <a:r>
              <a:rPr lang="en-US" dirty="0"/>
              <a:t>there are 10 predefined locations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9177" y="4843025"/>
            <a:ext cx="3513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address of the object is stored</a:t>
            </a:r>
          </a:p>
          <a:p>
            <a:r>
              <a:rPr lang="en-US" dirty="0"/>
              <a:t>In the array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1426" y="37106"/>
            <a:ext cx="20050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class </a:t>
            </a:r>
            <a:r>
              <a:rPr lang="en-US" dirty="0" err="1">
                <a:solidFill>
                  <a:srgbClr val="FF0000"/>
                </a:solidFill>
              </a:rPr>
              <a:t>MyClass</a:t>
            </a: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key;</a:t>
            </a: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data1;</a:t>
            </a: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data2;</a:t>
            </a:r>
          </a:p>
          <a:p>
            <a:r>
              <a:rPr lang="en-US" dirty="0">
                <a:solidFill>
                  <a:srgbClr val="FF0000"/>
                </a:solidFill>
              </a:rPr>
              <a:t>	.</a:t>
            </a:r>
          </a:p>
          <a:p>
            <a:r>
              <a:rPr lang="en-US" dirty="0">
                <a:solidFill>
                  <a:srgbClr val="FF0000"/>
                </a:solidFill>
              </a:rPr>
              <a:t>	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B24BBFF-61CB-4AD8-88BE-C2812B11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1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direct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reality, there can be infinite number of keys.</a:t>
            </a:r>
          </a:p>
          <a:p>
            <a:r>
              <a:rPr lang="en-US" dirty="0"/>
              <a:t>But it is not possible to have infinite amount of memory space.</a:t>
            </a:r>
          </a:p>
          <a:p>
            <a:r>
              <a:rPr lang="en-US" dirty="0"/>
              <a:t>Also we do not use all the keys in the universe.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E8C8A-2B07-48E3-96B5-4C0D3024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46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3.Hash 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EC365-60E2-456A-8FB7-5C122B5CE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9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375182"/>
              </p:ext>
            </p:extLst>
          </p:nvPr>
        </p:nvGraphicFramePr>
        <p:xfrm>
          <a:off x="7619999" y="1536867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E2C5E-A073-4696-9C48-B3D8602A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50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774814"/>
              </p:ext>
            </p:extLst>
          </p:nvPr>
        </p:nvGraphicFramePr>
        <p:xfrm>
          <a:off x="6817894" y="1264151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72126" y="2213811"/>
            <a:ext cx="144379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DE5C7-217E-4728-A9AA-FF613BC8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743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774814"/>
              </p:ext>
            </p:extLst>
          </p:nvPr>
        </p:nvGraphicFramePr>
        <p:xfrm>
          <a:off x="6817894" y="1264151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72126" y="2213811"/>
            <a:ext cx="144379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sp>
        <p:nvSpPr>
          <p:cNvPr id="5" name="Oval 4"/>
          <p:cNvSpPr/>
          <p:nvPr/>
        </p:nvSpPr>
        <p:spPr>
          <a:xfrm>
            <a:off x="1572126" y="4283242"/>
            <a:ext cx="914400" cy="930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(key)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8B3135-2211-4C6C-9844-B8C0BD4D5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2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774814"/>
              </p:ext>
            </p:extLst>
          </p:nvPr>
        </p:nvGraphicFramePr>
        <p:xfrm>
          <a:off x="6817894" y="1264151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72126" y="2213811"/>
            <a:ext cx="144379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sp>
        <p:nvSpPr>
          <p:cNvPr id="5" name="Oval 4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(key)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4810" y="4203031"/>
            <a:ext cx="1668379" cy="10908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8" name="Straight Arrow Connector 7"/>
          <p:cNvCxnSpPr>
            <a:stCxn id="5" idx="6"/>
            <a:endCxn id="6" idx="1"/>
          </p:cNvCxnSpPr>
          <p:nvPr/>
        </p:nvCxnSpPr>
        <p:spPr>
          <a:xfrm>
            <a:off x="1708485" y="4748463"/>
            <a:ext cx="88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3"/>
          </p:cNvCxnSpPr>
          <p:nvPr/>
        </p:nvCxnSpPr>
        <p:spPr>
          <a:xfrm flipV="1">
            <a:off x="4263189" y="4748462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05E6CDB-1DE8-4D44-B3B3-9FEFE3C3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19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774814"/>
              </p:ext>
            </p:extLst>
          </p:nvPr>
        </p:nvGraphicFramePr>
        <p:xfrm>
          <a:off x="6817894" y="1264151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72126" y="2213811"/>
            <a:ext cx="144379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sp>
        <p:nvSpPr>
          <p:cNvPr id="5" name="Oval 4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(key)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4810" y="4203031"/>
            <a:ext cx="1668379" cy="10908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8" name="Straight Arrow Connector 7"/>
          <p:cNvCxnSpPr>
            <a:stCxn id="5" idx="6"/>
            <a:endCxn id="6" idx="1"/>
          </p:cNvCxnSpPr>
          <p:nvPr/>
        </p:nvCxnSpPr>
        <p:spPr>
          <a:xfrm>
            <a:off x="1708485" y="4748463"/>
            <a:ext cx="88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3"/>
          </p:cNvCxnSpPr>
          <p:nvPr/>
        </p:nvCxnSpPr>
        <p:spPr>
          <a:xfrm flipV="1">
            <a:off x="4263189" y="4748462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4DD36D-13B9-4469-AE26-729C98BE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68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774814"/>
              </p:ext>
            </p:extLst>
          </p:nvPr>
        </p:nvGraphicFramePr>
        <p:xfrm>
          <a:off x="6817894" y="1264151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72126" y="2213811"/>
            <a:ext cx="144379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sp>
        <p:nvSpPr>
          <p:cNvPr id="5" name="Oval 4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(key)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4810" y="4203031"/>
            <a:ext cx="1668379" cy="10908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8" name="Straight Arrow Connector 7"/>
          <p:cNvCxnSpPr>
            <a:stCxn id="5" idx="6"/>
            <a:endCxn id="6" idx="1"/>
          </p:cNvCxnSpPr>
          <p:nvPr/>
        </p:nvCxnSpPr>
        <p:spPr>
          <a:xfrm>
            <a:off x="1708485" y="4748463"/>
            <a:ext cx="88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3"/>
          </p:cNvCxnSpPr>
          <p:nvPr/>
        </p:nvCxnSpPr>
        <p:spPr>
          <a:xfrm flipV="1">
            <a:off x="4263189" y="4748462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912768" y="5213683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4132939-D766-4B31-A1CE-3020FA8F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80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774814"/>
              </p:ext>
            </p:extLst>
          </p:nvPr>
        </p:nvGraphicFramePr>
        <p:xfrm>
          <a:off x="6817894" y="1264151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931441" y="4756483"/>
            <a:ext cx="144379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sp>
        <p:nvSpPr>
          <p:cNvPr id="5" name="Oval 4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(key)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4810" y="4203031"/>
            <a:ext cx="1668379" cy="10908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8" name="Straight Arrow Connector 7"/>
          <p:cNvCxnSpPr>
            <a:stCxn id="5" idx="6"/>
            <a:endCxn id="6" idx="1"/>
          </p:cNvCxnSpPr>
          <p:nvPr/>
        </p:nvCxnSpPr>
        <p:spPr>
          <a:xfrm>
            <a:off x="1708485" y="4748463"/>
            <a:ext cx="88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3"/>
          </p:cNvCxnSpPr>
          <p:nvPr/>
        </p:nvCxnSpPr>
        <p:spPr>
          <a:xfrm flipV="1">
            <a:off x="4263189" y="4748462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912768" y="5213683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7CC9588-01EC-4EED-A63C-44CA4ECE4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56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from the hash tale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774814"/>
              </p:ext>
            </p:extLst>
          </p:nvPr>
        </p:nvGraphicFramePr>
        <p:xfrm>
          <a:off x="6817894" y="1264151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931441" y="4756483"/>
            <a:ext cx="144379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912768" y="5213683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24000" y="3267519"/>
            <a:ext cx="3055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to remember the key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3DB78-B3D2-4F7A-A8DD-03874C10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88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from the hash tale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774814"/>
              </p:ext>
            </p:extLst>
          </p:nvPr>
        </p:nvGraphicFramePr>
        <p:xfrm>
          <a:off x="6817894" y="1264151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931441" y="4756483"/>
            <a:ext cx="144379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912768" y="5213683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24000" y="3267519"/>
            <a:ext cx="3691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to remember the key</a:t>
            </a:r>
          </a:p>
          <a:p>
            <a:r>
              <a:rPr lang="en-US" dirty="0"/>
              <a:t>and pass it through the hash function</a:t>
            </a:r>
          </a:p>
        </p:txBody>
      </p:sp>
      <p:sp>
        <p:nvSpPr>
          <p:cNvPr id="7" name="Oval 6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(key)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94810" y="4203031"/>
            <a:ext cx="1668379" cy="10908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9" name="Straight Arrow Connector 8"/>
          <p:cNvCxnSpPr>
            <a:stCxn id="7" idx="6"/>
            <a:endCxn id="8" idx="1"/>
          </p:cNvCxnSpPr>
          <p:nvPr/>
        </p:nvCxnSpPr>
        <p:spPr>
          <a:xfrm>
            <a:off x="1708485" y="4748463"/>
            <a:ext cx="88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3"/>
          </p:cNvCxnSpPr>
          <p:nvPr/>
        </p:nvCxnSpPr>
        <p:spPr>
          <a:xfrm flipV="1">
            <a:off x="4263189" y="4748462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B4BFCB-F8D4-4F26-ADD7-35EA643C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36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from the hash tale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2774814"/>
              </p:ext>
            </p:extLst>
          </p:nvPr>
        </p:nvGraphicFramePr>
        <p:xfrm>
          <a:off x="6817894" y="1264151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931441" y="4756483"/>
            <a:ext cx="144379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912768" y="5213683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24000" y="3267519"/>
            <a:ext cx="3691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to remember the key</a:t>
            </a:r>
          </a:p>
          <a:p>
            <a:r>
              <a:rPr lang="en-US" dirty="0"/>
              <a:t>and pass it through the hash function</a:t>
            </a:r>
          </a:p>
        </p:txBody>
      </p:sp>
      <p:sp>
        <p:nvSpPr>
          <p:cNvPr id="7" name="Oval 6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(key)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94810" y="4203031"/>
            <a:ext cx="1668379" cy="10908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9" name="Straight Arrow Connector 8"/>
          <p:cNvCxnSpPr>
            <a:stCxn id="7" idx="6"/>
            <a:endCxn id="8" idx="1"/>
          </p:cNvCxnSpPr>
          <p:nvPr/>
        </p:nvCxnSpPr>
        <p:spPr>
          <a:xfrm>
            <a:off x="1708485" y="4748463"/>
            <a:ext cx="88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3"/>
          </p:cNvCxnSpPr>
          <p:nvPr/>
        </p:nvCxnSpPr>
        <p:spPr>
          <a:xfrm flipV="1">
            <a:off x="4263189" y="4748462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3999" y="5805340"/>
            <a:ext cx="3942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in this way we know , where in the</a:t>
            </a:r>
          </a:p>
          <a:p>
            <a:r>
              <a:rPr lang="en-US" dirty="0"/>
              <a:t>array T the objects reference was stored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01860-4C4D-41CA-B237-862A96A0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82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from the hash tale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817894" y="1264151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931441" y="4756483"/>
            <a:ext cx="144379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912768" y="5213683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24000" y="3267519"/>
            <a:ext cx="3691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to remember the key</a:t>
            </a:r>
          </a:p>
          <a:p>
            <a:r>
              <a:rPr lang="en-US" dirty="0"/>
              <a:t>and pass it through the hash function</a:t>
            </a:r>
          </a:p>
        </p:txBody>
      </p:sp>
      <p:sp>
        <p:nvSpPr>
          <p:cNvPr id="7" name="Oval 6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 (key)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94810" y="4203031"/>
            <a:ext cx="1668379" cy="10908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9" name="Straight Arrow Connector 8"/>
          <p:cNvCxnSpPr>
            <a:stCxn id="7" idx="6"/>
            <a:endCxn id="8" idx="1"/>
          </p:cNvCxnSpPr>
          <p:nvPr/>
        </p:nvCxnSpPr>
        <p:spPr>
          <a:xfrm>
            <a:off x="1708485" y="4748463"/>
            <a:ext cx="88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3"/>
          </p:cNvCxnSpPr>
          <p:nvPr/>
        </p:nvCxnSpPr>
        <p:spPr>
          <a:xfrm flipV="1">
            <a:off x="4263189" y="4748462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3999" y="5805340"/>
            <a:ext cx="3942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in this way we know , where in the</a:t>
            </a:r>
          </a:p>
          <a:p>
            <a:r>
              <a:rPr lang="en-US" dirty="0"/>
              <a:t>array T the objects reference was stored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D14FAB8-6930-4755-920C-9470CF57D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48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in this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Collision!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D2D50-34D1-425E-9834-249B6A3C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53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in this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Collision!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4782130"/>
              </p:ext>
            </p:extLst>
          </p:nvPr>
        </p:nvGraphicFramePr>
        <p:xfrm>
          <a:off x="6817894" y="1264151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369467" y="5460638"/>
            <a:ext cx="1443790" cy="914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sp>
        <p:nvSpPr>
          <p:cNvPr id="7" name="Oval 6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(key)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94810" y="4203031"/>
            <a:ext cx="1668379" cy="109086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9" name="Straight Arrow Connector 8"/>
          <p:cNvCxnSpPr>
            <a:stCxn id="7" idx="6"/>
            <a:endCxn id="8" idx="1"/>
          </p:cNvCxnSpPr>
          <p:nvPr/>
        </p:nvCxnSpPr>
        <p:spPr>
          <a:xfrm>
            <a:off x="1708485" y="4748463"/>
            <a:ext cx="88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8" idx="3"/>
          </p:cNvCxnSpPr>
          <p:nvPr/>
        </p:nvCxnSpPr>
        <p:spPr>
          <a:xfrm flipV="1">
            <a:off x="4263189" y="4748462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794085" y="2603360"/>
            <a:ext cx="914400" cy="930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1115 (key)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94810" y="2523149"/>
            <a:ext cx="1668379" cy="10908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Hash Function</a:t>
            </a:r>
          </a:p>
        </p:txBody>
      </p:sp>
      <p:cxnSp>
        <p:nvCxnSpPr>
          <p:cNvPr id="14" name="Straight Arrow Connector 13"/>
          <p:cNvCxnSpPr>
            <a:stCxn id="12" idx="6"/>
            <a:endCxn id="13" idx="1"/>
          </p:cNvCxnSpPr>
          <p:nvPr/>
        </p:nvCxnSpPr>
        <p:spPr>
          <a:xfrm>
            <a:off x="1708485" y="3068581"/>
            <a:ext cx="886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3" idx="3"/>
          </p:cNvCxnSpPr>
          <p:nvPr/>
        </p:nvCxnSpPr>
        <p:spPr>
          <a:xfrm flipV="1">
            <a:off x="4263189" y="3068580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59620" y="28839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3189" y="1490538"/>
            <a:ext cx="144379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 we want to store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6EC4190-3E36-4572-8140-F2E62367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10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4.Collision Resolution By Chaining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4828-D4E2-46D0-A73F-9D455199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09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 by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8126" y="1825625"/>
            <a:ext cx="368567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Though </a:t>
            </a:r>
            <a:r>
              <a:rPr lang="en-US" b="1" dirty="0"/>
              <a:t>not</a:t>
            </a:r>
            <a:r>
              <a:rPr lang="en-US" dirty="0"/>
              <a:t> </a:t>
            </a:r>
            <a:r>
              <a:rPr lang="en-US" b="1" dirty="0"/>
              <a:t>pictorially</a:t>
            </a:r>
            <a:r>
              <a:rPr lang="en-US" dirty="0"/>
              <a:t> depicted, each key is being used to store objects using a </a:t>
            </a:r>
            <a:r>
              <a:rPr lang="en-US" b="1" dirty="0"/>
              <a:t>hash</a:t>
            </a:r>
            <a:r>
              <a:rPr lang="en-US" dirty="0"/>
              <a:t> </a:t>
            </a:r>
            <a:r>
              <a:rPr lang="en-US" b="1" dirty="0"/>
              <a:t>function</a:t>
            </a:r>
            <a:r>
              <a:rPr lang="en-US" dirty="0"/>
              <a:t>.</a:t>
            </a:r>
          </a:p>
        </p:txBody>
      </p:sp>
      <p:pic>
        <p:nvPicPr>
          <p:cNvPr id="2050" name="Picture 2" descr="https://lh6.googleusercontent.com/AxKooMczB31QFvnxpGH9oRUtPpmNg25otxK4FWt6NKcNOg_DJYkDj-fvL6bpg67D3QyZ8EV53Fup6w9pagfekyXgFBk0QAthzB-i-ZoSdw2cBKwbA6_o2FAUn_gd-Heq3CHeIULizL45WzmO_pB7gBTCqFZ2BLanIgGqJWAfsTmlYUO4YhQf0jTuAkW8N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85" y="2027611"/>
            <a:ext cx="6862533" cy="392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AB5E0-ABAD-49B4-BE4A-E383EAB7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25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 by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functions from your book</a:t>
            </a:r>
          </a:p>
        </p:txBody>
      </p:sp>
      <p:pic>
        <p:nvPicPr>
          <p:cNvPr id="8194" name="Picture 2" descr="https://lh3.googleusercontent.com/0-36qvmsUJYQGn36X8dwxQaQm_JddX_Os-5AX50i_RmYjJjzvVDL_zBxIVJ2odPjg5WHqZmASn5ZVgtYc-UX-3TJSeQpItXRapZEqnjsW39eQOhTb2aAxVcQQQBZYo4wAwWITrQEI9-V9TDe8CEFm7JDvrZ_Lqsb9-lKhw4a0uMv05FwzCWOrzNeXO0B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506" y="2376318"/>
            <a:ext cx="6103788" cy="129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lh4.googleusercontent.com/AwEfjkeEkStjQp41WkbFYYVTFf4TluuADbUnVF8KPLRUnmS7cxNsgUwSSetOQAFyamyazH_6qT1IsGnQMLr_Re-rmRo5obd98oAF1sN4Y_qiDZ2Ktg70ERbxSSaXNMomkDPG3CmY8vlsdDg_D0-dioG8vDuHdymFpcdVSUd8VAcGuiJ1e5hVhI6IoaeZL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58" y="3808578"/>
            <a:ext cx="6958425" cy="122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ttps://lh3.googleusercontent.com/FgCu5PefQc8n3Yp7C6-2W7AK6zs2pIUgGZ0p0HYUpRFJV-f5dsDDH5qdCgvFU8kdvK3wwSFLafrsn41_8PWGKLB0O1CHPTSmYpPp1CvMZx4unINWd14dwIuHUEgggXMyuEHjTcjg1YtcYWEkE3ZzE6pPw2ag2CSr55EgFSW2ldyqcegi-xlzULyK5MU4w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58" y="5303753"/>
            <a:ext cx="5981636" cy="1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144000" y="3064042"/>
            <a:ext cx="20042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OBJECT</a:t>
            </a:r>
          </a:p>
          <a:p>
            <a:r>
              <a:rPr lang="en-US" dirty="0"/>
              <a:t>WILL NOW HAVE A</a:t>
            </a:r>
            <a:br>
              <a:rPr lang="en-US" dirty="0"/>
            </a:br>
            <a:r>
              <a:rPr lang="en-US" b="1" dirty="0"/>
              <a:t>NEXT</a:t>
            </a:r>
            <a:r>
              <a:rPr lang="en-US" dirty="0"/>
              <a:t> POINTER</a:t>
            </a:r>
          </a:p>
          <a:p>
            <a:r>
              <a:rPr lang="en-US" dirty="0"/>
              <a:t>And a </a:t>
            </a:r>
            <a:r>
              <a:rPr lang="en-US" b="1" dirty="0"/>
              <a:t>PREV</a:t>
            </a:r>
            <a:r>
              <a:rPr lang="en-US" dirty="0"/>
              <a:t> pointer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91B3B-3C91-4FD7-9AE4-4FB0B678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7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 by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functions from your book</a:t>
            </a:r>
          </a:p>
        </p:txBody>
      </p:sp>
      <p:pic>
        <p:nvPicPr>
          <p:cNvPr id="8194" name="Picture 2" descr="https://lh3.googleusercontent.com/0-36qvmsUJYQGn36X8dwxQaQm_JddX_Os-5AX50i_RmYjJjzvVDL_zBxIVJ2odPjg5WHqZmASn5ZVgtYc-UX-3TJSeQpItXRapZEqnjsW39eQOhTb2aAxVcQQQBZYo4wAwWITrQEI9-V9TDe8CEFm7JDvrZ_Lqsb9-lKhw4a0uMv05FwzCWOrzNeXO0B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47" y="2376318"/>
            <a:ext cx="4989095" cy="129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3835738"/>
              </p:ext>
            </p:extLst>
          </p:nvPr>
        </p:nvGraphicFramePr>
        <p:xfrm>
          <a:off x="6721576" y="1536867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Object1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766384" y="1994067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8" idx="1"/>
          </p:cNvCxnSpPr>
          <p:nvPr/>
        </p:nvCxnSpPr>
        <p:spPr>
          <a:xfrm flipH="1">
            <a:off x="8502316" y="2013895"/>
            <a:ext cx="320908" cy="729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B54D8-9CD3-4AA6-B39F-2925E5D9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23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 by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functions from your book</a:t>
            </a:r>
          </a:p>
        </p:txBody>
      </p:sp>
      <p:pic>
        <p:nvPicPr>
          <p:cNvPr id="8194" name="Picture 2" descr="https://lh3.googleusercontent.com/0-36qvmsUJYQGn36X8dwxQaQm_JddX_Os-5AX50i_RmYjJjzvVDL_zBxIVJ2odPjg5WHqZmASn5ZVgtYc-UX-3TJSeQpItXRapZEqnjsW39eQOhTb2aAxVcQQQBZYo4wAwWITrQEI9-V9TDe8CEFm7JDvrZ_Lqsb9-lKhw4a0uMv05FwzCWOrzNeXO0B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47" y="2376318"/>
            <a:ext cx="4989095" cy="129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3835738"/>
              </p:ext>
            </p:extLst>
          </p:nvPr>
        </p:nvGraphicFramePr>
        <p:xfrm>
          <a:off x="6721576" y="1536867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Object2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766384" y="1994067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758172" y="1677135"/>
            <a:ext cx="1006641" cy="776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Object1</a:t>
            </a:r>
          </a:p>
        </p:txBody>
      </p:sp>
      <p:cxnSp>
        <p:nvCxnSpPr>
          <p:cNvPr id="12" name="Straight Arrow Connector 11"/>
          <p:cNvCxnSpPr>
            <a:stCxn id="8" idx="3"/>
          </p:cNvCxnSpPr>
          <p:nvPr/>
        </p:nvCxnSpPr>
        <p:spPr>
          <a:xfrm>
            <a:off x="9829865" y="2013895"/>
            <a:ext cx="890140" cy="31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9829865" y="2263140"/>
            <a:ext cx="928307" cy="45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1"/>
          </p:cNvCxnSpPr>
          <p:nvPr/>
        </p:nvCxnSpPr>
        <p:spPr>
          <a:xfrm flipH="1">
            <a:off x="8389620" y="2013895"/>
            <a:ext cx="433604" cy="388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5621E-A867-40D7-9652-CAE153EC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457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 by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functions from your book</a:t>
            </a:r>
          </a:p>
        </p:txBody>
      </p:sp>
      <p:pic>
        <p:nvPicPr>
          <p:cNvPr id="10" name="Picture 4" descr="https://lh4.googleusercontent.com/AwEfjkeEkStjQp41WkbFYYVTFf4TluuADbUnVF8KPLRUnmS7cxNsgUwSSetOQAFyamyazH_6qT1IsGnQMLr_Re-rmRo5obd98oAF1sN4Y_qiDZ2Ktg70ERbxSSaXNMomkDPG3CmY8vlsdDg_D0-dioG8vDuHdymFpcdVSUd8VAcGuiJ1e5hVhI6IoaeZL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18" y="2989998"/>
            <a:ext cx="5436262" cy="95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3904774"/>
              </p:ext>
            </p:extLst>
          </p:nvPr>
        </p:nvGraphicFramePr>
        <p:xfrm>
          <a:off x="6721576" y="1536867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Object2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766384" y="1994067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758172" y="1677135"/>
            <a:ext cx="1006641" cy="776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Object1</a:t>
            </a:r>
          </a:p>
        </p:txBody>
      </p:sp>
      <p:cxnSp>
        <p:nvCxnSpPr>
          <p:cNvPr id="17" name="Straight Arrow Connector 16"/>
          <p:cNvCxnSpPr>
            <a:stCxn id="14" idx="3"/>
          </p:cNvCxnSpPr>
          <p:nvPr/>
        </p:nvCxnSpPr>
        <p:spPr>
          <a:xfrm>
            <a:off x="9829865" y="2013895"/>
            <a:ext cx="890140" cy="31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9829865" y="2263140"/>
            <a:ext cx="928307" cy="45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4" idx="1"/>
          </p:cNvCxnSpPr>
          <p:nvPr/>
        </p:nvCxnSpPr>
        <p:spPr>
          <a:xfrm flipH="1">
            <a:off x="8389620" y="2013895"/>
            <a:ext cx="433604" cy="388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F4F47-58B0-47F9-9FC3-D9010A8E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56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 by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functions from your book</a:t>
            </a:r>
          </a:p>
        </p:txBody>
      </p:sp>
      <p:pic>
        <p:nvPicPr>
          <p:cNvPr id="10" name="Picture 4" descr="https://lh4.googleusercontent.com/AwEfjkeEkStjQp41WkbFYYVTFf4TluuADbUnVF8KPLRUnmS7cxNsgUwSSetOQAFyamyazH_6qT1IsGnQMLr_Re-rmRo5obd98oAF1sN4Y_qiDZ2Ktg70ERbxSSaXNMomkDPG3CmY8vlsdDg_D0-dioG8vDuHdymFpcdVSUd8VAcGuiJ1e5hVhI6IoaeZL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99" y="2708986"/>
            <a:ext cx="5436262" cy="95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21599" y="454967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class </a:t>
            </a:r>
            <a:r>
              <a:rPr lang="en-US" dirty="0" err="1">
                <a:solidFill>
                  <a:srgbClr val="FF0000"/>
                </a:solidFill>
              </a:rPr>
              <a:t>MyClass</a:t>
            </a: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key;</a:t>
            </a: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data1;</a:t>
            </a: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data2;</a:t>
            </a:r>
          </a:p>
          <a:p>
            <a:r>
              <a:rPr lang="en-US" dirty="0">
                <a:solidFill>
                  <a:srgbClr val="FF0000"/>
                </a:solidFill>
              </a:rPr>
              <a:t>	.</a:t>
            </a:r>
          </a:p>
          <a:p>
            <a:r>
              <a:rPr lang="en-US" dirty="0">
                <a:solidFill>
                  <a:srgbClr val="FF0000"/>
                </a:solidFill>
              </a:rPr>
              <a:t>	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599" y="3974246"/>
            <a:ext cx="5541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object has contains the key using which we stored it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3904774"/>
              </p:ext>
            </p:extLst>
          </p:nvPr>
        </p:nvGraphicFramePr>
        <p:xfrm>
          <a:off x="6721576" y="1536867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Object2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766384" y="1994067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758172" y="1677135"/>
            <a:ext cx="1006641" cy="776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Object1</a:t>
            </a:r>
          </a:p>
        </p:txBody>
      </p:sp>
      <p:cxnSp>
        <p:nvCxnSpPr>
          <p:cNvPr id="17" name="Straight Arrow Connector 16"/>
          <p:cNvCxnSpPr>
            <a:stCxn id="14" idx="3"/>
          </p:cNvCxnSpPr>
          <p:nvPr/>
        </p:nvCxnSpPr>
        <p:spPr>
          <a:xfrm>
            <a:off x="9829865" y="2013895"/>
            <a:ext cx="890140" cy="31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9829865" y="2263140"/>
            <a:ext cx="928307" cy="45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4" idx="1"/>
          </p:cNvCxnSpPr>
          <p:nvPr/>
        </p:nvCxnSpPr>
        <p:spPr>
          <a:xfrm flipH="1">
            <a:off x="8389620" y="2013895"/>
            <a:ext cx="433604" cy="388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BE79C-DADC-4909-A7A9-902854B6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727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 by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functions from your book</a:t>
            </a:r>
          </a:p>
        </p:txBody>
      </p:sp>
      <p:pic>
        <p:nvPicPr>
          <p:cNvPr id="10" name="Picture 4" descr="https://lh4.googleusercontent.com/AwEfjkeEkStjQp41WkbFYYVTFf4TluuADbUnVF8KPLRUnmS7cxNsgUwSSetOQAFyamyazH_6qT1IsGnQMLr_Re-rmRo5obd98oAF1sN4Y_qiDZ2Ktg70ERbxSSaXNMomkDPG3CmY8vlsdDg_D0-dioG8vDuHdymFpcdVSUd8VAcGuiJ1e5hVhI6IoaeZL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99" y="2708986"/>
            <a:ext cx="5436262" cy="95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21599" y="454967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class </a:t>
            </a:r>
            <a:r>
              <a:rPr lang="en-US" dirty="0" err="1">
                <a:solidFill>
                  <a:srgbClr val="FF0000"/>
                </a:solidFill>
              </a:rPr>
              <a:t>MyClass</a:t>
            </a: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key;</a:t>
            </a: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data1;</a:t>
            </a:r>
          </a:p>
          <a:p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data2;</a:t>
            </a:r>
          </a:p>
          <a:p>
            <a:r>
              <a:rPr lang="en-US" dirty="0">
                <a:solidFill>
                  <a:srgbClr val="FF0000"/>
                </a:solidFill>
              </a:rPr>
              <a:t>	.</a:t>
            </a:r>
          </a:p>
          <a:p>
            <a:r>
              <a:rPr lang="en-US" dirty="0">
                <a:solidFill>
                  <a:srgbClr val="FF0000"/>
                </a:solidFill>
              </a:rPr>
              <a:t>	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599" y="3974246"/>
            <a:ext cx="55973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object has contains the key using which we stored it.</a:t>
            </a:r>
          </a:p>
          <a:p>
            <a:r>
              <a:rPr lang="en-US" dirty="0"/>
              <a:t>We can search the list for the object with key k</a:t>
            </a:r>
          </a:p>
        </p:txBody>
      </p:sp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3904774"/>
              </p:ext>
            </p:extLst>
          </p:nvPr>
        </p:nvGraphicFramePr>
        <p:xfrm>
          <a:off x="6721576" y="1536867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Object2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766384" y="1994067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758172" y="1677135"/>
            <a:ext cx="1006641" cy="776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Object1</a:t>
            </a:r>
          </a:p>
        </p:txBody>
      </p:sp>
      <p:cxnSp>
        <p:nvCxnSpPr>
          <p:cNvPr id="17" name="Straight Arrow Connector 16"/>
          <p:cNvCxnSpPr>
            <a:stCxn id="14" idx="3"/>
          </p:cNvCxnSpPr>
          <p:nvPr/>
        </p:nvCxnSpPr>
        <p:spPr>
          <a:xfrm>
            <a:off x="9829865" y="2013895"/>
            <a:ext cx="890140" cy="31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9829865" y="2263140"/>
            <a:ext cx="928307" cy="45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4" idx="1"/>
          </p:cNvCxnSpPr>
          <p:nvPr/>
        </p:nvCxnSpPr>
        <p:spPr>
          <a:xfrm flipH="1">
            <a:off x="8389620" y="2013895"/>
            <a:ext cx="433604" cy="388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2F9856-396D-4EBB-BF07-2C316818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402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 by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functions from your book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https://lh3.googleusercontent.com/FgCu5PefQc8n3Yp7C6-2W7AK6zs2pIUgGZ0p0HYUpRFJV-f5dsDDH5qdCgvFU8kdvK3wwSFLafrsn41_8PWGKLB0O1CHPTSmYpPp1CvMZx4unINWd14dwIuHUEgggXMyuEHjTcjg1YtcYWEkE3ZzE6pPw2ag2CSr55EgFSW2ldyqcegi-xlzULyK5MU4w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90" y="2384089"/>
            <a:ext cx="5981636" cy="1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B2A70-C203-4AF3-A663-5F559A4C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114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 by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functions from your book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6" descr="https://lh3.googleusercontent.com/FgCu5PefQc8n3Yp7C6-2W7AK6zs2pIUgGZ0p0HYUpRFJV-f5dsDDH5qdCgvFU8kdvK3wwSFLafrsn41_8PWGKLB0O1CHPTSmYpPp1CvMZx4unINWd14dwIuHUEgggXMyuEHjTcjg1YtcYWEkE3ZzE6pPw2ag2CSr55EgFSW2ldyqcegi-xlzULyK5MU4w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57" y="2453756"/>
            <a:ext cx="5981636" cy="1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299411" y="4764505"/>
            <a:ext cx="3378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delete an object once we </a:t>
            </a:r>
          </a:p>
          <a:p>
            <a:r>
              <a:rPr lang="en-US" dirty="0"/>
              <a:t>Get its reference using the search </a:t>
            </a: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3904774"/>
              </p:ext>
            </p:extLst>
          </p:nvPr>
        </p:nvGraphicFramePr>
        <p:xfrm>
          <a:off x="6721576" y="1536867"/>
          <a:ext cx="145582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11">
                  <a:extLst>
                    <a:ext uri="{9D8B030D-6E8A-4147-A177-3AD203B41FA5}">
                      <a16:colId xmlns:a16="http://schemas.microsoft.com/office/drawing/2014/main" val="2974759134"/>
                    </a:ext>
                  </a:extLst>
                </a:gridCol>
                <a:gridCol w="727911">
                  <a:extLst>
                    <a:ext uri="{9D8B030D-6E8A-4147-A177-3AD203B41FA5}">
                      <a16:colId xmlns:a16="http://schemas.microsoft.com/office/drawing/2014/main" val="518198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2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9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8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28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24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03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660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0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83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80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47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97231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Object2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7766384" y="1994067"/>
            <a:ext cx="1018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758172" y="1677135"/>
            <a:ext cx="1006641" cy="776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Object1</a:t>
            </a:r>
          </a:p>
        </p:txBody>
      </p:sp>
      <p:cxnSp>
        <p:nvCxnSpPr>
          <p:cNvPr id="16" name="Straight Arrow Connector 15"/>
          <p:cNvCxnSpPr>
            <a:stCxn id="13" idx="3"/>
          </p:cNvCxnSpPr>
          <p:nvPr/>
        </p:nvCxnSpPr>
        <p:spPr>
          <a:xfrm>
            <a:off x="9829865" y="2013895"/>
            <a:ext cx="890140" cy="31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9829865" y="2263140"/>
            <a:ext cx="928307" cy="45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1"/>
          </p:cNvCxnSpPr>
          <p:nvPr/>
        </p:nvCxnSpPr>
        <p:spPr>
          <a:xfrm flipH="1">
            <a:off x="8389620" y="2013895"/>
            <a:ext cx="433604" cy="388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46053-9EFC-491A-BA00-87251F20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022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Time Complexities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Insertion takes O (1) time // we are inserting at the front</a:t>
            </a:r>
          </a:p>
          <a:p>
            <a:r>
              <a:rPr lang="it-IT" dirty="0"/>
              <a:t>Search takes O(n) time</a:t>
            </a:r>
          </a:p>
          <a:p>
            <a:r>
              <a:rPr lang="it-IT" dirty="0"/>
              <a:t>Delete takes O(1) time // as the linked list is doubly linked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A217D-6764-49DC-AB15-4CBDEAE86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077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5.Analysis of Hashing with chaining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B14C6-883C-4828-A734-553411C3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57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required for unsuccessful search</a:t>
            </a:r>
            <a:endParaRPr lang="en-US" dirty="0"/>
          </a:p>
          <a:p>
            <a:r>
              <a:rPr lang="en-US" b="1" dirty="0"/>
              <a:t>time required for successful search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A2116-AF30-4219-AC50-4EC1A535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9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Load factor: </a:t>
            </a:r>
          </a:p>
          <a:p>
            <a:pPr marL="0" indent="0">
              <a:buNone/>
            </a:pPr>
            <a:r>
              <a:rPr lang="en-US" dirty="0"/>
              <a:t>Denoted by </a:t>
            </a:r>
            <a:r>
              <a:rPr lang="el-GR" b="1" dirty="0"/>
              <a:t>α</a:t>
            </a:r>
            <a:endParaRPr lang="en-US" b="1" dirty="0"/>
          </a:p>
          <a:p>
            <a:pPr marL="0" indent="0">
              <a:buNone/>
            </a:pPr>
            <a:r>
              <a:rPr lang="el-GR" b="1" dirty="0"/>
              <a:t>α</a:t>
            </a:r>
            <a:r>
              <a:rPr lang="en-US" b="1" dirty="0"/>
              <a:t>=n/m</a:t>
            </a:r>
          </a:p>
          <a:p>
            <a:pPr marL="0" indent="0">
              <a:buNone/>
            </a:pPr>
            <a:r>
              <a:rPr lang="en-US" b="1" dirty="0"/>
              <a:t>n=total number of elements in the list</a:t>
            </a:r>
          </a:p>
          <a:p>
            <a:pPr marL="0" indent="0">
              <a:buNone/>
            </a:pPr>
            <a:r>
              <a:rPr lang="en-US" b="1" dirty="0"/>
              <a:t>m=the number of slots in the array/table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FC061-979B-43DA-A1B7-242DC810D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344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Load factor: </a:t>
            </a:r>
          </a:p>
          <a:p>
            <a:pPr marL="0" indent="0">
              <a:buNone/>
            </a:pPr>
            <a:r>
              <a:rPr lang="en-US" dirty="0"/>
              <a:t>Denoted by </a:t>
            </a:r>
            <a:r>
              <a:rPr lang="el-GR" b="1" dirty="0"/>
              <a:t>α</a:t>
            </a:r>
            <a:endParaRPr lang="en-US" b="1" dirty="0"/>
          </a:p>
          <a:p>
            <a:pPr marL="0" indent="0">
              <a:buNone/>
            </a:pPr>
            <a:r>
              <a:rPr lang="el-GR" b="1" dirty="0"/>
              <a:t>α</a:t>
            </a:r>
            <a:r>
              <a:rPr lang="en-US" b="1" dirty="0"/>
              <a:t>=n/m</a:t>
            </a:r>
          </a:p>
          <a:p>
            <a:pPr marL="0" indent="0">
              <a:buNone/>
            </a:pPr>
            <a:r>
              <a:rPr lang="en-US" b="1" dirty="0"/>
              <a:t>n=total number of elements in the list</a:t>
            </a:r>
          </a:p>
          <a:p>
            <a:pPr marL="0" indent="0">
              <a:buNone/>
            </a:pPr>
            <a:r>
              <a:rPr lang="en-US" b="1" dirty="0"/>
              <a:t>m=the number of slots in the array/table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92390"/>
              </p:ext>
            </p:extLst>
          </p:nvPr>
        </p:nvGraphicFramePr>
        <p:xfrm>
          <a:off x="7828547" y="2067203"/>
          <a:ext cx="10641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063">
                  <a:extLst>
                    <a:ext uri="{9D8B030D-6E8A-4147-A177-3AD203B41FA5}">
                      <a16:colId xmlns:a16="http://schemas.microsoft.com/office/drawing/2014/main" val="2621841535"/>
                    </a:ext>
                  </a:extLst>
                </a:gridCol>
                <a:gridCol w="532063">
                  <a:extLst>
                    <a:ext uri="{9D8B030D-6E8A-4147-A177-3AD203B41FA5}">
                      <a16:colId xmlns:a16="http://schemas.microsoft.com/office/drawing/2014/main" val="3260327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4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0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0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03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92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2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728782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endCxn id="8" idx="1"/>
          </p:cNvCxnSpPr>
          <p:nvPr/>
        </p:nvCxnSpPr>
        <p:spPr>
          <a:xfrm>
            <a:off x="8888930" y="2579370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410700" y="239268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8" idx="3"/>
            <a:endCxn id="12" idx="1"/>
          </p:cNvCxnSpPr>
          <p:nvPr/>
        </p:nvCxnSpPr>
        <p:spPr>
          <a:xfrm flipV="1">
            <a:off x="9921240" y="256032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82249" y="237363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6" idx="1"/>
          </p:cNvCxnSpPr>
          <p:nvPr/>
        </p:nvCxnSpPr>
        <p:spPr>
          <a:xfrm flipV="1">
            <a:off x="10868026" y="256032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329035" y="237363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18" idx="1"/>
          </p:cNvCxnSpPr>
          <p:nvPr/>
        </p:nvCxnSpPr>
        <p:spPr>
          <a:xfrm>
            <a:off x="8888930" y="3038144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410700" y="285145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>
          <a:xfrm flipV="1">
            <a:off x="9921240" y="301909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382249" y="283240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endCxn id="22" idx="1"/>
          </p:cNvCxnSpPr>
          <p:nvPr/>
        </p:nvCxnSpPr>
        <p:spPr>
          <a:xfrm flipV="1">
            <a:off x="10868026" y="301909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329035" y="283240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4" idx="1"/>
          </p:cNvCxnSpPr>
          <p:nvPr/>
        </p:nvCxnSpPr>
        <p:spPr>
          <a:xfrm>
            <a:off x="8888930" y="3496918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410700" y="331022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4" idx="3"/>
            <a:endCxn id="26" idx="1"/>
          </p:cNvCxnSpPr>
          <p:nvPr/>
        </p:nvCxnSpPr>
        <p:spPr>
          <a:xfrm flipV="1">
            <a:off x="9921240" y="347786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382249" y="329117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endCxn id="28" idx="1"/>
          </p:cNvCxnSpPr>
          <p:nvPr/>
        </p:nvCxnSpPr>
        <p:spPr>
          <a:xfrm flipV="1">
            <a:off x="10868026" y="347786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329035" y="329117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endCxn id="30" idx="1"/>
          </p:cNvCxnSpPr>
          <p:nvPr/>
        </p:nvCxnSpPr>
        <p:spPr>
          <a:xfrm>
            <a:off x="8888930" y="3769002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410700" y="376900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3"/>
            <a:endCxn id="32" idx="1"/>
          </p:cNvCxnSpPr>
          <p:nvPr/>
        </p:nvCxnSpPr>
        <p:spPr>
          <a:xfrm flipV="1">
            <a:off x="9921240" y="393664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382249" y="374995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34" idx="1"/>
          </p:cNvCxnSpPr>
          <p:nvPr/>
        </p:nvCxnSpPr>
        <p:spPr>
          <a:xfrm flipV="1">
            <a:off x="10868026" y="393664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329035" y="374995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endCxn id="38" idx="1"/>
          </p:cNvCxnSpPr>
          <p:nvPr/>
        </p:nvCxnSpPr>
        <p:spPr>
          <a:xfrm>
            <a:off x="8888930" y="4224595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410700" y="4224595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stCxn id="38" idx="3"/>
            <a:endCxn id="40" idx="1"/>
          </p:cNvCxnSpPr>
          <p:nvPr/>
        </p:nvCxnSpPr>
        <p:spPr>
          <a:xfrm flipV="1">
            <a:off x="9921240" y="4392235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382249" y="4205545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>
            <a:endCxn id="42" idx="1"/>
          </p:cNvCxnSpPr>
          <p:nvPr/>
        </p:nvCxnSpPr>
        <p:spPr>
          <a:xfrm flipV="1">
            <a:off x="10868026" y="4392235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1329035" y="4205545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>
            <a:endCxn id="44" idx="1"/>
          </p:cNvCxnSpPr>
          <p:nvPr/>
        </p:nvCxnSpPr>
        <p:spPr>
          <a:xfrm>
            <a:off x="8888930" y="4597975"/>
            <a:ext cx="521770" cy="268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9410700" y="468018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>
            <a:stCxn id="44" idx="3"/>
            <a:endCxn id="46" idx="1"/>
          </p:cNvCxnSpPr>
          <p:nvPr/>
        </p:nvCxnSpPr>
        <p:spPr>
          <a:xfrm flipV="1">
            <a:off x="9921240" y="484782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0382249" y="466113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>
            <a:endCxn id="48" idx="1"/>
          </p:cNvCxnSpPr>
          <p:nvPr/>
        </p:nvCxnSpPr>
        <p:spPr>
          <a:xfrm flipV="1">
            <a:off x="10868026" y="484782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1329035" y="466113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59DA5-DBC4-4322-BE23-F77178323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739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Load factor: </a:t>
            </a:r>
          </a:p>
          <a:p>
            <a:pPr marL="0" indent="0">
              <a:buNone/>
            </a:pPr>
            <a:r>
              <a:rPr lang="en-US" dirty="0"/>
              <a:t>Denoted by </a:t>
            </a:r>
            <a:r>
              <a:rPr lang="el-GR" b="1" dirty="0"/>
              <a:t>α</a:t>
            </a:r>
            <a:endParaRPr lang="en-US" b="1" dirty="0"/>
          </a:p>
          <a:p>
            <a:pPr marL="0" indent="0">
              <a:buNone/>
            </a:pPr>
            <a:r>
              <a:rPr lang="el-GR" b="1" dirty="0"/>
              <a:t>α</a:t>
            </a:r>
            <a:r>
              <a:rPr lang="en-US" b="1" dirty="0"/>
              <a:t>=n/m</a:t>
            </a:r>
          </a:p>
          <a:p>
            <a:pPr marL="0" indent="0">
              <a:buNone/>
            </a:pPr>
            <a:r>
              <a:rPr lang="en-US" b="1" dirty="0"/>
              <a:t>n=total number of elements in the list</a:t>
            </a:r>
          </a:p>
          <a:p>
            <a:pPr marL="0" indent="0">
              <a:buNone/>
            </a:pPr>
            <a:r>
              <a:rPr lang="en-US" b="1" dirty="0"/>
              <a:t>m=the number of slots in the array/table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Here load factor = 18/6=3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92390"/>
              </p:ext>
            </p:extLst>
          </p:nvPr>
        </p:nvGraphicFramePr>
        <p:xfrm>
          <a:off x="7828547" y="2067203"/>
          <a:ext cx="10641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063">
                  <a:extLst>
                    <a:ext uri="{9D8B030D-6E8A-4147-A177-3AD203B41FA5}">
                      <a16:colId xmlns:a16="http://schemas.microsoft.com/office/drawing/2014/main" val="2621841535"/>
                    </a:ext>
                  </a:extLst>
                </a:gridCol>
                <a:gridCol w="532063">
                  <a:extLst>
                    <a:ext uri="{9D8B030D-6E8A-4147-A177-3AD203B41FA5}">
                      <a16:colId xmlns:a16="http://schemas.microsoft.com/office/drawing/2014/main" val="3260327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4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0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0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03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92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2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728782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endCxn id="8" idx="1"/>
          </p:cNvCxnSpPr>
          <p:nvPr/>
        </p:nvCxnSpPr>
        <p:spPr>
          <a:xfrm>
            <a:off x="8888930" y="2579370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410700" y="239268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8" idx="3"/>
            <a:endCxn id="12" idx="1"/>
          </p:cNvCxnSpPr>
          <p:nvPr/>
        </p:nvCxnSpPr>
        <p:spPr>
          <a:xfrm flipV="1">
            <a:off x="9921240" y="256032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82249" y="237363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6" idx="1"/>
          </p:cNvCxnSpPr>
          <p:nvPr/>
        </p:nvCxnSpPr>
        <p:spPr>
          <a:xfrm flipV="1">
            <a:off x="10868026" y="256032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329035" y="237363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18" idx="1"/>
          </p:cNvCxnSpPr>
          <p:nvPr/>
        </p:nvCxnSpPr>
        <p:spPr>
          <a:xfrm>
            <a:off x="8888930" y="3038144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410700" y="285145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>
          <a:xfrm flipV="1">
            <a:off x="9921240" y="301909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382249" y="283240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endCxn id="22" idx="1"/>
          </p:cNvCxnSpPr>
          <p:nvPr/>
        </p:nvCxnSpPr>
        <p:spPr>
          <a:xfrm flipV="1">
            <a:off x="10868026" y="301909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329035" y="283240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4" idx="1"/>
          </p:cNvCxnSpPr>
          <p:nvPr/>
        </p:nvCxnSpPr>
        <p:spPr>
          <a:xfrm>
            <a:off x="8888930" y="3496918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410700" y="331022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4" idx="3"/>
            <a:endCxn id="26" idx="1"/>
          </p:cNvCxnSpPr>
          <p:nvPr/>
        </p:nvCxnSpPr>
        <p:spPr>
          <a:xfrm flipV="1">
            <a:off x="9921240" y="347786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382249" y="329117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endCxn id="28" idx="1"/>
          </p:cNvCxnSpPr>
          <p:nvPr/>
        </p:nvCxnSpPr>
        <p:spPr>
          <a:xfrm flipV="1">
            <a:off x="10868026" y="347786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329035" y="329117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endCxn id="30" idx="1"/>
          </p:cNvCxnSpPr>
          <p:nvPr/>
        </p:nvCxnSpPr>
        <p:spPr>
          <a:xfrm>
            <a:off x="8888930" y="3769002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410700" y="376900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3"/>
            <a:endCxn id="32" idx="1"/>
          </p:cNvCxnSpPr>
          <p:nvPr/>
        </p:nvCxnSpPr>
        <p:spPr>
          <a:xfrm flipV="1">
            <a:off x="9921240" y="393664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382249" y="374995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34" idx="1"/>
          </p:cNvCxnSpPr>
          <p:nvPr/>
        </p:nvCxnSpPr>
        <p:spPr>
          <a:xfrm flipV="1">
            <a:off x="10868026" y="393664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329035" y="374995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endCxn id="38" idx="1"/>
          </p:cNvCxnSpPr>
          <p:nvPr/>
        </p:nvCxnSpPr>
        <p:spPr>
          <a:xfrm>
            <a:off x="8888930" y="4224595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410700" y="4224595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stCxn id="38" idx="3"/>
            <a:endCxn id="40" idx="1"/>
          </p:cNvCxnSpPr>
          <p:nvPr/>
        </p:nvCxnSpPr>
        <p:spPr>
          <a:xfrm flipV="1">
            <a:off x="9921240" y="4392235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382249" y="4205545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>
            <a:endCxn id="42" idx="1"/>
          </p:cNvCxnSpPr>
          <p:nvPr/>
        </p:nvCxnSpPr>
        <p:spPr>
          <a:xfrm flipV="1">
            <a:off x="10868026" y="4392235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1329035" y="4205545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>
            <a:endCxn id="44" idx="1"/>
          </p:cNvCxnSpPr>
          <p:nvPr/>
        </p:nvCxnSpPr>
        <p:spPr>
          <a:xfrm>
            <a:off x="8888930" y="4597975"/>
            <a:ext cx="521770" cy="268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9410700" y="468018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>
            <a:stCxn id="44" idx="3"/>
            <a:endCxn id="46" idx="1"/>
          </p:cNvCxnSpPr>
          <p:nvPr/>
        </p:nvCxnSpPr>
        <p:spPr>
          <a:xfrm flipV="1">
            <a:off x="9921240" y="484782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0382249" y="466113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>
            <a:endCxn id="48" idx="1"/>
          </p:cNvCxnSpPr>
          <p:nvPr/>
        </p:nvCxnSpPr>
        <p:spPr>
          <a:xfrm flipV="1">
            <a:off x="10868026" y="484782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1329035" y="466113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884FC-07FE-4051-8435-31466646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85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Load factor: </a:t>
            </a:r>
          </a:p>
          <a:p>
            <a:pPr marL="0" indent="0">
              <a:buNone/>
            </a:pPr>
            <a:r>
              <a:rPr lang="en-US" dirty="0"/>
              <a:t>Denoted by </a:t>
            </a:r>
            <a:r>
              <a:rPr lang="el-GR" b="1" dirty="0"/>
              <a:t>α</a:t>
            </a:r>
            <a:endParaRPr lang="en-US" b="1" dirty="0"/>
          </a:p>
          <a:p>
            <a:pPr marL="0" indent="0">
              <a:buNone/>
            </a:pPr>
            <a:r>
              <a:rPr lang="el-GR" b="1" dirty="0"/>
              <a:t>α</a:t>
            </a:r>
            <a:r>
              <a:rPr lang="en-US" b="1" dirty="0"/>
              <a:t>=n/m</a:t>
            </a:r>
          </a:p>
          <a:p>
            <a:pPr marL="0" indent="0">
              <a:buNone/>
            </a:pPr>
            <a:r>
              <a:rPr lang="en-US" b="1" dirty="0"/>
              <a:t>n=total number of elements in the list</a:t>
            </a:r>
          </a:p>
          <a:p>
            <a:pPr marL="0" indent="0">
              <a:buNone/>
            </a:pPr>
            <a:r>
              <a:rPr lang="en-US" b="1" dirty="0"/>
              <a:t>m=the number of slots in the array/table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Here load factor = 18/6=3</a:t>
            </a:r>
          </a:p>
          <a:p>
            <a:pPr marL="0" indent="0">
              <a:buNone/>
            </a:pPr>
            <a:r>
              <a:rPr lang="en-US" dirty="0"/>
              <a:t>Observe that it denotes the </a:t>
            </a:r>
            <a:r>
              <a:rPr lang="en-US" b="1" dirty="0"/>
              <a:t>expected</a:t>
            </a:r>
            <a:r>
              <a:rPr lang="en-US" dirty="0"/>
              <a:t> </a:t>
            </a:r>
            <a:r>
              <a:rPr lang="en-US" b="1" dirty="0"/>
              <a:t>size</a:t>
            </a:r>
            <a:r>
              <a:rPr lang="en-US" dirty="0"/>
              <a:t> of a chained list based on average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92390"/>
              </p:ext>
            </p:extLst>
          </p:nvPr>
        </p:nvGraphicFramePr>
        <p:xfrm>
          <a:off x="7828547" y="2067203"/>
          <a:ext cx="10641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063">
                  <a:extLst>
                    <a:ext uri="{9D8B030D-6E8A-4147-A177-3AD203B41FA5}">
                      <a16:colId xmlns:a16="http://schemas.microsoft.com/office/drawing/2014/main" val="2621841535"/>
                    </a:ext>
                  </a:extLst>
                </a:gridCol>
                <a:gridCol w="532063">
                  <a:extLst>
                    <a:ext uri="{9D8B030D-6E8A-4147-A177-3AD203B41FA5}">
                      <a16:colId xmlns:a16="http://schemas.microsoft.com/office/drawing/2014/main" val="3260327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4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0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0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03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92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2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728782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endCxn id="8" idx="1"/>
          </p:cNvCxnSpPr>
          <p:nvPr/>
        </p:nvCxnSpPr>
        <p:spPr>
          <a:xfrm>
            <a:off x="8888930" y="2579370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410700" y="239268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8" idx="3"/>
            <a:endCxn id="12" idx="1"/>
          </p:cNvCxnSpPr>
          <p:nvPr/>
        </p:nvCxnSpPr>
        <p:spPr>
          <a:xfrm flipV="1">
            <a:off x="9921240" y="256032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82249" y="237363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6" idx="1"/>
          </p:cNvCxnSpPr>
          <p:nvPr/>
        </p:nvCxnSpPr>
        <p:spPr>
          <a:xfrm flipV="1">
            <a:off x="10868026" y="256032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329035" y="237363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18" idx="1"/>
          </p:cNvCxnSpPr>
          <p:nvPr/>
        </p:nvCxnSpPr>
        <p:spPr>
          <a:xfrm>
            <a:off x="8888930" y="3038144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410700" y="285145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>
          <a:xfrm flipV="1">
            <a:off x="9921240" y="301909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382249" y="283240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endCxn id="22" idx="1"/>
          </p:cNvCxnSpPr>
          <p:nvPr/>
        </p:nvCxnSpPr>
        <p:spPr>
          <a:xfrm flipV="1">
            <a:off x="10868026" y="301909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329035" y="283240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4" idx="1"/>
          </p:cNvCxnSpPr>
          <p:nvPr/>
        </p:nvCxnSpPr>
        <p:spPr>
          <a:xfrm>
            <a:off x="8888930" y="3496918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410700" y="331022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4" idx="3"/>
            <a:endCxn id="26" idx="1"/>
          </p:cNvCxnSpPr>
          <p:nvPr/>
        </p:nvCxnSpPr>
        <p:spPr>
          <a:xfrm flipV="1">
            <a:off x="9921240" y="347786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382249" y="329117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endCxn id="28" idx="1"/>
          </p:cNvCxnSpPr>
          <p:nvPr/>
        </p:nvCxnSpPr>
        <p:spPr>
          <a:xfrm flipV="1">
            <a:off x="10868026" y="347786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329035" y="329117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endCxn id="30" idx="1"/>
          </p:cNvCxnSpPr>
          <p:nvPr/>
        </p:nvCxnSpPr>
        <p:spPr>
          <a:xfrm>
            <a:off x="8888930" y="3769002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410700" y="376900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3"/>
            <a:endCxn id="32" idx="1"/>
          </p:cNvCxnSpPr>
          <p:nvPr/>
        </p:nvCxnSpPr>
        <p:spPr>
          <a:xfrm flipV="1">
            <a:off x="9921240" y="393664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382249" y="374995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34" idx="1"/>
          </p:cNvCxnSpPr>
          <p:nvPr/>
        </p:nvCxnSpPr>
        <p:spPr>
          <a:xfrm flipV="1">
            <a:off x="10868026" y="393664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329035" y="374995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endCxn id="38" idx="1"/>
          </p:cNvCxnSpPr>
          <p:nvPr/>
        </p:nvCxnSpPr>
        <p:spPr>
          <a:xfrm>
            <a:off x="8888930" y="4224595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410700" y="4224595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stCxn id="38" idx="3"/>
            <a:endCxn id="40" idx="1"/>
          </p:cNvCxnSpPr>
          <p:nvPr/>
        </p:nvCxnSpPr>
        <p:spPr>
          <a:xfrm flipV="1">
            <a:off x="9921240" y="4392235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382249" y="4205545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/>
          <p:cNvCxnSpPr>
            <a:endCxn id="42" idx="1"/>
          </p:cNvCxnSpPr>
          <p:nvPr/>
        </p:nvCxnSpPr>
        <p:spPr>
          <a:xfrm flipV="1">
            <a:off x="10868026" y="4392235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1329035" y="4205545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>
            <a:endCxn id="44" idx="1"/>
          </p:cNvCxnSpPr>
          <p:nvPr/>
        </p:nvCxnSpPr>
        <p:spPr>
          <a:xfrm>
            <a:off x="8888930" y="4597975"/>
            <a:ext cx="521770" cy="268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9410700" y="468018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>
            <a:stCxn id="44" idx="3"/>
            <a:endCxn id="46" idx="1"/>
          </p:cNvCxnSpPr>
          <p:nvPr/>
        </p:nvCxnSpPr>
        <p:spPr>
          <a:xfrm flipV="1">
            <a:off x="9921240" y="484782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0382249" y="466113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>
            <a:endCxn id="48" idx="1"/>
          </p:cNvCxnSpPr>
          <p:nvPr/>
        </p:nvCxnSpPr>
        <p:spPr>
          <a:xfrm flipV="1">
            <a:off x="10868026" y="4847828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1329035" y="4661138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567D5-7AFB-4415-AA9C-44A6BA2E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898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77338" cy="1325563"/>
          </a:xfrm>
        </p:spPr>
        <p:txBody>
          <a:bodyPr>
            <a:normAutofit/>
          </a:bodyPr>
          <a:lstStyle/>
          <a:p>
            <a:r>
              <a:rPr lang="en-US" b="1" dirty="0"/>
              <a:t>Time required for unsuccessful search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 is not present in the list.</a:t>
            </a:r>
          </a:p>
          <a:p>
            <a:r>
              <a:rPr lang="en-US" dirty="0"/>
              <a:t>Suppose the object with key 2 was present in the hash table.</a:t>
            </a:r>
          </a:p>
          <a:p>
            <a:r>
              <a:rPr lang="en-US" dirty="0"/>
              <a:t>But it was delete and hence no longer present.</a:t>
            </a:r>
          </a:p>
          <a:p>
            <a:r>
              <a:rPr lang="en-US" dirty="0"/>
              <a:t>We use the key with the hash function and calculate the position in the hash table (1 unit time)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021785"/>
              </p:ext>
            </p:extLst>
          </p:nvPr>
        </p:nvGraphicFramePr>
        <p:xfrm>
          <a:off x="7620000" y="3871635"/>
          <a:ext cx="10641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063">
                  <a:extLst>
                    <a:ext uri="{9D8B030D-6E8A-4147-A177-3AD203B41FA5}">
                      <a16:colId xmlns:a16="http://schemas.microsoft.com/office/drawing/2014/main" val="2621841535"/>
                    </a:ext>
                  </a:extLst>
                </a:gridCol>
                <a:gridCol w="532063">
                  <a:extLst>
                    <a:ext uri="{9D8B030D-6E8A-4147-A177-3AD203B41FA5}">
                      <a16:colId xmlns:a16="http://schemas.microsoft.com/office/drawing/2014/main" val="3260327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4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0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0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03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92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2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728782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>
            <a:endCxn id="6" idx="1"/>
          </p:cNvCxnSpPr>
          <p:nvPr/>
        </p:nvCxnSpPr>
        <p:spPr>
          <a:xfrm>
            <a:off x="8680383" y="4383802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6" idx="3"/>
            <a:endCxn id="8" idx="1"/>
          </p:cNvCxnSpPr>
          <p:nvPr/>
        </p:nvCxnSpPr>
        <p:spPr>
          <a:xfrm flipV="1">
            <a:off x="9712693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10" idx="1"/>
          </p:cNvCxnSpPr>
          <p:nvPr/>
        </p:nvCxnSpPr>
        <p:spPr>
          <a:xfrm flipV="1">
            <a:off x="10659479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endCxn id="12" idx="1"/>
          </p:cNvCxnSpPr>
          <p:nvPr/>
        </p:nvCxnSpPr>
        <p:spPr>
          <a:xfrm>
            <a:off x="8680383" y="4842576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2" idx="3"/>
            <a:endCxn id="14" idx="1"/>
          </p:cNvCxnSpPr>
          <p:nvPr/>
        </p:nvCxnSpPr>
        <p:spPr>
          <a:xfrm flipV="1">
            <a:off x="9712693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6" idx="1"/>
          </p:cNvCxnSpPr>
          <p:nvPr/>
        </p:nvCxnSpPr>
        <p:spPr>
          <a:xfrm flipV="1">
            <a:off x="10659479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18" idx="1"/>
          </p:cNvCxnSpPr>
          <p:nvPr/>
        </p:nvCxnSpPr>
        <p:spPr>
          <a:xfrm>
            <a:off x="8680383" y="5301350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>
          <a:xfrm flipV="1">
            <a:off x="9712693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endCxn id="22" idx="1"/>
          </p:cNvCxnSpPr>
          <p:nvPr/>
        </p:nvCxnSpPr>
        <p:spPr>
          <a:xfrm flipV="1">
            <a:off x="10659479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4" idx="1"/>
          </p:cNvCxnSpPr>
          <p:nvPr/>
        </p:nvCxnSpPr>
        <p:spPr>
          <a:xfrm>
            <a:off x="8680383" y="5573434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4" idx="3"/>
            <a:endCxn id="26" idx="1"/>
          </p:cNvCxnSpPr>
          <p:nvPr/>
        </p:nvCxnSpPr>
        <p:spPr>
          <a:xfrm flipV="1">
            <a:off x="9712693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endCxn id="28" idx="1"/>
          </p:cNvCxnSpPr>
          <p:nvPr/>
        </p:nvCxnSpPr>
        <p:spPr>
          <a:xfrm flipV="1">
            <a:off x="10659479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endCxn id="30" idx="1"/>
          </p:cNvCxnSpPr>
          <p:nvPr/>
        </p:nvCxnSpPr>
        <p:spPr>
          <a:xfrm>
            <a:off x="8680383" y="6029027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3"/>
            <a:endCxn id="32" idx="1"/>
          </p:cNvCxnSpPr>
          <p:nvPr/>
        </p:nvCxnSpPr>
        <p:spPr>
          <a:xfrm flipV="1">
            <a:off x="9712693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34" idx="1"/>
          </p:cNvCxnSpPr>
          <p:nvPr/>
        </p:nvCxnSpPr>
        <p:spPr>
          <a:xfrm flipV="1">
            <a:off x="10659479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endCxn id="36" idx="1"/>
          </p:cNvCxnSpPr>
          <p:nvPr/>
        </p:nvCxnSpPr>
        <p:spPr>
          <a:xfrm>
            <a:off x="8680383" y="6402407"/>
            <a:ext cx="521770" cy="268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stCxn id="36" idx="3"/>
            <a:endCxn id="38" idx="1"/>
          </p:cNvCxnSpPr>
          <p:nvPr/>
        </p:nvCxnSpPr>
        <p:spPr>
          <a:xfrm flipV="1">
            <a:off x="9712693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endCxn id="40" idx="1"/>
          </p:cNvCxnSpPr>
          <p:nvPr/>
        </p:nvCxnSpPr>
        <p:spPr>
          <a:xfrm flipV="1">
            <a:off x="10659479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315765C4-7592-4CEF-BA8A-D87AFDA3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82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77338" cy="1325563"/>
          </a:xfrm>
        </p:spPr>
        <p:txBody>
          <a:bodyPr>
            <a:normAutofit/>
          </a:bodyPr>
          <a:lstStyle/>
          <a:p>
            <a:r>
              <a:rPr lang="en-US" b="1" dirty="0"/>
              <a:t>Time required for unsuccessful search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 is not present in the list.</a:t>
            </a:r>
          </a:p>
          <a:p>
            <a:r>
              <a:rPr lang="en-US" dirty="0"/>
              <a:t>Suppose the object with key 2 was present in the hash table.</a:t>
            </a:r>
          </a:p>
          <a:p>
            <a:r>
              <a:rPr lang="en-US" dirty="0"/>
              <a:t>But it was delete and hence no longer present.</a:t>
            </a:r>
          </a:p>
          <a:p>
            <a:r>
              <a:rPr lang="en-US" dirty="0"/>
              <a:t>We use the key with the hash function and calculate the position in the hash table (1 unit time)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021785"/>
              </p:ext>
            </p:extLst>
          </p:nvPr>
        </p:nvGraphicFramePr>
        <p:xfrm>
          <a:off x="7620000" y="3871635"/>
          <a:ext cx="10641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063">
                  <a:extLst>
                    <a:ext uri="{9D8B030D-6E8A-4147-A177-3AD203B41FA5}">
                      <a16:colId xmlns:a16="http://schemas.microsoft.com/office/drawing/2014/main" val="2621841535"/>
                    </a:ext>
                  </a:extLst>
                </a:gridCol>
                <a:gridCol w="532063">
                  <a:extLst>
                    <a:ext uri="{9D8B030D-6E8A-4147-A177-3AD203B41FA5}">
                      <a16:colId xmlns:a16="http://schemas.microsoft.com/office/drawing/2014/main" val="3260327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4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0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0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03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92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2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728782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>
            <a:endCxn id="6" idx="1"/>
          </p:cNvCxnSpPr>
          <p:nvPr/>
        </p:nvCxnSpPr>
        <p:spPr>
          <a:xfrm>
            <a:off x="8680383" y="4383802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6" idx="3"/>
            <a:endCxn id="8" idx="1"/>
          </p:cNvCxnSpPr>
          <p:nvPr/>
        </p:nvCxnSpPr>
        <p:spPr>
          <a:xfrm flipV="1">
            <a:off x="9712693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10" idx="1"/>
          </p:cNvCxnSpPr>
          <p:nvPr/>
        </p:nvCxnSpPr>
        <p:spPr>
          <a:xfrm flipV="1">
            <a:off x="10659479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endCxn id="12" idx="1"/>
          </p:cNvCxnSpPr>
          <p:nvPr/>
        </p:nvCxnSpPr>
        <p:spPr>
          <a:xfrm>
            <a:off x="8680383" y="4842576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2" idx="3"/>
            <a:endCxn id="14" idx="1"/>
          </p:cNvCxnSpPr>
          <p:nvPr/>
        </p:nvCxnSpPr>
        <p:spPr>
          <a:xfrm flipV="1">
            <a:off x="9712693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6" idx="1"/>
          </p:cNvCxnSpPr>
          <p:nvPr/>
        </p:nvCxnSpPr>
        <p:spPr>
          <a:xfrm flipV="1">
            <a:off x="10659479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18" idx="1"/>
          </p:cNvCxnSpPr>
          <p:nvPr/>
        </p:nvCxnSpPr>
        <p:spPr>
          <a:xfrm>
            <a:off x="8680383" y="5301350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>
          <a:xfrm flipV="1">
            <a:off x="9712693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endCxn id="22" idx="1"/>
          </p:cNvCxnSpPr>
          <p:nvPr/>
        </p:nvCxnSpPr>
        <p:spPr>
          <a:xfrm flipV="1">
            <a:off x="10659479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4" idx="1"/>
          </p:cNvCxnSpPr>
          <p:nvPr/>
        </p:nvCxnSpPr>
        <p:spPr>
          <a:xfrm>
            <a:off x="8680383" y="5573434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4" idx="3"/>
            <a:endCxn id="26" idx="1"/>
          </p:cNvCxnSpPr>
          <p:nvPr/>
        </p:nvCxnSpPr>
        <p:spPr>
          <a:xfrm flipV="1">
            <a:off x="9712693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endCxn id="28" idx="1"/>
          </p:cNvCxnSpPr>
          <p:nvPr/>
        </p:nvCxnSpPr>
        <p:spPr>
          <a:xfrm flipV="1">
            <a:off x="10659479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endCxn id="30" idx="1"/>
          </p:cNvCxnSpPr>
          <p:nvPr/>
        </p:nvCxnSpPr>
        <p:spPr>
          <a:xfrm>
            <a:off x="8680383" y="6029027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3"/>
            <a:endCxn id="32" idx="1"/>
          </p:cNvCxnSpPr>
          <p:nvPr/>
        </p:nvCxnSpPr>
        <p:spPr>
          <a:xfrm flipV="1">
            <a:off x="9712693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34" idx="1"/>
          </p:cNvCxnSpPr>
          <p:nvPr/>
        </p:nvCxnSpPr>
        <p:spPr>
          <a:xfrm flipV="1">
            <a:off x="10659479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endCxn id="36" idx="1"/>
          </p:cNvCxnSpPr>
          <p:nvPr/>
        </p:nvCxnSpPr>
        <p:spPr>
          <a:xfrm>
            <a:off x="8680383" y="6402407"/>
            <a:ext cx="521770" cy="268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stCxn id="36" idx="3"/>
            <a:endCxn id="38" idx="1"/>
          </p:cNvCxnSpPr>
          <p:nvPr/>
        </p:nvCxnSpPr>
        <p:spPr>
          <a:xfrm flipV="1">
            <a:off x="9712693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endCxn id="40" idx="1"/>
          </p:cNvCxnSpPr>
          <p:nvPr/>
        </p:nvCxnSpPr>
        <p:spPr>
          <a:xfrm flipV="1">
            <a:off x="10659479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7118682">
            <a:off x="7125443" y="4441747"/>
            <a:ext cx="311182" cy="6454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7EF9F26B-15DE-434B-B566-969B8C1B0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991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77338" cy="1325563"/>
          </a:xfrm>
        </p:spPr>
        <p:txBody>
          <a:bodyPr>
            <a:normAutofit/>
          </a:bodyPr>
          <a:lstStyle/>
          <a:p>
            <a:r>
              <a:rPr lang="en-US" b="1" dirty="0"/>
              <a:t>Time required for unsuccessful search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 is not present in the list.</a:t>
            </a:r>
          </a:p>
          <a:p>
            <a:r>
              <a:rPr lang="en-US" dirty="0"/>
              <a:t>Suppose the object with key 2 was present in the hash table.</a:t>
            </a:r>
          </a:p>
          <a:p>
            <a:r>
              <a:rPr lang="en-US" dirty="0"/>
              <a:t>But it was delete and hence no longer present.</a:t>
            </a:r>
          </a:p>
          <a:p>
            <a:r>
              <a:rPr lang="en-US" dirty="0"/>
              <a:t>We use the key with the hash function and calculate the position in the hash table (1 unit time)</a:t>
            </a:r>
          </a:p>
          <a:p>
            <a:r>
              <a:rPr lang="en-US" dirty="0"/>
              <a:t>The we traverse the entire list searching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021785"/>
              </p:ext>
            </p:extLst>
          </p:nvPr>
        </p:nvGraphicFramePr>
        <p:xfrm>
          <a:off x="7620000" y="3871635"/>
          <a:ext cx="10641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063">
                  <a:extLst>
                    <a:ext uri="{9D8B030D-6E8A-4147-A177-3AD203B41FA5}">
                      <a16:colId xmlns:a16="http://schemas.microsoft.com/office/drawing/2014/main" val="2621841535"/>
                    </a:ext>
                  </a:extLst>
                </a:gridCol>
                <a:gridCol w="532063">
                  <a:extLst>
                    <a:ext uri="{9D8B030D-6E8A-4147-A177-3AD203B41FA5}">
                      <a16:colId xmlns:a16="http://schemas.microsoft.com/office/drawing/2014/main" val="3260327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4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0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0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03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92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2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728782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>
            <a:endCxn id="6" idx="1"/>
          </p:cNvCxnSpPr>
          <p:nvPr/>
        </p:nvCxnSpPr>
        <p:spPr>
          <a:xfrm>
            <a:off x="8680383" y="4383802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6" idx="3"/>
            <a:endCxn id="8" idx="1"/>
          </p:cNvCxnSpPr>
          <p:nvPr/>
        </p:nvCxnSpPr>
        <p:spPr>
          <a:xfrm flipV="1">
            <a:off x="9712693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10" idx="1"/>
          </p:cNvCxnSpPr>
          <p:nvPr/>
        </p:nvCxnSpPr>
        <p:spPr>
          <a:xfrm flipV="1">
            <a:off x="10659479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endCxn id="12" idx="1"/>
          </p:cNvCxnSpPr>
          <p:nvPr/>
        </p:nvCxnSpPr>
        <p:spPr>
          <a:xfrm>
            <a:off x="8680383" y="4842576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2" idx="3"/>
            <a:endCxn id="14" idx="1"/>
          </p:cNvCxnSpPr>
          <p:nvPr/>
        </p:nvCxnSpPr>
        <p:spPr>
          <a:xfrm flipV="1">
            <a:off x="9712693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6" idx="1"/>
          </p:cNvCxnSpPr>
          <p:nvPr/>
        </p:nvCxnSpPr>
        <p:spPr>
          <a:xfrm flipV="1">
            <a:off x="10659479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18" idx="1"/>
          </p:cNvCxnSpPr>
          <p:nvPr/>
        </p:nvCxnSpPr>
        <p:spPr>
          <a:xfrm>
            <a:off x="8680383" y="5301350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>
          <a:xfrm flipV="1">
            <a:off x="9712693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endCxn id="22" idx="1"/>
          </p:cNvCxnSpPr>
          <p:nvPr/>
        </p:nvCxnSpPr>
        <p:spPr>
          <a:xfrm flipV="1">
            <a:off x="10659479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4" idx="1"/>
          </p:cNvCxnSpPr>
          <p:nvPr/>
        </p:nvCxnSpPr>
        <p:spPr>
          <a:xfrm>
            <a:off x="8680383" y="5573434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4" idx="3"/>
            <a:endCxn id="26" idx="1"/>
          </p:cNvCxnSpPr>
          <p:nvPr/>
        </p:nvCxnSpPr>
        <p:spPr>
          <a:xfrm flipV="1">
            <a:off x="9712693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endCxn id="28" idx="1"/>
          </p:cNvCxnSpPr>
          <p:nvPr/>
        </p:nvCxnSpPr>
        <p:spPr>
          <a:xfrm flipV="1">
            <a:off x="10659479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endCxn id="30" idx="1"/>
          </p:cNvCxnSpPr>
          <p:nvPr/>
        </p:nvCxnSpPr>
        <p:spPr>
          <a:xfrm>
            <a:off x="8680383" y="6029027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3"/>
            <a:endCxn id="32" idx="1"/>
          </p:cNvCxnSpPr>
          <p:nvPr/>
        </p:nvCxnSpPr>
        <p:spPr>
          <a:xfrm flipV="1">
            <a:off x="9712693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34" idx="1"/>
          </p:cNvCxnSpPr>
          <p:nvPr/>
        </p:nvCxnSpPr>
        <p:spPr>
          <a:xfrm flipV="1">
            <a:off x="10659479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endCxn id="36" idx="1"/>
          </p:cNvCxnSpPr>
          <p:nvPr/>
        </p:nvCxnSpPr>
        <p:spPr>
          <a:xfrm>
            <a:off x="8680383" y="6402407"/>
            <a:ext cx="521770" cy="268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stCxn id="36" idx="3"/>
            <a:endCxn id="38" idx="1"/>
          </p:cNvCxnSpPr>
          <p:nvPr/>
        </p:nvCxnSpPr>
        <p:spPr>
          <a:xfrm flipV="1">
            <a:off x="9712693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endCxn id="40" idx="1"/>
          </p:cNvCxnSpPr>
          <p:nvPr/>
        </p:nvCxnSpPr>
        <p:spPr>
          <a:xfrm flipV="1">
            <a:off x="10659479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7118682">
            <a:off x="7125443" y="4441747"/>
            <a:ext cx="311182" cy="6454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94413AF1-73F5-4467-AC9B-B6BCCD6D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154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77338" cy="1325563"/>
          </a:xfrm>
        </p:spPr>
        <p:txBody>
          <a:bodyPr>
            <a:normAutofit/>
          </a:bodyPr>
          <a:lstStyle/>
          <a:p>
            <a:r>
              <a:rPr lang="en-US" b="1" dirty="0"/>
              <a:t>Time required for unsuccessful search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 is not present in the list.</a:t>
            </a:r>
          </a:p>
          <a:p>
            <a:r>
              <a:rPr lang="en-US" dirty="0"/>
              <a:t>Suppose the object with key 2 was present in the hash table.</a:t>
            </a:r>
          </a:p>
          <a:p>
            <a:r>
              <a:rPr lang="en-US" dirty="0"/>
              <a:t>But it was delete and hence no longer present.</a:t>
            </a:r>
          </a:p>
          <a:p>
            <a:r>
              <a:rPr lang="en-US" dirty="0"/>
              <a:t>We use the key with the hash function and calculate the position in the hash table (1 unit time)</a:t>
            </a:r>
          </a:p>
          <a:p>
            <a:r>
              <a:rPr lang="en-US" dirty="0"/>
              <a:t>The we traverse the entire list searching</a:t>
            </a:r>
          </a:p>
          <a:p>
            <a:r>
              <a:rPr lang="en-US" dirty="0"/>
              <a:t>The whole list will be traversed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021785"/>
              </p:ext>
            </p:extLst>
          </p:nvPr>
        </p:nvGraphicFramePr>
        <p:xfrm>
          <a:off x="7620000" y="3871635"/>
          <a:ext cx="10641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063">
                  <a:extLst>
                    <a:ext uri="{9D8B030D-6E8A-4147-A177-3AD203B41FA5}">
                      <a16:colId xmlns:a16="http://schemas.microsoft.com/office/drawing/2014/main" val="2621841535"/>
                    </a:ext>
                  </a:extLst>
                </a:gridCol>
                <a:gridCol w="532063">
                  <a:extLst>
                    <a:ext uri="{9D8B030D-6E8A-4147-A177-3AD203B41FA5}">
                      <a16:colId xmlns:a16="http://schemas.microsoft.com/office/drawing/2014/main" val="3260327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4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0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0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03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92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2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728782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>
            <a:endCxn id="6" idx="1"/>
          </p:cNvCxnSpPr>
          <p:nvPr/>
        </p:nvCxnSpPr>
        <p:spPr>
          <a:xfrm>
            <a:off x="8680383" y="4383802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6" idx="3"/>
            <a:endCxn id="8" idx="1"/>
          </p:cNvCxnSpPr>
          <p:nvPr/>
        </p:nvCxnSpPr>
        <p:spPr>
          <a:xfrm flipV="1">
            <a:off x="9712693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10" idx="1"/>
          </p:cNvCxnSpPr>
          <p:nvPr/>
        </p:nvCxnSpPr>
        <p:spPr>
          <a:xfrm flipV="1">
            <a:off x="10659479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endCxn id="12" idx="1"/>
          </p:cNvCxnSpPr>
          <p:nvPr/>
        </p:nvCxnSpPr>
        <p:spPr>
          <a:xfrm>
            <a:off x="8680383" y="4842576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2" idx="3"/>
            <a:endCxn id="14" idx="1"/>
          </p:cNvCxnSpPr>
          <p:nvPr/>
        </p:nvCxnSpPr>
        <p:spPr>
          <a:xfrm flipV="1">
            <a:off x="9712693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6" idx="1"/>
          </p:cNvCxnSpPr>
          <p:nvPr/>
        </p:nvCxnSpPr>
        <p:spPr>
          <a:xfrm flipV="1">
            <a:off x="10659479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18" idx="1"/>
          </p:cNvCxnSpPr>
          <p:nvPr/>
        </p:nvCxnSpPr>
        <p:spPr>
          <a:xfrm>
            <a:off x="8680383" y="5301350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>
          <a:xfrm flipV="1">
            <a:off x="9712693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endCxn id="22" idx="1"/>
          </p:cNvCxnSpPr>
          <p:nvPr/>
        </p:nvCxnSpPr>
        <p:spPr>
          <a:xfrm flipV="1">
            <a:off x="10659479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4" idx="1"/>
          </p:cNvCxnSpPr>
          <p:nvPr/>
        </p:nvCxnSpPr>
        <p:spPr>
          <a:xfrm>
            <a:off x="8680383" y="5573434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4" idx="3"/>
            <a:endCxn id="26" idx="1"/>
          </p:cNvCxnSpPr>
          <p:nvPr/>
        </p:nvCxnSpPr>
        <p:spPr>
          <a:xfrm flipV="1">
            <a:off x="9712693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endCxn id="28" idx="1"/>
          </p:cNvCxnSpPr>
          <p:nvPr/>
        </p:nvCxnSpPr>
        <p:spPr>
          <a:xfrm flipV="1">
            <a:off x="10659479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endCxn id="30" idx="1"/>
          </p:cNvCxnSpPr>
          <p:nvPr/>
        </p:nvCxnSpPr>
        <p:spPr>
          <a:xfrm>
            <a:off x="8680383" y="6029027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3"/>
            <a:endCxn id="32" idx="1"/>
          </p:cNvCxnSpPr>
          <p:nvPr/>
        </p:nvCxnSpPr>
        <p:spPr>
          <a:xfrm flipV="1">
            <a:off x="9712693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34" idx="1"/>
          </p:cNvCxnSpPr>
          <p:nvPr/>
        </p:nvCxnSpPr>
        <p:spPr>
          <a:xfrm flipV="1">
            <a:off x="10659479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endCxn id="36" idx="1"/>
          </p:cNvCxnSpPr>
          <p:nvPr/>
        </p:nvCxnSpPr>
        <p:spPr>
          <a:xfrm>
            <a:off x="8680383" y="6402407"/>
            <a:ext cx="521770" cy="268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stCxn id="36" idx="3"/>
            <a:endCxn id="38" idx="1"/>
          </p:cNvCxnSpPr>
          <p:nvPr/>
        </p:nvCxnSpPr>
        <p:spPr>
          <a:xfrm flipV="1">
            <a:off x="9712693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endCxn id="40" idx="1"/>
          </p:cNvCxnSpPr>
          <p:nvPr/>
        </p:nvCxnSpPr>
        <p:spPr>
          <a:xfrm flipV="1">
            <a:off x="10659479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7118682">
            <a:off x="7125443" y="4441747"/>
            <a:ext cx="311182" cy="6454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56C0824-2979-4B2A-A9D8-04A6B850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272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77338" cy="1325563"/>
          </a:xfrm>
        </p:spPr>
        <p:txBody>
          <a:bodyPr>
            <a:normAutofit/>
          </a:bodyPr>
          <a:lstStyle/>
          <a:p>
            <a:r>
              <a:rPr lang="en-US" b="1" dirty="0"/>
              <a:t>Time required for unsuccessful search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object is not present in the list.</a:t>
            </a:r>
          </a:p>
          <a:p>
            <a:r>
              <a:rPr lang="en-US" dirty="0"/>
              <a:t>Suppose the object with key 2 was present in the hash table.</a:t>
            </a:r>
          </a:p>
          <a:p>
            <a:r>
              <a:rPr lang="en-US" dirty="0"/>
              <a:t>But it was delete and hence no longer present.</a:t>
            </a:r>
          </a:p>
          <a:p>
            <a:r>
              <a:rPr lang="en-US" dirty="0"/>
              <a:t>We use the key with the hash function and calculate the position in the hash table (1 unit time)</a:t>
            </a:r>
          </a:p>
          <a:p>
            <a:r>
              <a:rPr lang="en-US" dirty="0"/>
              <a:t>The we traverse the entire list searching</a:t>
            </a:r>
          </a:p>
          <a:p>
            <a:r>
              <a:rPr lang="en-US" dirty="0"/>
              <a:t>The whole list will be traversed.</a:t>
            </a:r>
          </a:p>
          <a:p>
            <a:r>
              <a:rPr lang="en-US" dirty="0"/>
              <a:t>As the item will not be found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021785"/>
              </p:ext>
            </p:extLst>
          </p:nvPr>
        </p:nvGraphicFramePr>
        <p:xfrm>
          <a:off x="7620000" y="3871635"/>
          <a:ext cx="10641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063">
                  <a:extLst>
                    <a:ext uri="{9D8B030D-6E8A-4147-A177-3AD203B41FA5}">
                      <a16:colId xmlns:a16="http://schemas.microsoft.com/office/drawing/2014/main" val="2621841535"/>
                    </a:ext>
                  </a:extLst>
                </a:gridCol>
                <a:gridCol w="532063">
                  <a:extLst>
                    <a:ext uri="{9D8B030D-6E8A-4147-A177-3AD203B41FA5}">
                      <a16:colId xmlns:a16="http://schemas.microsoft.com/office/drawing/2014/main" val="3260327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4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0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0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03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92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2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728782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>
            <a:endCxn id="6" idx="1"/>
          </p:cNvCxnSpPr>
          <p:nvPr/>
        </p:nvCxnSpPr>
        <p:spPr>
          <a:xfrm>
            <a:off x="8680383" y="4383802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6" idx="3"/>
            <a:endCxn id="8" idx="1"/>
          </p:cNvCxnSpPr>
          <p:nvPr/>
        </p:nvCxnSpPr>
        <p:spPr>
          <a:xfrm flipV="1">
            <a:off x="9712693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10" idx="1"/>
          </p:cNvCxnSpPr>
          <p:nvPr/>
        </p:nvCxnSpPr>
        <p:spPr>
          <a:xfrm flipV="1">
            <a:off x="10659479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endCxn id="12" idx="1"/>
          </p:cNvCxnSpPr>
          <p:nvPr/>
        </p:nvCxnSpPr>
        <p:spPr>
          <a:xfrm>
            <a:off x="8680383" y="4842576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2" idx="3"/>
            <a:endCxn id="14" idx="1"/>
          </p:cNvCxnSpPr>
          <p:nvPr/>
        </p:nvCxnSpPr>
        <p:spPr>
          <a:xfrm flipV="1">
            <a:off x="9712693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6" idx="1"/>
          </p:cNvCxnSpPr>
          <p:nvPr/>
        </p:nvCxnSpPr>
        <p:spPr>
          <a:xfrm flipV="1">
            <a:off x="10659479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18" idx="1"/>
          </p:cNvCxnSpPr>
          <p:nvPr/>
        </p:nvCxnSpPr>
        <p:spPr>
          <a:xfrm>
            <a:off x="8680383" y="5301350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>
          <a:xfrm flipV="1">
            <a:off x="9712693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endCxn id="22" idx="1"/>
          </p:cNvCxnSpPr>
          <p:nvPr/>
        </p:nvCxnSpPr>
        <p:spPr>
          <a:xfrm flipV="1">
            <a:off x="10659479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4" idx="1"/>
          </p:cNvCxnSpPr>
          <p:nvPr/>
        </p:nvCxnSpPr>
        <p:spPr>
          <a:xfrm>
            <a:off x="8680383" y="5573434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4" idx="3"/>
            <a:endCxn id="26" idx="1"/>
          </p:cNvCxnSpPr>
          <p:nvPr/>
        </p:nvCxnSpPr>
        <p:spPr>
          <a:xfrm flipV="1">
            <a:off x="9712693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endCxn id="28" idx="1"/>
          </p:cNvCxnSpPr>
          <p:nvPr/>
        </p:nvCxnSpPr>
        <p:spPr>
          <a:xfrm flipV="1">
            <a:off x="10659479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endCxn id="30" idx="1"/>
          </p:cNvCxnSpPr>
          <p:nvPr/>
        </p:nvCxnSpPr>
        <p:spPr>
          <a:xfrm>
            <a:off x="8680383" y="6029027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3"/>
            <a:endCxn id="32" idx="1"/>
          </p:cNvCxnSpPr>
          <p:nvPr/>
        </p:nvCxnSpPr>
        <p:spPr>
          <a:xfrm flipV="1">
            <a:off x="9712693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34" idx="1"/>
          </p:cNvCxnSpPr>
          <p:nvPr/>
        </p:nvCxnSpPr>
        <p:spPr>
          <a:xfrm flipV="1">
            <a:off x="10659479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endCxn id="36" idx="1"/>
          </p:cNvCxnSpPr>
          <p:nvPr/>
        </p:nvCxnSpPr>
        <p:spPr>
          <a:xfrm>
            <a:off x="8680383" y="6402407"/>
            <a:ext cx="521770" cy="268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stCxn id="36" idx="3"/>
            <a:endCxn id="38" idx="1"/>
          </p:cNvCxnSpPr>
          <p:nvPr/>
        </p:nvCxnSpPr>
        <p:spPr>
          <a:xfrm flipV="1">
            <a:off x="9712693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endCxn id="40" idx="1"/>
          </p:cNvCxnSpPr>
          <p:nvPr/>
        </p:nvCxnSpPr>
        <p:spPr>
          <a:xfrm flipV="1">
            <a:off x="10659479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7118682">
            <a:off x="7125443" y="4441747"/>
            <a:ext cx="311182" cy="6454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26343ACF-27C0-4DC8-BF3A-564A7CB3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749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77338" cy="1325563"/>
          </a:xfrm>
        </p:spPr>
        <p:txBody>
          <a:bodyPr>
            <a:normAutofit/>
          </a:bodyPr>
          <a:lstStyle/>
          <a:p>
            <a:r>
              <a:rPr lang="en-US" b="1" dirty="0"/>
              <a:t>Time required for unsuccessful search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object is not present in the list.</a:t>
            </a:r>
          </a:p>
          <a:p>
            <a:r>
              <a:rPr lang="en-US" dirty="0"/>
              <a:t>Suppose the object with key 2 was present in the hash table.</a:t>
            </a:r>
          </a:p>
          <a:p>
            <a:r>
              <a:rPr lang="en-US" dirty="0"/>
              <a:t>But it was delete and hence no longer present.</a:t>
            </a:r>
          </a:p>
          <a:p>
            <a:r>
              <a:rPr lang="en-US" dirty="0"/>
              <a:t>We use the key with the hash function and calculate the position in the hash table (1 unit time)</a:t>
            </a:r>
          </a:p>
          <a:p>
            <a:r>
              <a:rPr lang="en-US" dirty="0"/>
              <a:t>The we traverse the entire list searching</a:t>
            </a:r>
          </a:p>
          <a:p>
            <a:r>
              <a:rPr lang="en-US" dirty="0"/>
              <a:t>The whole list will be traversed.</a:t>
            </a:r>
          </a:p>
          <a:p>
            <a:r>
              <a:rPr lang="en-US" dirty="0"/>
              <a:t>As the item will not be found</a:t>
            </a:r>
          </a:p>
          <a:p>
            <a:r>
              <a:rPr lang="en-US" dirty="0"/>
              <a:t>So expected number of items traversed: </a:t>
            </a:r>
            <a:r>
              <a:rPr lang="el-GR" b="1" dirty="0"/>
              <a:t>α</a:t>
            </a:r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021785"/>
              </p:ext>
            </p:extLst>
          </p:nvPr>
        </p:nvGraphicFramePr>
        <p:xfrm>
          <a:off x="7620000" y="3871635"/>
          <a:ext cx="106412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063">
                  <a:extLst>
                    <a:ext uri="{9D8B030D-6E8A-4147-A177-3AD203B41FA5}">
                      <a16:colId xmlns:a16="http://schemas.microsoft.com/office/drawing/2014/main" val="2621841535"/>
                    </a:ext>
                  </a:extLst>
                </a:gridCol>
                <a:gridCol w="532063">
                  <a:extLst>
                    <a:ext uri="{9D8B030D-6E8A-4147-A177-3AD203B41FA5}">
                      <a16:colId xmlns:a16="http://schemas.microsoft.com/office/drawing/2014/main" val="3260327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14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0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00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03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925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26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728782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>
            <a:endCxn id="6" idx="1"/>
          </p:cNvCxnSpPr>
          <p:nvPr/>
        </p:nvCxnSpPr>
        <p:spPr>
          <a:xfrm>
            <a:off x="8680383" y="4383802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stCxn id="6" idx="3"/>
            <a:endCxn id="8" idx="1"/>
          </p:cNvCxnSpPr>
          <p:nvPr/>
        </p:nvCxnSpPr>
        <p:spPr>
          <a:xfrm flipV="1">
            <a:off x="9712693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endCxn id="10" idx="1"/>
          </p:cNvCxnSpPr>
          <p:nvPr/>
        </p:nvCxnSpPr>
        <p:spPr>
          <a:xfrm flipV="1">
            <a:off x="10659479" y="4364752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endCxn id="12" idx="1"/>
          </p:cNvCxnSpPr>
          <p:nvPr/>
        </p:nvCxnSpPr>
        <p:spPr>
          <a:xfrm>
            <a:off x="8680383" y="4842576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2" idx="3"/>
            <a:endCxn id="14" idx="1"/>
          </p:cNvCxnSpPr>
          <p:nvPr/>
        </p:nvCxnSpPr>
        <p:spPr>
          <a:xfrm flipV="1">
            <a:off x="9712693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endCxn id="16" idx="1"/>
          </p:cNvCxnSpPr>
          <p:nvPr/>
        </p:nvCxnSpPr>
        <p:spPr>
          <a:xfrm flipV="1">
            <a:off x="10659479" y="4823526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endCxn id="18" idx="1"/>
          </p:cNvCxnSpPr>
          <p:nvPr/>
        </p:nvCxnSpPr>
        <p:spPr>
          <a:xfrm>
            <a:off x="8680383" y="5301350"/>
            <a:ext cx="521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>
          <a:xfrm flipV="1">
            <a:off x="9712693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>
            <a:endCxn id="22" idx="1"/>
          </p:cNvCxnSpPr>
          <p:nvPr/>
        </p:nvCxnSpPr>
        <p:spPr>
          <a:xfrm flipV="1">
            <a:off x="10659479" y="528230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4" idx="1"/>
          </p:cNvCxnSpPr>
          <p:nvPr/>
        </p:nvCxnSpPr>
        <p:spPr>
          <a:xfrm>
            <a:off x="8680383" y="5573434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4" idx="3"/>
            <a:endCxn id="26" idx="1"/>
          </p:cNvCxnSpPr>
          <p:nvPr/>
        </p:nvCxnSpPr>
        <p:spPr>
          <a:xfrm flipV="1">
            <a:off x="9712693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endCxn id="28" idx="1"/>
          </p:cNvCxnSpPr>
          <p:nvPr/>
        </p:nvCxnSpPr>
        <p:spPr>
          <a:xfrm flipV="1">
            <a:off x="10659479" y="5741074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endCxn id="30" idx="1"/>
          </p:cNvCxnSpPr>
          <p:nvPr/>
        </p:nvCxnSpPr>
        <p:spPr>
          <a:xfrm>
            <a:off x="8680383" y="6029027"/>
            <a:ext cx="521770" cy="18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30" idx="3"/>
            <a:endCxn id="32" idx="1"/>
          </p:cNvCxnSpPr>
          <p:nvPr/>
        </p:nvCxnSpPr>
        <p:spPr>
          <a:xfrm flipV="1">
            <a:off x="9712693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34" idx="1"/>
          </p:cNvCxnSpPr>
          <p:nvPr/>
        </p:nvCxnSpPr>
        <p:spPr>
          <a:xfrm flipV="1">
            <a:off x="10659479" y="6196667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endCxn id="36" idx="1"/>
          </p:cNvCxnSpPr>
          <p:nvPr/>
        </p:nvCxnSpPr>
        <p:spPr>
          <a:xfrm>
            <a:off x="8680383" y="6402407"/>
            <a:ext cx="521770" cy="268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stCxn id="36" idx="3"/>
            <a:endCxn id="38" idx="1"/>
          </p:cNvCxnSpPr>
          <p:nvPr/>
        </p:nvCxnSpPr>
        <p:spPr>
          <a:xfrm flipV="1">
            <a:off x="9712693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endCxn id="40" idx="1"/>
          </p:cNvCxnSpPr>
          <p:nvPr/>
        </p:nvCxnSpPr>
        <p:spPr>
          <a:xfrm flipV="1">
            <a:off x="10659479" y="6652260"/>
            <a:ext cx="461009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7118682">
            <a:off x="7125443" y="4441747"/>
            <a:ext cx="311182" cy="6454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602BF8D3-934E-44A3-BBB3-984A44D8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902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0874" cy="1325563"/>
          </a:xfrm>
        </p:spPr>
        <p:txBody>
          <a:bodyPr>
            <a:normAutofit/>
          </a:bodyPr>
          <a:lstStyle/>
          <a:p>
            <a:r>
              <a:rPr lang="en-US" b="1" dirty="0"/>
              <a:t>Time required for successful search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will take on average 1+</a:t>
            </a:r>
            <a:r>
              <a:rPr lang="el-GR" b="1" dirty="0"/>
              <a:t> α</a:t>
            </a:r>
            <a:r>
              <a:rPr lang="en-US" b="1" dirty="0"/>
              <a:t>/2</a:t>
            </a:r>
            <a:r>
              <a:rPr lang="en-US" dirty="0"/>
              <a:t> units of time for the search</a:t>
            </a:r>
          </a:p>
          <a:p>
            <a:r>
              <a:rPr lang="en-US" dirty="0"/>
              <a:t>Thus the expected time here is also: O(1+</a:t>
            </a:r>
            <a:r>
              <a:rPr lang="el-GR" b="1" dirty="0"/>
              <a:t> α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F0E20-B173-48D2-841E-D4E476B7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866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6.Hash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F722B-8D14-4DB2-82F6-F223726E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983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example hash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1. h(k) = floor(km) </a:t>
            </a:r>
          </a:p>
          <a:p>
            <a:pPr lvl="1"/>
            <a:r>
              <a:rPr lang="en-US" dirty="0"/>
              <a:t>Here the keys are fractional numbers</a:t>
            </a:r>
          </a:p>
          <a:p>
            <a:pPr lvl="1"/>
            <a:r>
              <a:rPr lang="en-US" dirty="0"/>
              <a:t>The multiplication of fractional numbers with the table size </a:t>
            </a:r>
          </a:p>
          <a:p>
            <a:r>
              <a:rPr lang="en-US" dirty="0"/>
              <a:t>2. h(k)=k mod m </a:t>
            </a:r>
          </a:p>
          <a:p>
            <a:pPr lvl="1"/>
            <a:r>
              <a:rPr lang="en-US" dirty="0"/>
              <a:t>Here the keys are integers</a:t>
            </a:r>
          </a:p>
          <a:p>
            <a:pPr lvl="1"/>
            <a:r>
              <a:rPr lang="en-US" dirty="0"/>
              <a:t>The resulting index is limited within the table size</a:t>
            </a:r>
          </a:p>
          <a:p>
            <a:r>
              <a:rPr lang="en-US" dirty="0"/>
              <a:t>3. </a:t>
            </a:r>
            <a:r>
              <a:rPr lang="da-DK" dirty="0"/>
              <a:t>h(k)=floor(m* (kA mod 1) )</a:t>
            </a:r>
          </a:p>
          <a:p>
            <a:pPr lvl="1"/>
            <a:r>
              <a:rPr lang="da-DK" dirty="0"/>
              <a:t>Keys are integers.</a:t>
            </a:r>
          </a:p>
          <a:p>
            <a:pPr lvl="1"/>
            <a:r>
              <a:rPr lang="da-DK" dirty="0"/>
              <a:t>A is a fraction</a:t>
            </a:r>
          </a:p>
          <a:p>
            <a:pPr lvl="1"/>
            <a:r>
              <a:rPr lang="da-DK" dirty="0"/>
              <a:t>m is the table size</a:t>
            </a:r>
          </a:p>
          <a:p>
            <a:r>
              <a:rPr lang="da-DK" dirty="0"/>
              <a:t>4. Using strings as keys</a:t>
            </a:r>
          </a:p>
          <a:p>
            <a:pPr lvl="1"/>
            <a:r>
              <a:rPr lang="da-DK" dirty="0"/>
              <a:t>We have all seen how we use strings to store values in maps</a:t>
            </a:r>
          </a:p>
          <a:p>
            <a:pPr lvl="1"/>
            <a:r>
              <a:rPr lang="da-DK" dirty="0"/>
              <a:t>It is a key value pair</a:t>
            </a:r>
          </a:p>
          <a:p>
            <a:pPr lvl="1"/>
            <a:r>
              <a:rPr lang="da-DK" dirty="0"/>
              <a:t>Here the strings are converted into numbers</a:t>
            </a:r>
          </a:p>
          <a:p>
            <a:pPr lvl="1"/>
            <a:r>
              <a:rPr lang="da-DK" dirty="0"/>
              <a:t>For example: </a:t>
            </a:r>
            <a:r>
              <a:rPr lang="en-US" b="1" dirty="0" err="1"/>
              <a:t>pt</a:t>
            </a:r>
            <a:r>
              <a:rPr lang="en-US" dirty="0"/>
              <a:t> becomes : </a:t>
            </a:r>
            <a:r>
              <a:rPr lang="en-US" b="1" dirty="0"/>
              <a:t>112</a:t>
            </a:r>
            <a:r>
              <a:rPr lang="en-US" dirty="0"/>
              <a:t>.128+</a:t>
            </a:r>
            <a:r>
              <a:rPr lang="en-US" b="1" dirty="0"/>
              <a:t>116</a:t>
            </a:r>
            <a:r>
              <a:rPr lang="en-US" dirty="0"/>
              <a:t>=14452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44DAC-4B06-4C1C-A1ED-FBD2D4CE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95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3CBD-9365-4C53-9B92-00B934CA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37597-B15A-4BD7-A7FB-E86990669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1. h(k) = floor(km) </a:t>
            </a:r>
          </a:p>
          <a:p>
            <a:pPr lvl="1"/>
            <a:r>
              <a:rPr lang="en-US" dirty="0"/>
              <a:t>Here the keys are fractional numbers</a:t>
            </a:r>
          </a:p>
          <a:p>
            <a:pPr lvl="1"/>
            <a:r>
              <a:rPr lang="en-US" dirty="0"/>
              <a:t>The multiplication of fractional numbers with the table size </a:t>
            </a:r>
          </a:p>
          <a:p>
            <a:r>
              <a:rPr lang="en-US" dirty="0"/>
              <a:t>2. h(k)=k mod m </a:t>
            </a:r>
          </a:p>
          <a:p>
            <a:pPr lvl="1"/>
            <a:r>
              <a:rPr lang="en-US" dirty="0"/>
              <a:t>Here the keys are integers</a:t>
            </a:r>
          </a:p>
          <a:p>
            <a:pPr lvl="1"/>
            <a:r>
              <a:rPr lang="en-US" dirty="0"/>
              <a:t>The resulting index is limited within the table size</a:t>
            </a:r>
          </a:p>
          <a:p>
            <a:r>
              <a:rPr lang="en-US" dirty="0"/>
              <a:t>3. </a:t>
            </a:r>
            <a:r>
              <a:rPr lang="da-DK" dirty="0"/>
              <a:t>h(k)=floor(m* (kA mod 1) )</a:t>
            </a:r>
          </a:p>
          <a:p>
            <a:pPr lvl="1"/>
            <a:r>
              <a:rPr lang="da-DK" dirty="0"/>
              <a:t>Keys are integers.</a:t>
            </a:r>
          </a:p>
          <a:p>
            <a:pPr lvl="1"/>
            <a:r>
              <a:rPr lang="da-DK" dirty="0"/>
              <a:t>A is a fraction</a:t>
            </a:r>
          </a:p>
          <a:p>
            <a:pPr lvl="1"/>
            <a:r>
              <a:rPr lang="da-DK" dirty="0"/>
              <a:t>m is the table size</a:t>
            </a:r>
          </a:p>
          <a:p>
            <a:r>
              <a:rPr lang="da-DK" dirty="0"/>
              <a:t>4. Using strings as keys</a:t>
            </a:r>
          </a:p>
          <a:p>
            <a:pPr lvl="1"/>
            <a:r>
              <a:rPr lang="da-DK" dirty="0"/>
              <a:t>We have all seen how we use strings to store values in maps</a:t>
            </a:r>
          </a:p>
          <a:p>
            <a:pPr lvl="1"/>
            <a:r>
              <a:rPr lang="da-DK" dirty="0"/>
              <a:t>It is a key value pair</a:t>
            </a:r>
          </a:p>
          <a:p>
            <a:pPr lvl="1"/>
            <a:r>
              <a:rPr lang="da-DK" dirty="0"/>
              <a:t>Here the strings are converted into numbers</a:t>
            </a:r>
          </a:p>
          <a:p>
            <a:pPr lvl="1"/>
            <a:r>
              <a:rPr lang="da-DK" dirty="0"/>
              <a:t>For example: </a:t>
            </a:r>
            <a:r>
              <a:rPr lang="en-US" b="1" dirty="0" err="1"/>
              <a:t>pt</a:t>
            </a:r>
            <a:r>
              <a:rPr lang="en-US" dirty="0"/>
              <a:t> becomes : </a:t>
            </a:r>
            <a:r>
              <a:rPr lang="en-US" b="1" dirty="0"/>
              <a:t>112</a:t>
            </a:r>
            <a:r>
              <a:rPr lang="en-US" dirty="0"/>
              <a:t>.128+</a:t>
            </a:r>
            <a:r>
              <a:rPr lang="en-US" b="1" dirty="0"/>
              <a:t>116</a:t>
            </a:r>
            <a:r>
              <a:rPr lang="en-US" dirty="0"/>
              <a:t>=14452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3E818-29CC-4DCF-8E1B-6D046227F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375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7.Probing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 Open Addressing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65336-D18C-4B65-92B8-E3F84470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691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Basic idea: </a:t>
            </a:r>
          </a:p>
          <a:p>
            <a:pPr lvl="1"/>
            <a:r>
              <a:rPr lang="en-US" altLang="en-US" dirty="0"/>
              <a:t>To insert: if slot is full, try another slot, …, until an open slot is found (</a:t>
            </a:r>
            <a:r>
              <a:rPr lang="en-US" altLang="en-US" i="1" dirty="0">
                <a:solidFill>
                  <a:schemeClr val="tx2"/>
                </a:solidFill>
              </a:rPr>
              <a:t>probing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The entire object is placed inside the table, rather than storing its pointer (</a:t>
            </a:r>
            <a:r>
              <a:rPr lang="en-US" altLang="en-US" i="1" dirty="0">
                <a:solidFill>
                  <a:schemeClr val="tx2"/>
                </a:solidFill>
              </a:rPr>
              <a:t>open addressing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Three kinds of probing we will discuss</a:t>
            </a:r>
          </a:p>
          <a:p>
            <a:pPr lvl="1"/>
            <a:r>
              <a:rPr lang="en-US" altLang="en-US" dirty="0"/>
              <a:t>1. Linear Probing</a:t>
            </a:r>
          </a:p>
          <a:p>
            <a:pPr lvl="1"/>
            <a:r>
              <a:rPr lang="en-US" altLang="en-US" dirty="0"/>
              <a:t>2. Quadratic Probing</a:t>
            </a:r>
          </a:p>
          <a:p>
            <a:pPr lvl="1"/>
            <a:r>
              <a:rPr lang="en-US" altLang="en-US" dirty="0"/>
              <a:t>3.  Double Hashing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2BFA7-96F9-439A-AAA1-3087AA87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509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hash function : </a:t>
            </a:r>
            <a:r>
              <a:rPr lang="en-US" altLang="zh-CN" b="1" i="1" dirty="0">
                <a:ea typeface="SimSun" panose="02010600030101010101" pitchFamily="2" charset="-122"/>
              </a:rPr>
              <a:t>h'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=</a:t>
            </a:r>
            <a:r>
              <a:rPr lang="en-US" altLang="zh-CN" b="1" i="1" dirty="0">
                <a:ea typeface="SimSun" panose="02010600030101010101" pitchFamily="2" charset="-122"/>
              </a:rPr>
              <a:t> k </a:t>
            </a:r>
            <a:r>
              <a:rPr lang="en-US" altLang="zh-CN" dirty="0">
                <a:ea typeface="SimSun" panose="02010600030101010101" pitchFamily="2" charset="-122"/>
              </a:rPr>
              <a:t>mod</a:t>
            </a:r>
            <a:r>
              <a:rPr lang="en-US" altLang="zh-CN" b="1" i="1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ea typeface="SimSun" panose="02010600030101010101" pitchFamily="2" charset="-122"/>
              </a:rPr>
              <a:t>13 //m=13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Introducing the probe:</a:t>
            </a:r>
          </a:p>
          <a:p>
            <a:pPr lvl="1"/>
            <a:r>
              <a:rPr lang="en-US" altLang="zh-CN" i="1" dirty="0">
                <a:ea typeface="SimSun" panose="02010600030101010101" pitchFamily="2" charset="-122"/>
              </a:rPr>
              <a:t>h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) = (</a:t>
            </a:r>
            <a:r>
              <a:rPr lang="en-US" altLang="zh-CN" b="1" i="1" dirty="0">
                <a:ea typeface="SimSun" panose="02010600030101010101" pitchFamily="2" charset="-122"/>
              </a:rPr>
              <a:t>h'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) +</a:t>
            </a:r>
            <a:r>
              <a:rPr lang="en-US" altLang="zh-CN" i="1" dirty="0">
                <a:ea typeface="SimSun" panose="02010600030101010101" pitchFamily="2" charset="-122"/>
              </a:rPr>
              <a:t> </a:t>
            </a:r>
            <a:r>
              <a:rPr lang="en-US" altLang="zh-CN" i="1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) mod 13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Example for insertion: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Insert keys 18, 41, 22, 44, 59, 32, 31, 73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D5156-AE2D-44A5-A3AB-D9AA92A2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873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hash function : </a:t>
            </a:r>
            <a:r>
              <a:rPr lang="en-US" altLang="zh-CN" b="1" i="1" dirty="0">
                <a:ea typeface="SimSun" panose="02010600030101010101" pitchFamily="2" charset="-122"/>
              </a:rPr>
              <a:t>h'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=</a:t>
            </a:r>
            <a:r>
              <a:rPr lang="en-US" altLang="zh-CN" b="1" i="1" dirty="0">
                <a:ea typeface="SimSun" panose="02010600030101010101" pitchFamily="2" charset="-122"/>
              </a:rPr>
              <a:t> k </a:t>
            </a:r>
            <a:r>
              <a:rPr lang="en-US" altLang="zh-CN" dirty="0">
                <a:ea typeface="SimSun" panose="02010600030101010101" pitchFamily="2" charset="-122"/>
              </a:rPr>
              <a:t>mod</a:t>
            </a:r>
            <a:r>
              <a:rPr lang="en-US" altLang="zh-CN" b="1" i="1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ea typeface="SimSun" panose="02010600030101010101" pitchFamily="2" charset="-122"/>
              </a:rPr>
              <a:t>13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Introducing the probe:</a:t>
            </a:r>
          </a:p>
          <a:p>
            <a:pPr lvl="1"/>
            <a:r>
              <a:rPr lang="en-US" altLang="zh-CN" i="1" dirty="0">
                <a:ea typeface="SimSun" panose="02010600030101010101" pitchFamily="2" charset="-122"/>
              </a:rPr>
              <a:t>h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) = (</a:t>
            </a:r>
            <a:r>
              <a:rPr lang="en-US" altLang="zh-CN" b="1" i="1" dirty="0">
                <a:ea typeface="SimSun" panose="02010600030101010101" pitchFamily="2" charset="-122"/>
              </a:rPr>
              <a:t>h'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) +</a:t>
            </a:r>
            <a:r>
              <a:rPr lang="en-US" altLang="zh-CN" i="1" dirty="0">
                <a:ea typeface="SimSun" panose="02010600030101010101" pitchFamily="2" charset="-122"/>
              </a:rPr>
              <a:t> </a:t>
            </a:r>
            <a:r>
              <a:rPr lang="en-US" altLang="zh-CN" i="1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) mod 13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Example for insertion: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Insert keys 18, 41, 22, 44, 59, 32, 31, 73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0666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3714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46762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9810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52858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55906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8954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62002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65050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68098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71146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74194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77242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406984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0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437147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</a:t>
            </a: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467309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2</a:t>
            </a: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497472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3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527634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4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557797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5</a:t>
            </a: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587959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6</a:t>
            </a: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618122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7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648284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8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678447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9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7028949" y="4967037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10</a:t>
            </a: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7330574" y="4967037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11</a:t>
            </a:r>
          </a:p>
        </p:txBody>
      </p:sp>
      <p:sp>
        <p:nvSpPr>
          <p:cNvPr id="29" name="Text Box 30"/>
          <p:cNvSpPr txBox="1">
            <a:spLocks noChangeArrowheads="1"/>
          </p:cNvSpPr>
          <p:nvPr/>
        </p:nvSpPr>
        <p:spPr bwMode="auto">
          <a:xfrm>
            <a:off x="7632199" y="4967037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12</a:t>
            </a:r>
          </a:p>
        </p:txBody>
      </p:sp>
      <p:sp>
        <p:nvSpPr>
          <p:cNvPr id="30" name="Rectangle 31"/>
          <p:cNvSpPr>
            <a:spLocks noChangeArrowheads="1"/>
          </p:cNvSpPr>
          <p:nvPr/>
        </p:nvSpPr>
        <p:spPr bwMode="auto">
          <a:xfrm>
            <a:off x="40666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1" name="Rectangle 32"/>
          <p:cNvSpPr>
            <a:spLocks noChangeArrowheads="1"/>
          </p:cNvSpPr>
          <p:nvPr/>
        </p:nvSpPr>
        <p:spPr bwMode="auto">
          <a:xfrm>
            <a:off x="43714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" name="Rectangle 33"/>
          <p:cNvSpPr>
            <a:spLocks noChangeArrowheads="1"/>
          </p:cNvSpPr>
          <p:nvPr/>
        </p:nvSpPr>
        <p:spPr bwMode="auto">
          <a:xfrm>
            <a:off x="46762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41</a:t>
            </a:r>
          </a:p>
        </p:txBody>
      </p:sp>
      <p:sp>
        <p:nvSpPr>
          <p:cNvPr id="33" name="Rectangle 34"/>
          <p:cNvSpPr>
            <a:spLocks noChangeArrowheads="1"/>
          </p:cNvSpPr>
          <p:nvPr/>
        </p:nvSpPr>
        <p:spPr bwMode="auto">
          <a:xfrm>
            <a:off x="49810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" name="Rectangle 35"/>
          <p:cNvSpPr>
            <a:spLocks noChangeArrowheads="1"/>
          </p:cNvSpPr>
          <p:nvPr/>
        </p:nvSpPr>
        <p:spPr bwMode="auto">
          <a:xfrm>
            <a:off x="52858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5" name="Rectangle 36"/>
          <p:cNvSpPr>
            <a:spLocks noChangeArrowheads="1"/>
          </p:cNvSpPr>
          <p:nvPr/>
        </p:nvSpPr>
        <p:spPr bwMode="auto">
          <a:xfrm>
            <a:off x="55906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SimSun" panose="02010600030101010101" pitchFamily="2" charset="-122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36" name="Rectangle 37"/>
          <p:cNvSpPr>
            <a:spLocks noChangeArrowheads="1"/>
          </p:cNvSpPr>
          <p:nvPr/>
        </p:nvSpPr>
        <p:spPr bwMode="auto">
          <a:xfrm>
            <a:off x="58954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44</a:t>
            </a:r>
          </a:p>
        </p:txBody>
      </p:sp>
      <p:sp>
        <p:nvSpPr>
          <p:cNvPr id="37" name="Rectangle 38"/>
          <p:cNvSpPr>
            <a:spLocks noChangeArrowheads="1"/>
          </p:cNvSpPr>
          <p:nvPr/>
        </p:nvSpPr>
        <p:spPr bwMode="auto">
          <a:xfrm>
            <a:off x="62002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59</a:t>
            </a:r>
          </a:p>
        </p:txBody>
      </p:sp>
      <p:sp>
        <p:nvSpPr>
          <p:cNvPr id="38" name="Rectangle 39"/>
          <p:cNvSpPr>
            <a:spLocks noChangeArrowheads="1"/>
          </p:cNvSpPr>
          <p:nvPr/>
        </p:nvSpPr>
        <p:spPr bwMode="auto">
          <a:xfrm>
            <a:off x="65050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39" name="Rectangle 40"/>
          <p:cNvSpPr>
            <a:spLocks noChangeArrowheads="1"/>
          </p:cNvSpPr>
          <p:nvPr/>
        </p:nvSpPr>
        <p:spPr bwMode="auto">
          <a:xfrm>
            <a:off x="68098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40" name="Rectangle 41"/>
          <p:cNvSpPr>
            <a:spLocks noChangeArrowheads="1"/>
          </p:cNvSpPr>
          <p:nvPr/>
        </p:nvSpPr>
        <p:spPr bwMode="auto">
          <a:xfrm>
            <a:off x="71146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31</a:t>
            </a:r>
          </a:p>
        </p:txBody>
      </p:sp>
      <p:sp>
        <p:nvSpPr>
          <p:cNvPr id="41" name="Rectangle 42"/>
          <p:cNvSpPr>
            <a:spLocks noChangeArrowheads="1"/>
          </p:cNvSpPr>
          <p:nvPr/>
        </p:nvSpPr>
        <p:spPr bwMode="auto">
          <a:xfrm>
            <a:off x="74194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73</a:t>
            </a:r>
          </a:p>
        </p:txBody>
      </p:sp>
      <p:sp>
        <p:nvSpPr>
          <p:cNvPr id="42" name="Rectangle 43"/>
          <p:cNvSpPr>
            <a:spLocks noChangeArrowheads="1"/>
          </p:cNvSpPr>
          <p:nvPr/>
        </p:nvSpPr>
        <p:spPr bwMode="auto">
          <a:xfrm>
            <a:off x="77242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06984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7147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" name="Text Box 46"/>
          <p:cNvSpPr txBox="1">
            <a:spLocks noChangeArrowheads="1"/>
          </p:cNvSpPr>
          <p:nvPr/>
        </p:nvSpPr>
        <p:spPr bwMode="auto">
          <a:xfrm>
            <a:off x="467309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6" name="Text Box 47"/>
          <p:cNvSpPr txBox="1">
            <a:spLocks noChangeArrowheads="1"/>
          </p:cNvSpPr>
          <p:nvPr/>
        </p:nvSpPr>
        <p:spPr bwMode="auto">
          <a:xfrm>
            <a:off x="497472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7" name="Text Box 48"/>
          <p:cNvSpPr txBox="1">
            <a:spLocks noChangeArrowheads="1"/>
          </p:cNvSpPr>
          <p:nvPr/>
        </p:nvSpPr>
        <p:spPr bwMode="auto">
          <a:xfrm>
            <a:off x="527634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8" name="Text Box 49"/>
          <p:cNvSpPr txBox="1">
            <a:spLocks noChangeArrowheads="1"/>
          </p:cNvSpPr>
          <p:nvPr/>
        </p:nvSpPr>
        <p:spPr bwMode="auto">
          <a:xfrm>
            <a:off x="557797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9" name="Text Box 50"/>
          <p:cNvSpPr txBox="1">
            <a:spLocks noChangeArrowheads="1"/>
          </p:cNvSpPr>
          <p:nvPr/>
        </p:nvSpPr>
        <p:spPr bwMode="auto">
          <a:xfrm>
            <a:off x="587959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50" name="Text Box 51"/>
          <p:cNvSpPr txBox="1">
            <a:spLocks noChangeArrowheads="1"/>
          </p:cNvSpPr>
          <p:nvPr/>
        </p:nvSpPr>
        <p:spPr bwMode="auto">
          <a:xfrm>
            <a:off x="618122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1" name="Text Box 52"/>
          <p:cNvSpPr txBox="1">
            <a:spLocks noChangeArrowheads="1"/>
          </p:cNvSpPr>
          <p:nvPr/>
        </p:nvSpPr>
        <p:spPr bwMode="auto">
          <a:xfrm>
            <a:off x="648284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52" name="Text Box 53"/>
          <p:cNvSpPr txBox="1">
            <a:spLocks noChangeArrowheads="1"/>
          </p:cNvSpPr>
          <p:nvPr/>
        </p:nvSpPr>
        <p:spPr bwMode="auto">
          <a:xfrm>
            <a:off x="678447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3" name="Text Box 54"/>
          <p:cNvSpPr txBox="1">
            <a:spLocks noChangeArrowheads="1"/>
          </p:cNvSpPr>
          <p:nvPr/>
        </p:nvSpPr>
        <p:spPr bwMode="auto">
          <a:xfrm>
            <a:off x="7028949" y="6186237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4" name="Text Box 55"/>
          <p:cNvSpPr txBox="1">
            <a:spLocks noChangeArrowheads="1"/>
          </p:cNvSpPr>
          <p:nvPr/>
        </p:nvSpPr>
        <p:spPr bwMode="auto">
          <a:xfrm>
            <a:off x="7330574" y="6186237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" name="Text Box 56"/>
          <p:cNvSpPr txBox="1">
            <a:spLocks noChangeArrowheads="1"/>
          </p:cNvSpPr>
          <p:nvPr/>
        </p:nvSpPr>
        <p:spPr bwMode="auto">
          <a:xfrm>
            <a:off x="7632199" y="6186237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6" name="AutoShape 57"/>
          <p:cNvSpPr>
            <a:spLocks noChangeArrowheads="1"/>
          </p:cNvSpPr>
          <p:nvPr/>
        </p:nvSpPr>
        <p:spPr bwMode="auto">
          <a:xfrm>
            <a:off x="5895474" y="5386137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32B9D2B6-E27B-4629-8CDA-AC2BECF1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665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hash function : </a:t>
            </a:r>
            <a:r>
              <a:rPr lang="en-US" altLang="zh-CN" b="1" i="1" dirty="0">
                <a:ea typeface="SimSun" panose="02010600030101010101" pitchFamily="2" charset="-122"/>
              </a:rPr>
              <a:t>h'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=</a:t>
            </a:r>
            <a:r>
              <a:rPr lang="en-US" altLang="zh-CN" b="1" i="1" dirty="0">
                <a:ea typeface="SimSun" panose="02010600030101010101" pitchFamily="2" charset="-122"/>
              </a:rPr>
              <a:t> k </a:t>
            </a:r>
            <a:r>
              <a:rPr lang="en-US" altLang="zh-CN" dirty="0">
                <a:ea typeface="SimSun" panose="02010600030101010101" pitchFamily="2" charset="-122"/>
              </a:rPr>
              <a:t>mod</a:t>
            </a:r>
            <a:r>
              <a:rPr lang="en-US" altLang="zh-CN" b="1" i="1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ea typeface="SimSun" panose="02010600030101010101" pitchFamily="2" charset="-122"/>
              </a:rPr>
              <a:t>13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Introducing the probe:</a:t>
            </a:r>
          </a:p>
          <a:p>
            <a:pPr lvl="1"/>
            <a:r>
              <a:rPr lang="en-US" altLang="zh-CN" i="1" dirty="0">
                <a:ea typeface="SimSun" panose="02010600030101010101" pitchFamily="2" charset="-122"/>
              </a:rPr>
              <a:t>h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) = (</a:t>
            </a:r>
            <a:r>
              <a:rPr lang="en-US" altLang="zh-CN" b="1" i="1" dirty="0">
                <a:ea typeface="SimSun" panose="02010600030101010101" pitchFamily="2" charset="-122"/>
              </a:rPr>
              <a:t>h'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) +</a:t>
            </a:r>
            <a:r>
              <a:rPr lang="en-US" altLang="zh-CN" i="1" dirty="0">
                <a:ea typeface="SimSun" panose="02010600030101010101" pitchFamily="2" charset="-122"/>
              </a:rPr>
              <a:t> </a:t>
            </a:r>
            <a:r>
              <a:rPr lang="en-US" altLang="zh-CN" i="1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) mod 13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Example for insertion: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Insert keys 18, 41, 22, 44, 59, 32, 31, 73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0666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3714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46762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9810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52858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55906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8954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62002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65050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68098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71146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74194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77242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406984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0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437147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</a:t>
            </a: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467309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2</a:t>
            </a: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497472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3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527634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4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557797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5</a:t>
            </a: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587959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6</a:t>
            </a: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618122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7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648284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8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678447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9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7028949" y="4967037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10</a:t>
            </a: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7330574" y="4967037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11</a:t>
            </a:r>
          </a:p>
        </p:txBody>
      </p:sp>
      <p:sp>
        <p:nvSpPr>
          <p:cNvPr id="29" name="Text Box 30"/>
          <p:cNvSpPr txBox="1">
            <a:spLocks noChangeArrowheads="1"/>
          </p:cNvSpPr>
          <p:nvPr/>
        </p:nvSpPr>
        <p:spPr bwMode="auto">
          <a:xfrm>
            <a:off x="7632199" y="4967037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12</a:t>
            </a:r>
          </a:p>
        </p:txBody>
      </p:sp>
      <p:sp>
        <p:nvSpPr>
          <p:cNvPr id="30" name="Rectangle 31"/>
          <p:cNvSpPr>
            <a:spLocks noChangeArrowheads="1"/>
          </p:cNvSpPr>
          <p:nvPr/>
        </p:nvSpPr>
        <p:spPr bwMode="auto">
          <a:xfrm>
            <a:off x="40666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1" name="Rectangle 32"/>
          <p:cNvSpPr>
            <a:spLocks noChangeArrowheads="1"/>
          </p:cNvSpPr>
          <p:nvPr/>
        </p:nvSpPr>
        <p:spPr bwMode="auto">
          <a:xfrm>
            <a:off x="43714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" name="Rectangle 33"/>
          <p:cNvSpPr>
            <a:spLocks noChangeArrowheads="1"/>
          </p:cNvSpPr>
          <p:nvPr/>
        </p:nvSpPr>
        <p:spPr bwMode="auto">
          <a:xfrm>
            <a:off x="46762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41</a:t>
            </a:r>
          </a:p>
        </p:txBody>
      </p:sp>
      <p:sp>
        <p:nvSpPr>
          <p:cNvPr id="33" name="Rectangle 34"/>
          <p:cNvSpPr>
            <a:spLocks noChangeArrowheads="1"/>
          </p:cNvSpPr>
          <p:nvPr/>
        </p:nvSpPr>
        <p:spPr bwMode="auto">
          <a:xfrm>
            <a:off x="49810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" name="Rectangle 35"/>
          <p:cNvSpPr>
            <a:spLocks noChangeArrowheads="1"/>
          </p:cNvSpPr>
          <p:nvPr/>
        </p:nvSpPr>
        <p:spPr bwMode="auto">
          <a:xfrm>
            <a:off x="52858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5" name="Rectangle 36"/>
          <p:cNvSpPr>
            <a:spLocks noChangeArrowheads="1"/>
          </p:cNvSpPr>
          <p:nvPr/>
        </p:nvSpPr>
        <p:spPr bwMode="auto">
          <a:xfrm>
            <a:off x="55906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SimSun" panose="02010600030101010101" pitchFamily="2" charset="-122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36" name="Rectangle 37"/>
          <p:cNvSpPr>
            <a:spLocks noChangeArrowheads="1"/>
          </p:cNvSpPr>
          <p:nvPr/>
        </p:nvSpPr>
        <p:spPr bwMode="auto">
          <a:xfrm>
            <a:off x="58954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44</a:t>
            </a:r>
          </a:p>
        </p:txBody>
      </p:sp>
      <p:sp>
        <p:nvSpPr>
          <p:cNvPr id="37" name="Rectangle 38"/>
          <p:cNvSpPr>
            <a:spLocks noChangeArrowheads="1"/>
          </p:cNvSpPr>
          <p:nvPr/>
        </p:nvSpPr>
        <p:spPr bwMode="auto">
          <a:xfrm>
            <a:off x="62002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59</a:t>
            </a:r>
          </a:p>
        </p:txBody>
      </p:sp>
      <p:sp>
        <p:nvSpPr>
          <p:cNvPr id="38" name="Rectangle 39"/>
          <p:cNvSpPr>
            <a:spLocks noChangeArrowheads="1"/>
          </p:cNvSpPr>
          <p:nvPr/>
        </p:nvSpPr>
        <p:spPr bwMode="auto">
          <a:xfrm>
            <a:off x="65050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39" name="Rectangle 40"/>
          <p:cNvSpPr>
            <a:spLocks noChangeArrowheads="1"/>
          </p:cNvSpPr>
          <p:nvPr/>
        </p:nvSpPr>
        <p:spPr bwMode="auto">
          <a:xfrm>
            <a:off x="68098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40" name="Rectangle 41"/>
          <p:cNvSpPr>
            <a:spLocks noChangeArrowheads="1"/>
          </p:cNvSpPr>
          <p:nvPr/>
        </p:nvSpPr>
        <p:spPr bwMode="auto">
          <a:xfrm>
            <a:off x="71146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31</a:t>
            </a:r>
          </a:p>
        </p:txBody>
      </p:sp>
      <p:sp>
        <p:nvSpPr>
          <p:cNvPr id="41" name="Rectangle 42"/>
          <p:cNvSpPr>
            <a:spLocks noChangeArrowheads="1"/>
          </p:cNvSpPr>
          <p:nvPr/>
        </p:nvSpPr>
        <p:spPr bwMode="auto">
          <a:xfrm>
            <a:off x="74194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73</a:t>
            </a:r>
          </a:p>
        </p:txBody>
      </p:sp>
      <p:sp>
        <p:nvSpPr>
          <p:cNvPr id="42" name="Rectangle 43"/>
          <p:cNvSpPr>
            <a:spLocks noChangeArrowheads="1"/>
          </p:cNvSpPr>
          <p:nvPr/>
        </p:nvSpPr>
        <p:spPr bwMode="auto">
          <a:xfrm>
            <a:off x="77242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06984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7147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" name="Text Box 46"/>
          <p:cNvSpPr txBox="1">
            <a:spLocks noChangeArrowheads="1"/>
          </p:cNvSpPr>
          <p:nvPr/>
        </p:nvSpPr>
        <p:spPr bwMode="auto">
          <a:xfrm>
            <a:off x="467309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6" name="Text Box 47"/>
          <p:cNvSpPr txBox="1">
            <a:spLocks noChangeArrowheads="1"/>
          </p:cNvSpPr>
          <p:nvPr/>
        </p:nvSpPr>
        <p:spPr bwMode="auto">
          <a:xfrm>
            <a:off x="497472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7" name="Text Box 48"/>
          <p:cNvSpPr txBox="1">
            <a:spLocks noChangeArrowheads="1"/>
          </p:cNvSpPr>
          <p:nvPr/>
        </p:nvSpPr>
        <p:spPr bwMode="auto">
          <a:xfrm>
            <a:off x="527634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8" name="Text Box 49"/>
          <p:cNvSpPr txBox="1">
            <a:spLocks noChangeArrowheads="1"/>
          </p:cNvSpPr>
          <p:nvPr/>
        </p:nvSpPr>
        <p:spPr bwMode="auto">
          <a:xfrm>
            <a:off x="557797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9" name="Text Box 50"/>
          <p:cNvSpPr txBox="1">
            <a:spLocks noChangeArrowheads="1"/>
          </p:cNvSpPr>
          <p:nvPr/>
        </p:nvSpPr>
        <p:spPr bwMode="auto">
          <a:xfrm>
            <a:off x="587959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50" name="Text Box 51"/>
          <p:cNvSpPr txBox="1">
            <a:spLocks noChangeArrowheads="1"/>
          </p:cNvSpPr>
          <p:nvPr/>
        </p:nvSpPr>
        <p:spPr bwMode="auto">
          <a:xfrm>
            <a:off x="618122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1" name="Text Box 52"/>
          <p:cNvSpPr txBox="1">
            <a:spLocks noChangeArrowheads="1"/>
          </p:cNvSpPr>
          <p:nvPr/>
        </p:nvSpPr>
        <p:spPr bwMode="auto">
          <a:xfrm>
            <a:off x="648284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52" name="Text Box 53"/>
          <p:cNvSpPr txBox="1">
            <a:spLocks noChangeArrowheads="1"/>
          </p:cNvSpPr>
          <p:nvPr/>
        </p:nvSpPr>
        <p:spPr bwMode="auto">
          <a:xfrm>
            <a:off x="678447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3" name="Text Box 54"/>
          <p:cNvSpPr txBox="1">
            <a:spLocks noChangeArrowheads="1"/>
          </p:cNvSpPr>
          <p:nvPr/>
        </p:nvSpPr>
        <p:spPr bwMode="auto">
          <a:xfrm>
            <a:off x="7028949" y="6186237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4" name="Text Box 55"/>
          <p:cNvSpPr txBox="1">
            <a:spLocks noChangeArrowheads="1"/>
          </p:cNvSpPr>
          <p:nvPr/>
        </p:nvSpPr>
        <p:spPr bwMode="auto">
          <a:xfrm>
            <a:off x="7330574" y="6186237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" name="Text Box 56"/>
          <p:cNvSpPr txBox="1">
            <a:spLocks noChangeArrowheads="1"/>
          </p:cNvSpPr>
          <p:nvPr/>
        </p:nvSpPr>
        <p:spPr bwMode="auto">
          <a:xfrm>
            <a:off x="7632199" y="6186237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6" name="AutoShape 57"/>
          <p:cNvSpPr>
            <a:spLocks noChangeArrowheads="1"/>
          </p:cNvSpPr>
          <p:nvPr/>
        </p:nvSpPr>
        <p:spPr bwMode="auto">
          <a:xfrm>
            <a:off x="5895474" y="5386137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033084" y="819633"/>
            <a:ext cx="33207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Suffers from primary clustering:</a:t>
            </a:r>
          </a:p>
          <a:p>
            <a:r>
              <a:rPr lang="en-US" dirty="0"/>
              <a:t>Long runs of </a:t>
            </a:r>
            <a:r>
              <a:rPr lang="en-US" b="1" dirty="0"/>
              <a:t>occupied sequences </a:t>
            </a:r>
            <a:r>
              <a:rPr lang="en-US" dirty="0"/>
              <a:t>build up.</a:t>
            </a:r>
          </a:p>
          <a:p>
            <a:r>
              <a:rPr lang="en-US" dirty="0"/>
              <a:t>Long runs tend to </a:t>
            </a:r>
            <a:r>
              <a:rPr lang="en-US" b="1" dirty="0"/>
              <a:t>get longer, </a:t>
            </a:r>
          </a:p>
          <a:p>
            <a:r>
              <a:rPr lang="en-US" dirty="0"/>
              <a:t>Hence, </a:t>
            </a:r>
            <a:r>
              <a:rPr lang="en-US" b="1" dirty="0"/>
              <a:t>average search</a:t>
            </a:r>
            <a:r>
              <a:rPr lang="en-US" dirty="0"/>
              <a:t> and </a:t>
            </a:r>
            <a:r>
              <a:rPr lang="en-US" b="1" dirty="0"/>
              <a:t>insertion times increase.</a:t>
            </a:r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BB72C91C-1780-4041-AD62-1665AC5F9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724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hash function : </a:t>
            </a:r>
            <a:r>
              <a:rPr lang="en-US" altLang="zh-CN" b="1" i="1" dirty="0">
                <a:ea typeface="SimSun" panose="02010600030101010101" pitchFamily="2" charset="-122"/>
              </a:rPr>
              <a:t>h'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) </a:t>
            </a:r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=</a:t>
            </a:r>
            <a:r>
              <a:rPr lang="en-US" altLang="zh-CN" b="1" i="1" dirty="0">
                <a:ea typeface="SimSun" panose="02010600030101010101" pitchFamily="2" charset="-122"/>
              </a:rPr>
              <a:t> k </a:t>
            </a:r>
            <a:r>
              <a:rPr lang="en-US" altLang="zh-CN" dirty="0">
                <a:ea typeface="SimSun" panose="02010600030101010101" pitchFamily="2" charset="-122"/>
              </a:rPr>
              <a:t>mod</a:t>
            </a:r>
            <a:r>
              <a:rPr lang="en-US" altLang="zh-CN" b="1" i="1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ea typeface="SimSun" panose="02010600030101010101" pitchFamily="2" charset="-122"/>
              </a:rPr>
              <a:t>13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Introducing the probe:</a:t>
            </a:r>
          </a:p>
          <a:p>
            <a:pPr lvl="1"/>
            <a:r>
              <a:rPr lang="en-US" altLang="zh-CN" i="1" dirty="0">
                <a:ea typeface="SimSun" panose="02010600030101010101" pitchFamily="2" charset="-122"/>
              </a:rPr>
              <a:t>h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) = (</a:t>
            </a:r>
            <a:r>
              <a:rPr lang="en-US" altLang="zh-CN" b="1" i="1" dirty="0">
                <a:ea typeface="SimSun" panose="02010600030101010101" pitchFamily="2" charset="-122"/>
              </a:rPr>
              <a:t>h'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b="1" i="1" dirty="0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) +</a:t>
            </a:r>
            <a:r>
              <a:rPr lang="en-US" altLang="zh-CN" i="1" dirty="0">
                <a:ea typeface="SimSun" panose="02010600030101010101" pitchFamily="2" charset="-122"/>
              </a:rPr>
              <a:t> </a:t>
            </a:r>
            <a:r>
              <a:rPr lang="en-US" altLang="zh-CN" i="1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) mod 13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Example for insertion: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Insert keys 18, 41, 22, 44, 59, 32, 31, 73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0666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3714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46762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9810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52858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55906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58954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62002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65050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 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68098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71146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74194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7724274" y="47003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  <a:ea typeface="SimSun" panose="02010600030101010101" pitchFamily="2" charset="-122"/>
              </a:rPr>
              <a:t> </a:t>
            </a: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406984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0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437147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</a:t>
            </a: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467309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2</a:t>
            </a: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497472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3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527634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4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557797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5</a:t>
            </a: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587959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6</a:t>
            </a: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618122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7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6482849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8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6784474" y="4967037"/>
            <a:ext cx="2984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9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7028949" y="4967037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10</a:t>
            </a: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7330574" y="4967037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11</a:t>
            </a:r>
          </a:p>
        </p:txBody>
      </p:sp>
      <p:sp>
        <p:nvSpPr>
          <p:cNvPr id="29" name="Text Box 30"/>
          <p:cNvSpPr txBox="1">
            <a:spLocks noChangeArrowheads="1"/>
          </p:cNvSpPr>
          <p:nvPr/>
        </p:nvSpPr>
        <p:spPr bwMode="auto">
          <a:xfrm>
            <a:off x="7632199" y="4967037"/>
            <a:ext cx="412750" cy="3667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1800">
                <a:latin typeface="+mn-lt"/>
                <a:ea typeface="SimSun" pitchFamily="2" charset="-122"/>
                <a:cs typeface="Arial" charset="0"/>
              </a:rPr>
              <a:t>12</a:t>
            </a:r>
          </a:p>
        </p:txBody>
      </p:sp>
      <p:sp>
        <p:nvSpPr>
          <p:cNvPr id="30" name="Rectangle 31"/>
          <p:cNvSpPr>
            <a:spLocks noChangeArrowheads="1"/>
          </p:cNvSpPr>
          <p:nvPr/>
        </p:nvSpPr>
        <p:spPr bwMode="auto">
          <a:xfrm>
            <a:off x="40666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1" name="Rectangle 32"/>
          <p:cNvSpPr>
            <a:spLocks noChangeArrowheads="1"/>
          </p:cNvSpPr>
          <p:nvPr/>
        </p:nvSpPr>
        <p:spPr bwMode="auto">
          <a:xfrm>
            <a:off x="43714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" name="Rectangle 33"/>
          <p:cNvSpPr>
            <a:spLocks noChangeArrowheads="1"/>
          </p:cNvSpPr>
          <p:nvPr/>
        </p:nvSpPr>
        <p:spPr bwMode="auto">
          <a:xfrm>
            <a:off x="46762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41</a:t>
            </a:r>
          </a:p>
        </p:txBody>
      </p:sp>
      <p:sp>
        <p:nvSpPr>
          <p:cNvPr id="33" name="Rectangle 34"/>
          <p:cNvSpPr>
            <a:spLocks noChangeArrowheads="1"/>
          </p:cNvSpPr>
          <p:nvPr/>
        </p:nvSpPr>
        <p:spPr bwMode="auto">
          <a:xfrm>
            <a:off x="49810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4" name="Rectangle 35"/>
          <p:cNvSpPr>
            <a:spLocks noChangeArrowheads="1"/>
          </p:cNvSpPr>
          <p:nvPr/>
        </p:nvSpPr>
        <p:spPr bwMode="auto">
          <a:xfrm>
            <a:off x="52858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5" name="Rectangle 36"/>
          <p:cNvSpPr>
            <a:spLocks noChangeArrowheads="1"/>
          </p:cNvSpPr>
          <p:nvPr/>
        </p:nvSpPr>
        <p:spPr bwMode="auto">
          <a:xfrm>
            <a:off x="55906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SimSun" panose="02010600030101010101" pitchFamily="2" charset="-122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36" name="Rectangle 37"/>
          <p:cNvSpPr>
            <a:spLocks noChangeArrowheads="1"/>
          </p:cNvSpPr>
          <p:nvPr/>
        </p:nvSpPr>
        <p:spPr bwMode="auto">
          <a:xfrm>
            <a:off x="58954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44</a:t>
            </a:r>
          </a:p>
        </p:txBody>
      </p:sp>
      <p:sp>
        <p:nvSpPr>
          <p:cNvPr id="37" name="Rectangle 38"/>
          <p:cNvSpPr>
            <a:spLocks noChangeArrowheads="1"/>
          </p:cNvSpPr>
          <p:nvPr/>
        </p:nvSpPr>
        <p:spPr bwMode="auto">
          <a:xfrm>
            <a:off x="62002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59</a:t>
            </a:r>
          </a:p>
        </p:txBody>
      </p:sp>
      <p:sp>
        <p:nvSpPr>
          <p:cNvPr id="38" name="Rectangle 39"/>
          <p:cNvSpPr>
            <a:spLocks noChangeArrowheads="1"/>
          </p:cNvSpPr>
          <p:nvPr/>
        </p:nvSpPr>
        <p:spPr bwMode="auto">
          <a:xfrm>
            <a:off x="65050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39" name="Rectangle 40"/>
          <p:cNvSpPr>
            <a:spLocks noChangeArrowheads="1"/>
          </p:cNvSpPr>
          <p:nvPr/>
        </p:nvSpPr>
        <p:spPr bwMode="auto">
          <a:xfrm>
            <a:off x="68098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40" name="Rectangle 41"/>
          <p:cNvSpPr>
            <a:spLocks noChangeArrowheads="1"/>
          </p:cNvSpPr>
          <p:nvPr/>
        </p:nvSpPr>
        <p:spPr bwMode="auto">
          <a:xfrm>
            <a:off x="71146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31</a:t>
            </a:r>
          </a:p>
        </p:txBody>
      </p:sp>
      <p:sp>
        <p:nvSpPr>
          <p:cNvPr id="41" name="Rectangle 42"/>
          <p:cNvSpPr>
            <a:spLocks noChangeArrowheads="1"/>
          </p:cNvSpPr>
          <p:nvPr/>
        </p:nvSpPr>
        <p:spPr bwMode="auto">
          <a:xfrm>
            <a:off x="74194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73</a:t>
            </a:r>
          </a:p>
        </p:txBody>
      </p:sp>
      <p:sp>
        <p:nvSpPr>
          <p:cNvPr id="42" name="Rectangle 43"/>
          <p:cNvSpPr>
            <a:spLocks noChangeArrowheads="1"/>
          </p:cNvSpPr>
          <p:nvPr/>
        </p:nvSpPr>
        <p:spPr bwMode="auto">
          <a:xfrm>
            <a:off x="7724274" y="5919537"/>
            <a:ext cx="304800" cy="304800"/>
          </a:xfrm>
          <a:prstGeom prst="rect">
            <a:avLst/>
          </a:prstGeom>
          <a:solidFill>
            <a:srgbClr val="8097F8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06984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7147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" name="Text Box 46"/>
          <p:cNvSpPr txBox="1">
            <a:spLocks noChangeArrowheads="1"/>
          </p:cNvSpPr>
          <p:nvPr/>
        </p:nvSpPr>
        <p:spPr bwMode="auto">
          <a:xfrm>
            <a:off x="467309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6" name="Text Box 47"/>
          <p:cNvSpPr txBox="1">
            <a:spLocks noChangeArrowheads="1"/>
          </p:cNvSpPr>
          <p:nvPr/>
        </p:nvSpPr>
        <p:spPr bwMode="auto">
          <a:xfrm>
            <a:off x="497472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7" name="Text Box 48"/>
          <p:cNvSpPr txBox="1">
            <a:spLocks noChangeArrowheads="1"/>
          </p:cNvSpPr>
          <p:nvPr/>
        </p:nvSpPr>
        <p:spPr bwMode="auto">
          <a:xfrm>
            <a:off x="527634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8" name="Text Box 49"/>
          <p:cNvSpPr txBox="1">
            <a:spLocks noChangeArrowheads="1"/>
          </p:cNvSpPr>
          <p:nvPr/>
        </p:nvSpPr>
        <p:spPr bwMode="auto">
          <a:xfrm>
            <a:off x="557797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9" name="Text Box 50"/>
          <p:cNvSpPr txBox="1">
            <a:spLocks noChangeArrowheads="1"/>
          </p:cNvSpPr>
          <p:nvPr/>
        </p:nvSpPr>
        <p:spPr bwMode="auto">
          <a:xfrm>
            <a:off x="587959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50" name="Text Box 51"/>
          <p:cNvSpPr txBox="1">
            <a:spLocks noChangeArrowheads="1"/>
          </p:cNvSpPr>
          <p:nvPr/>
        </p:nvSpPr>
        <p:spPr bwMode="auto">
          <a:xfrm>
            <a:off x="618122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1" name="Text Box 52"/>
          <p:cNvSpPr txBox="1">
            <a:spLocks noChangeArrowheads="1"/>
          </p:cNvSpPr>
          <p:nvPr/>
        </p:nvSpPr>
        <p:spPr bwMode="auto">
          <a:xfrm>
            <a:off x="6482849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52" name="Text Box 53"/>
          <p:cNvSpPr txBox="1">
            <a:spLocks noChangeArrowheads="1"/>
          </p:cNvSpPr>
          <p:nvPr/>
        </p:nvSpPr>
        <p:spPr bwMode="auto">
          <a:xfrm>
            <a:off x="6784474" y="6186237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3" name="Text Box 54"/>
          <p:cNvSpPr txBox="1">
            <a:spLocks noChangeArrowheads="1"/>
          </p:cNvSpPr>
          <p:nvPr/>
        </p:nvSpPr>
        <p:spPr bwMode="auto">
          <a:xfrm>
            <a:off x="7028949" y="6186237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4" name="Text Box 55"/>
          <p:cNvSpPr txBox="1">
            <a:spLocks noChangeArrowheads="1"/>
          </p:cNvSpPr>
          <p:nvPr/>
        </p:nvSpPr>
        <p:spPr bwMode="auto">
          <a:xfrm>
            <a:off x="7330574" y="6186237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" name="Text Box 56"/>
          <p:cNvSpPr txBox="1">
            <a:spLocks noChangeArrowheads="1"/>
          </p:cNvSpPr>
          <p:nvPr/>
        </p:nvSpPr>
        <p:spPr bwMode="auto">
          <a:xfrm>
            <a:off x="7632199" y="6186237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ea typeface="SimSun" panose="02010600030101010101" pitchFamily="2" charset="-122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6" name="AutoShape 57"/>
          <p:cNvSpPr>
            <a:spLocks noChangeArrowheads="1"/>
          </p:cNvSpPr>
          <p:nvPr/>
        </p:nvSpPr>
        <p:spPr bwMode="auto">
          <a:xfrm>
            <a:off x="5895474" y="5386137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033084" y="819633"/>
            <a:ext cx="33207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Suffers from primary clustering:</a:t>
            </a:r>
          </a:p>
          <a:p>
            <a:r>
              <a:rPr lang="en-US" dirty="0"/>
              <a:t>Long runs of </a:t>
            </a:r>
            <a:r>
              <a:rPr lang="en-US" b="1" dirty="0"/>
              <a:t>occupied sequences </a:t>
            </a:r>
            <a:r>
              <a:rPr lang="en-US" dirty="0"/>
              <a:t>build up.</a:t>
            </a:r>
          </a:p>
          <a:p>
            <a:r>
              <a:rPr lang="en-US" dirty="0"/>
              <a:t>Long runs tend to </a:t>
            </a:r>
            <a:r>
              <a:rPr lang="en-US" b="1" dirty="0"/>
              <a:t>get longer, </a:t>
            </a:r>
          </a:p>
          <a:p>
            <a:r>
              <a:rPr lang="en-US" dirty="0"/>
              <a:t>Hence, </a:t>
            </a:r>
            <a:r>
              <a:rPr lang="en-US" b="1" dirty="0"/>
              <a:t>average search</a:t>
            </a:r>
            <a:r>
              <a:rPr lang="en-US" dirty="0"/>
              <a:t> and </a:t>
            </a:r>
            <a:r>
              <a:rPr lang="en-US" b="1" dirty="0"/>
              <a:t>insertion times increase.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78C8B6F7-C640-4971-B72A-AA6FD149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173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  <a:p>
            <a:pPr lvl="1"/>
            <a:r>
              <a:rPr lang="en-US" dirty="0"/>
              <a:t>Search in a manner similar to insert</a:t>
            </a:r>
          </a:p>
          <a:p>
            <a:pPr lvl="1"/>
            <a:r>
              <a:rPr lang="en-US" dirty="0"/>
              <a:t>By increasing </a:t>
            </a:r>
            <a:r>
              <a:rPr lang="en-US" dirty="0" err="1"/>
              <a:t>i</a:t>
            </a:r>
            <a:endParaRPr lang="en-US" dirty="0"/>
          </a:p>
          <a:p>
            <a:pPr lvl="1"/>
            <a:r>
              <a:rPr lang="en-US" dirty="0"/>
              <a:t>If a NULL is found while probing that element is not there in the list</a:t>
            </a:r>
          </a:p>
          <a:p>
            <a:r>
              <a:rPr lang="en-US" dirty="0"/>
              <a:t>Delete</a:t>
            </a:r>
          </a:p>
          <a:p>
            <a:pPr lvl="1"/>
            <a:r>
              <a:rPr lang="en-US" dirty="0"/>
              <a:t>In order to not hamper search</a:t>
            </a:r>
          </a:p>
          <a:p>
            <a:pPr lvl="1"/>
            <a:r>
              <a:rPr lang="en-US" dirty="0"/>
              <a:t>Insert a special object called deleted</a:t>
            </a:r>
          </a:p>
          <a:p>
            <a:pPr lvl="1"/>
            <a:r>
              <a:rPr lang="en-US" dirty="0"/>
              <a:t>Search will treat it as an object occupying space</a:t>
            </a:r>
          </a:p>
          <a:p>
            <a:pPr lvl="1"/>
            <a:r>
              <a:rPr lang="en-US" dirty="0"/>
              <a:t>Insert will treat is an empty space.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A019B-3412-4BCF-8F08-584103C6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531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h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k, </a:t>
            </a:r>
            <a:r>
              <a:rPr lang="en-US" altLang="zh-CN" i="1" dirty="0" err="1">
                <a:solidFill>
                  <a:srgbClr val="CC3300"/>
                </a:solidFill>
                <a:ea typeface="SimSun" panose="02010600030101010101" pitchFamily="2" charset="-122"/>
              </a:rPr>
              <a:t>i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= 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h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k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+ c</a:t>
            </a:r>
            <a:r>
              <a:rPr lang="en-US" altLang="zh-CN" baseline="-25000" dirty="0">
                <a:solidFill>
                  <a:srgbClr val="CC3300"/>
                </a:solidFill>
                <a:ea typeface="SimSun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i + c</a:t>
            </a:r>
            <a:r>
              <a:rPr lang="en-US" altLang="zh-CN" baseline="-25000" dirty="0">
                <a:solidFill>
                  <a:srgbClr val="CC3300"/>
                </a:solidFill>
                <a:ea typeface="SimSun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i</a:t>
            </a:r>
            <a:r>
              <a:rPr lang="en-US" altLang="zh-CN" baseline="30000" dirty="0">
                <a:solidFill>
                  <a:srgbClr val="CC3300"/>
                </a:solidFill>
                <a:ea typeface="SimSun" panose="02010600030101010101" pitchFamily="2" charset="-122"/>
              </a:rPr>
              <a:t>2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mod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m    </a:t>
            </a:r>
            <a:r>
              <a:rPr lang="en-US" altLang="zh-CN" i="1" dirty="0">
                <a:solidFill>
                  <a:schemeClr val="hlink"/>
                </a:solidFill>
                <a:ea typeface="SimSun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hlink"/>
                </a:solidFill>
                <a:ea typeface="SimSun" panose="02010600030101010101" pitchFamily="2" charset="-122"/>
              </a:rPr>
              <a:t>1</a:t>
            </a:r>
            <a:r>
              <a:rPr lang="en-US" altLang="zh-CN" i="1" dirty="0">
                <a:solidFill>
                  <a:schemeClr val="hlink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i="1" dirty="0">
                <a:solidFill>
                  <a:schemeClr val="hlink"/>
                </a:solidFill>
                <a:ea typeface="SimSun" panose="02010600030101010101" pitchFamily="2" charset="-122"/>
              </a:rPr>
              <a:t> c</a:t>
            </a:r>
            <a:r>
              <a:rPr lang="en-US" altLang="zh-CN" baseline="-25000" dirty="0">
                <a:solidFill>
                  <a:schemeClr val="hlink"/>
                </a:solidFill>
                <a:ea typeface="SimSun" panose="02010600030101010101" pitchFamily="2" charset="-122"/>
              </a:rPr>
              <a:t>2</a:t>
            </a:r>
            <a:endParaRPr lang="en-US" altLang="zh-CN" i="1" dirty="0">
              <a:solidFill>
                <a:schemeClr val="hlink"/>
              </a:solidFill>
              <a:ea typeface="SimSun" panose="02010600030101010101" pitchFamily="2" charset="-122"/>
            </a:endParaRPr>
          </a:p>
          <a:p>
            <a:r>
              <a:rPr lang="en-US" dirty="0"/>
              <a:t>Same concept , just difference in the type of equation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Can suffer from </a:t>
            </a:r>
            <a:r>
              <a:rPr lang="en-US" altLang="zh-CN" b="1" i="1" dirty="0">
                <a:solidFill>
                  <a:srgbClr val="CC3300"/>
                </a:solidFill>
                <a:ea typeface="SimSun" panose="02010600030101010101" pitchFamily="2" charset="-122"/>
              </a:rPr>
              <a:t>secondary clustering</a:t>
            </a:r>
            <a:r>
              <a:rPr lang="en-US" altLang="zh-CN" dirty="0">
                <a:ea typeface="SimSun" panose="02010600030101010101" pitchFamily="2" charset="-122"/>
              </a:rPr>
              <a:t>: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If two keys have the same initial probe position, then their probe sequences are the same.</a:t>
            </a:r>
            <a:endParaRPr lang="en-US" altLang="zh-CN" i="1" dirty="0">
              <a:ea typeface="SimSun" panose="02010600030101010101" pitchFamily="2" charset="-122"/>
            </a:endParaRP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DC4827D-154B-404F-B134-E5F978925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23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h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k, </a:t>
            </a:r>
            <a:r>
              <a:rPr lang="en-US" altLang="zh-CN" i="1" dirty="0" err="1">
                <a:solidFill>
                  <a:srgbClr val="CC3300"/>
                </a:solidFill>
                <a:ea typeface="SimSun" panose="02010600030101010101" pitchFamily="2" charset="-122"/>
              </a:rPr>
              <a:t>i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= 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h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k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+ c</a:t>
            </a:r>
            <a:r>
              <a:rPr lang="en-US" altLang="zh-CN" baseline="-25000" dirty="0">
                <a:solidFill>
                  <a:srgbClr val="CC3300"/>
                </a:solidFill>
                <a:ea typeface="SimSun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i + c</a:t>
            </a:r>
            <a:r>
              <a:rPr lang="en-US" altLang="zh-CN" baseline="-25000" dirty="0">
                <a:solidFill>
                  <a:srgbClr val="CC3300"/>
                </a:solidFill>
                <a:ea typeface="SimSun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i</a:t>
            </a:r>
            <a:r>
              <a:rPr lang="en-US" altLang="zh-CN" baseline="30000" dirty="0">
                <a:solidFill>
                  <a:srgbClr val="CC3300"/>
                </a:solidFill>
                <a:ea typeface="SimSun" panose="02010600030101010101" pitchFamily="2" charset="-122"/>
              </a:rPr>
              <a:t>2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mod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m    </a:t>
            </a:r>
            <a:r>
              <a:rPr lang="en-US" altLang="zh-CN" i="1" dirty="0">
                <a:solidFill>
                  <a:schemeClr val="hlink"/>
                </a:solidFill>
                <a:ea typeface="SimSun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chemeClr val="hlink"/>
                </a:solidFill>
                <a:ea typeface="SimSun" panose="02010600030101010101" pitchFamily="2" charset="-122"/>
              </a:rPr>
              <a:t>1</a:t>
            </a:r>
            <a:r>
              <a:rPr lang="en-US" altLang="zh-CN" i="1" dirty="0">
                <a:solidFill>
                  <a:schemeClr val="hlink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i="1" dirty="0">
                <a:solidFill>
                  <a:schemeClr val="hlink"/>
                </a:solidFill>
                <a:ea typeface="SimSun" panose="02010600030101010101" pitchFamily="2" charset="-122"/>
              </a:rPr>
              <a:t> c</a:t>
            </a:r>
            <a:r>
              <a:rPr lang="en-US" altLang="zh-CN" baseline="-25000" dirty="0">
                <a:solidFill>
                  <a:schemeClr val="hlink"/>
                </a:solidFill>
                <a:ea typeface="SimSun" panose="02010600030101010101" pitchFamily="2" charset="-122"/>
              </a:rPr>
              <a:t>2</a:t>
            </a:r>
            <a:endParaRPr lang="en-US" altLang="zh-CN" i="1" dirty="0">
              <a:solidFill>
                <a:schemeClr val="hlink"/>
              </a:solidFill>
              <a:ea typeface="SimSun" panose="02010600030101010101" pitchFamily="2" charset="-122"/>
            </a:endParaRPr>
          </a:p>
          <a:p>
            <a:r>
              <a:rPr lang="en-US" dirty="0"/>
              <a:t>Same concept , just difference in the type of equation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Can suffer from </a:t>
            </a:r>
            <a:r>
              <a:rPr lang="en-US" altLang="zh-CN" b="1" i="1" dirty="0">
                <a:solidFill>
                  <a:srgbClr val="CC3300"/>
                </a:solidFill>
                <a:ea typeface="SimSun" panose="02010600030101010101" pitchFamily="2" charset="-122"/>
              </a:rPr>
              <a:t>secondary clustering</a:t>
            </a:r>
            <a:r>
              <a:rPr lang="en-US" altLang="zh-CN" dirty="0">
                <a:ea typeface="SimSun" panose="02010600030101010101" pitchFamily="2" charset="-122"/>
              </a:rPr>
              <a:t>: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If two keys have the same initial probe position, then their probe sequences are the same.</a:t>
            </a:r>
            <a:endParaRPr lang="en-US" altLang="zh-CN" i="1" dirty="0">
              <a:ea typeface="SimSun" panose="02010600030101010101" pitchFamily="2" charset="-122"/>
            </a:endParaRP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01D7F-4E5E-4F85-8B78-A6B01EA7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845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h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(</a:t>
            </a:r>
            <a:r>
              <a:rPr lang="en-US" altLang="zh-CN" i="1" dirty="0" err="1">
                <a:solidFill>
                  <a:srgbClr val="CC3300"/>
                </a:solidFill>
                <a:ea typeface="SimSun" panose="02010600030101010101" pitchFamily="2" charset="-122"/>
              </a:rPr>
              <a:t>k,i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= 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h</a:t>
            </a:r>
            <a:r>
              <a:rPr lang="en-US" altLang="zh-CN" baseline="-25000" dirty="0">
                <a:solidFill>
                  <a:srgbClr val="CC3300"/>
                </a:solidFill>
                <a:ea typeface="SimSun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k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+ </a:t>
            </a:r>
            <a:r>
              <a:rPr lang="en-US" altLang="zh-CN" i="1" dirty="0" err="1">
                <a:solidFill>
                  <a:srgbClr val="CC3300"/>
                </a:solidFill>
                <a:ea typeface="SimSun" panose="02010600030101010101" pitchFamily="2" charset="-122"/>
              </a:rPr>
              <a:t>i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h</a:t>
            </a:r>
            <a:r>
              <a:rPr lang="en-US" altLang="zh-CN" baseline="-25000" dirty="0">
                <a:solidFill>
                  <a:srgbClr val="CC3300"/>
                </a:solidFill>
                <a:ea typeface="SimSun" panose="02010600030101010101" pitchFamily="2" charset="-122"/>
              </a:rPr>
              <a:t>2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k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))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</a:t>
            </a:r>
            <a:r>
              <a:rPr lang="en-US" altLang="zh-CN" dirty="0">
                <a:solidFill>
                  <a:srgbClr val="CC3300"/>
                </a:solidFill>
                <a:ea typeface="SimSun" panose="02010600030101010101" pitchFamily="2" charset="-122"/>
              </a:rPr>
              <a:t>mod</a:t>
            </a:r>
            <a:r>
              <a:rPr lang="en-US" altLang="zh-CN" i="1" dirty="0">
                <a:solidFill>
                  <a:srgbClr val="CC3300"/>
                </a:solidFill>
                <a:ea typeface="SimSun" panose="02010600030101010101" pitchFamily="2" charset="-122"/>
              </a:rPr>
              <a:t> m  </a:t>
            </a:r>
          </a:p>
          <a:p>
            <a:endParaRPr lang="en-US" altLang="zh-CN" i="1" dirty="0">
              <a:solidFill>
                <a:srgbClr val="CC3300"/>
              </a:solidFill>
              <a:ea typeface="SimSun" panose="02010600030101010101" pitchFamily="2" charset="-122"/>
            </a:endParaRPr>
          </a:p>
          <a:p>
            <a:r>
              <a:rPr lang="en-US" dirty="0"/>
              <a:t>This can be used for dealing with the limitations of previous two </a:t>
            </a:r>
            <a:r>
              <a:rPr lang="en-US" dirty="0" err="1"/>
              <a:t>hashings</a:t>
            </a:r>
            <a:endParaRPr lang="en-US" dirty="0"/>
          </a:p>
          <a:p>
            <a:r>
              <a:rPr lang="en-US" dirty="0"/>
              <a:t>The users can induce new properties by defining their own h1 and h2</a:t>
            </a:r>
          </a:p>
          <a:p>
            <a:r>
              <a:rPr lang="en-US" dirty="0"/>
              <a:t>Note that the value from h2 is helping in probing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F863C-87BE-4285-B39E-641FEBDE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419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5956B-1AC2-4546-A633-7EA4C7B6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C897-9486-4CC2-B260-0AEAAFD8A8D8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79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2839</Words>
  <Application>Microsoft Office PowerPoint</Application>
  <PresentationFormat>Widescreen</PresentationFormat>
  <Paragraphs>901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SimSun</vt:lpstr>
      <vt:lpstr>Arial</vt:lpstr>
      <vt:lpstr>Calibri</vt:lpstr>
      <vt:lpstr>Calibri Light</vt:lpstr>
      <vt:lpstr>Symbol</vt:lpstr>
      <vt:lpstr>Tahoma</vt:lpstr>
      <vt:lpstr>Office Theme</vt:lpstr>
      <vt:lpstr>Hash Table</vt:lpstr>
      <vt:lpstr>Contents</vt:lpstr>
      <vt:lpstr>1.Introduction</vt:lpstr>
      <vt:lpstr>Why learn about hash table?</vt:lpstr>
      <vt:lpstr>2.Direct Addressing</vt:lpstr>
      <vt:lpstr>Direct Addressing</vt:lpstr>
      <vt:lpstr>Direct Addressing</vt:lpstr>
      <vt:lpstr>Direct Addressing</vt:lpstr>
      <vt:lpstr>Direct Addressing</vt:lpstr>
      <vt:lpstr>Direct Addressing</vt:lpstr>
      <vt:lpstr>Direct Addressing</vt:lpstr>
      <vt:lpstr>Limitations of direct addressing</vt:lpstr>
      <vt:lpstr>3.Hash Table</vt:lpstr>
      <vt:lpstr>Hash Table</vt:lpstr>
      <vt:lpstr>Hash Table</vt:lpstr>
      <vt:lpstr>Hash Table</vt:lpstr>
      <vt:lpstr>Hash Table</vt:lpstr>
      <vt:lpstr>Hash Table</vt:lpstr>
      <vt:lpstr>Hash Table</vt:lpstr>
      <vt:lpstr>Hash Table</vt:lpstr>
      <vt:lpstr>Retrieving from the hash tale</vt:lpstr>
      <vt:lpstr>Retrieving from the hash tale</vt:lpstr>
      <vt:lpstr>Retrieving from the hash tale</vt:lpstr>
      <vt:lpstr>Retrieving from the hash tale</vt:lpstr>
      <vt:lpstr>Problem in this approach</vt:lpstr>
      <vt:lpstr>Problem in this approach</vt:lpstr>
      <vt:lpstr>4.Collision Resolution By Chaining</vt:lpstr>
      <vt:lpstr>Collision Resolution by Chaining</vt:lpstr>
      <vt:lpstr>Collision Resolution by Chaining</vt:lpstr>
      <vt:lpstr>Collision Resolution by Chaining</vt:lpstr>
      <vt:lpstr>Collision Resolution by Chaining</vt:lpstr>
      <vt:lpstr>Collision Resolution by Chaining</vt:lpstr>
      <vt:lpstr>Collision Resolution by Chaining</vt:lpstr>
      <vt:lpstr>Collision Resolution by Chaining</vt:lpstr>
      <vt:lpstr>Collision Resolution by Chaining</vt:lpstr>
      <vt:lpstr>Collision Resolution by Chaining</vt:lpstr>
      <vt:lpstr>The Time Complexities</vt:lpstr>
      <vt:lpstr>5.Analysis of Hashing with chaining</vt:lpstr>
      <vt:lpstr>Two times</vt:lpstr>
      <vt:lpstr>A new term</vt:lpstr>
      <vt:lpstr>A new term</vt:lpstr>
      <vt:lpstr>A new term</vt:lpstr>
      <vt:lpstr>A new term</vt:lpstr>
      <vt:lpstr>Time required for unsuccessful search </vt:lpstr>
      <vt:lpstr>Time required for unsuccessful search </vt:lpstr>
      <vt:lpstr>Time required for unsuccessful search </vt:lpstr>
      <vt:lpstr>Time required for unsuccessful search </vt:lpstr>
      <vt:lpstr>Time required for unsuccessful search </vt:lpstr>
      <vt:lpstr>Time required for unsuccessful search </vt:lpstr>
      <vt:lpstr>Time required for successful search </vt:lpstr>
      <vt:lpstr>6.Hash Functions</vt:lpstr>
      <vt:lpstr>Some example hash functions</vt:lpstr>
      <vt:lpstr>PowerPoint Presentation</vt:lpstr>
      <vt:lpstr>7.Probing</vt:lpstr>
      <vt:lpstr>Open Addressing</vt:lpstr>
      <vt:lpstr>Linear Probing</vt:lpstr>
      <vt:lpstr>Linear Probing</vt:lpstr>
      <vt:lpstr>Linear Probing</vt:lpstr>
      <vt:lpstr>Linear Probing</vt:lpstr>
      <vt:lpstr>Linear Probing</vt:lpstr>
      <vt:lpstr>Quadratic Probing</vt:lpstr>
      <vt:lpstr>Quadratic Probing</vt:lpstr>
      <vt:lpstr>Double Hashing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Tahmid Mosaddeque</cp:lastModifiedBy>
  <cp:revision>162</cp:revision>
  <dcterms:created xsi:type="dcterms:W3CDTF">2022-12-05T02:41:16Z</dcterms:created>
  <dcterms:modified xsi:type="dcterms:W3CDTF">2025-01-13T18:39:44Z</dcterms:modified>
</cp:coreProperties>
</file>