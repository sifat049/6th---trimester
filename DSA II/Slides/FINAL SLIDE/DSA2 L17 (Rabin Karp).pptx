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embeddedFontLst>
    <p:embeddedFont>
      <p:font typeface="Noto Sans Symbols" panose="020B0604020202020204" charset="0"/>
      <p:regular r:id="rId63"/>
      <p:bold r:id="rId64"/>
    </p:embeddedFont>
    <p:embeddedFont>
      <p:font typeface="Tahoma" panose="020B0604030504040204" pitchFamily="34" charset="0"/>
      <p:regular r:id="rId65"/>
      <p:bold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iYZmdSA+IaeXnkFvSGnGsOsEHT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D421D2-CC1D-4CEE-A404-8327533B9DDC}">
  <a:tblStyle styleId="{7CD421D2-CC1D-4CEE-A404-8327533B9D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E3FB999-B846-4801-935E-1C417B70F01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tcBdr/>
        <a:fill>
          <a:solidFill>
            <a:srgbClr val="F8D6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D6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9CFB54-2DDF-4FF7-8000-CF2DB2CFA120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3C6DF6A-5C8F-4E86-8B1E-779FC2B2156A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2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19" name="Google Shape;19;p62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20" name="Google Shape;20;p62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6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6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6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27" name="Google Shape;27;p6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28" name="Google Shape;28;p6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6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6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6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6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37" name="Google Shape;37;p6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38" name="Google Shape;38;p6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6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6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6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5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5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46" name="Google Shape;46;p6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47" name="Google Shape;47;p6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6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6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6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6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6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6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58" name="Google Shape;58;p6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59" name="Google Shape;59;p6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6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6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6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67" name="Google Shape;67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68" name="Google Shape;68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71" name="Google Shape;71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72" name="Google Shape;72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6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78" name="Google Shape;78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79" name="Google Shape;79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0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85" name="Google Shape;85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86" name="Google Shape;86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91" name="Google Shape;91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92" name="Google Shape;92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97" name="Google Shape;97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98" name="Google Shape;98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Sunday, December 3, 2023</a:t>
            </a:r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Lec Tahmid Mosaddeque, Dept of CSE, UIU</a:t>
            </a:r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Rabin Karp Algorithm</a:t>
            </a:r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Naïve String Matching Algorithm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Rabin Karp Algorithm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Hash function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Rolling Hash Function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Spurious Hit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Modified Hash Function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Modulus of Hash Function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Time Complexity Analysis</a:t>
            </a:r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25" name="Google Shape;125;p3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" name="Google Shape;126;p3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28" name="Google Shape;128;p3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35" name="Google Shape;135;p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6" name="Google Shape;136;p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37" name="Google Shape;137;p4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8" name="Google Shape;138;p4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40" name="Google Shape;140;p4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Google Shape;141;p4"/>
          <p:cNvSpPr/>
          <p:nvPr/>
        </p:nvSpPr>
        <p:spPr>
          <a:xfrm>
            <a:off x="2209800" y="138455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51" name="Google Shape;151;p5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2" name="Google Shape;152;p5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54" name="Google Shape;154;p5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5" name="Google Shape;155;p5"/>
          <p:cNvSpPr/>
          <p:nvPr/>
        </p:nvSpPr>
        <p:spPr>
          <a:xfrm>
            <a:off x="2209800" y="138455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496532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5" name="Google Shape;165;p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66" name="Google Shape;166;p6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7" name="Google Shape;167;p6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69" name="Google Shape;169;p6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0" name="Google Shape;170;p6"/>
          <p:cNvSpPr/>
          <p:nvPr/>
        </p:nvSpPr>
        <p:spPr>
          <a:xfrm>
            <a:off x="3054314" y="1353836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78" name="Google Shape;178;p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9" name="Google Shape;179;p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80" name="Google Shape;180;p7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1" name="Google Shape;181;p7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83" name="Google Shape;183;p7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4" name="Google Shape;184;p7"/>
          <p:cNvSpPr/>
          <p:nvPr/>
        </p:nvSpPr>
        <p:spPr>
          <a:xfrm>
            <a:off x="3054314" y="1353836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252277" y="136428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94" name="Google Shape;194;p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95" name="Google Shape;195;p8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6" name="Google Shape;196;p8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98" name="Google Shape;198;p8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9" name="Google Shape;199;p8"/>
          <p:cNvSpPr/>
          <p:nvPr/>
        </p:nvSpPr>
        <p:spPr>
          <a:xfrm>
            <a:off x="3054314" y="1353836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207" name="Google Shape;207;p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09" name="Google Shape;209;p9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0" name="Google Shape;210;p9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12" name="Google Shape;212;p9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3" name="Google Shape;213;p9"/>
          <p:cNvSpPr/>
          <p:nvPr/>
        </p:nvSpPr>
        <p:spPr>
          <a:xfrm>
            <a:off x="3840637" y="1314429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221" name="Google Shape;221;p1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2" name="Google Shape;222;p1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23" name="Google Shape;223;p10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4" name="Google Shape;224;p10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26" name="Google Shape;226;p10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7" name="Google Shape;227;p10"/>
          <p:cNvSpPr/>
          <p:nvPr/>
        </p:nvSpPr>
        <p:spPr>
          <a:xfrm>
            <a:off x="3840637" y="1314429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098071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236" name="Google Shape;236;p1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38" name="Google Shape;238;p11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9" name="Google Shape;239;p11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41" name="Google Shape;241;p11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2" name="Google Shape;242;p11"/>
          <p:cNvSpPr/>
          <p:nvPr/>
        </p:nvSpPr>
        <p:spPr>
          <a:xfrm>
            <a:off x="3840637" y="1314429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098071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251" name="Google Shape;251;p1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52" name="Google Shape;252;p1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53" name="Google Shape;253;p12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4" name="Google Shape;254;p12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56" name="Google Shape;256;p12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7" name="Google Shape;257;p12"/>
          <p:cNvSpPr/>
          <p:nvPr/>
        </p:nvSpPr>
        <p:spPr>
          <a:xfrm>
            <a:off x="3840637" y="1314429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054314" y="257980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664989" y="136428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266" name="Google Shape;266;p1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67" name="Google Shape;267;p1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68" name="Google Shape;268;p13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9" name="Google Shape;269;p13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71" name="Google Shape;271;p13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2" name="Google Shape;272;p13"/>
          <p:cNvSpPr/>
          <p:nvPr/>
        </p:nvSpPr>
        <p:spPr>
          <a:xfrm>
            <a:off x="4616730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81" name="Google Shape;281;p1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82" name="Google Shape;282;p14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3" name="Google Shape;283;p14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85" name="Google Shape;285;p14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6" name="Google Shape;286;p14"/>
          <p:cNvSpPr/>
          <p:nvPr/>
        </p:nvSpPr>
        <p:spPr>
          <a:xfrm>
            <a:off x="4616730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4931820" y="133157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295" name="Google Shape;295;p1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96" name="Google Shape;296;p1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97" name="Google Shape;297;p15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8" name="Google Shape;298;p15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00" name="Google Shape;300;p15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1" name="Google Shape;301;p15"/>
          <p:cNvSpPr/>
          <p:nvPr/>
        </p:nvSpPr>
        <p:spPr>
          <a:xfrm>
            <a:off x="5470442" y="133157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309" name="Google Shape;309;p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10" name="Google Shape;310;p1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11" name="Google Shape;311;p16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16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14" name="Google Shape;314;p16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5" name="Google Shape;315;p16"/>
          <p:cNvSpPr/>
          <p:nvPr/>
        </p:nvSpPr>
        <p:spPr>
          <a:xfrm>
            <a:off x="5470442" y="133157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5706142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324" name="Google Shape;324;p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25" name="Google Shape;325;p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26" name="Google Shape;326;p17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7" name="Google Shape;327;p17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29" name="Google Shape;329;p17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0" name="Google Shape;330;p17"/>
          <p:cNvSpPr/>
          <p:nvPr/>
        </p:nvSpPr>
        <p:spPr>
          <a:xfrm>
            <a:off x="6290574" y="131975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338" name="Google Shape;338;p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39" name="Google Shape;339;p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40" name="Google Shape;340;p18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1" name="Google Shape;341;p18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42" name="Google Shape;342;p18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43" name="Google Shape;343;p18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4" name="Google Shape;344;p18"/>
          <p:cNvSpPr/>
          <p:nvPr/>
        </p:nvSpPr>
        <p:spPr>
          <a:xfrm>
            <a:off x="6290574" y="131975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6590937" y="131975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353" name="Google Shape;353;p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55" name="Google Shape;355;p19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6" name="Google Shape;356;p19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58" name="Google Shape;358;p19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9" name="Google Shape;359;p19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367" name="Google Shape;367;p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68" name="Google Shape;368;p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69" name="Google Shape;369;p20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0" name="Google Shape;370;p20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72" name="Google Shape;372;p20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3" name="Google Shape;373;p20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7354508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382" name="Google Shape;382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83" name="Google Shape;383;p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84" name="Google Shape;384;p21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5" name="Google Shape;385;p21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87" name="Google Shape;387;p21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8" name="Google Shape;388;p21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2972954" y="260650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7955437" y="13855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397" name="Google Shape;397;p2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99" name="Google Shape;399;p22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0" name="Google Shape;400;p22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02" name="Google Shape;402;p22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3" name="Google Shape;403;p22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384063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8803849" y="134659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3663211" y="4001013"/>
            <a:ext cx="51406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Matched!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413" name="Google Shape;413;p2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14" name="Google Shape;414;p2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15" name="Google Shape;415;p23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6" name="Google Shape;416;p23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18" name="Google Shape;418;p23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" name="Google Shape;419;p23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3840637" y="2588533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8803849" y="1346591"/>
            <a:ext cx="395926" cy="4462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3663211" y="4001013"/>
            <a:ext cx="51406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Matched!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29" name="Google Shape;429;p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430" name="Google Shape;430;p2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31" name="Google Shape;431;p2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32" name="Google Shape;432;p24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3" name="Google Shape;433;p24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34" name="Google Shape;434;p24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35" name="Google Shape;435;p24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6" name="Google Shape;436;p24"/>
          <p:cNvSpPr/>
          <p:nvPr/>
        </p:nvSpPr>
        <p:spPr>
          <a:xfrm>
            <a:off x="2281286" y="210161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2511717" y="208332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2083323" y="3338913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45" name="Google Shape;445;p2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446" name="Google Shape;446;p2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47" name="Google Shape;447;p2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48" name="Google Shape;448;p25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9" name="Google Shape;449;p25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50" name="Google Shape;450;p25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51" name="Google Shape;451;p25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2" name="Google Shape;452;p25"/>
          <p:cNvSpPr/>
          <p:nvPr/>
        </p:nvSpPr>
        <p:spPr>
          <a:xfrm>
            <a:off x="2281286" y="210161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2972955" y="2177028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3054314" y="3342597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61" name="Google Shape;461;p2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462" name="Google Shape;462;p2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63" name="Google Shape;463;p2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64" name="Google Shape;464;p26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5" name="Google Shape;465;p26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66" name="Google Shape;466;p26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67" name="Google Shape;467;p26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8" name="Google Shape;468;p26"/>
          <p:cNvSpPr/>
          <p:nvPr/>
        </p:nvSpPr>
        <p:spPr>
          <a:xfrm>
            <a:off x="2281286" y="210161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3941221" y="2127539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3840637" y="3331160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77" name="Google Shape;477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478" name="Google Shape;478;p2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79" name="Google Shape;479;p2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80" name="Google Shape;480;p27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1" name="Google Shape;481;p27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83" name="Google Shape;483;p27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4" name="Google Shape;484;p27"/>
          <p:cNvSpPr/>
          <p:nvPr/>
        </p:nvSpPr>
        <p:spPr>
          <a:xfrm>
            <a:off x="3002862" y="204743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3204751" y="2020838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2294642" y="341045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93" name="Google Shape;493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494" name="Google Shape;494;p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95" name="Google Shape;495;p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96" name="Google Shape;496;p28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7" name="Google Shape;497;p28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98" name="Google Shape;498;p28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99" name="Google Shape;499;p28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0" name="Google Shape;500;p28"/>
          <p:cNvSpPr/>
          <p:nvPr/>
        </p:nvSpPr>
        <p:spPr>
          <a:xfrm>
            <a:off x="3002862" y="204743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3797724" y="214264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3054314" y="3317312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09" name="Google Shape;509;p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510" name="Google Shape;510;p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511" name="Google Shape;511;p2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12" name="Google Shape;512;p29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3" name="Google Shape;513;p29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14" name="Google Shape;514;p29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15" name="Google Shape;515;p29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6" name="Google Shape;516;p29"/>
          <p:cNvSpPr/>
          <p:nvPr/>
        </p:nvSpPr>
        <p:spPr>
          <a:xfrm>
            <a:off x="3002862" y="204743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4803987" y="215029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3840637" y="3385787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25" name="Google Shape;525;p3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526" name="Google Shape;526;p3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527" name="Google Shape;527;p3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28" name="Google Shape;528;p30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9" name="Google Shape;529;p30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30" name="Google Shape;530;p30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31" name="Google Shape;531;p30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2" name="Google Shape;532;p30"/>
          <p:cNvSpPr/>
          <p:nvPr/>
        </p:nvSpPr>
        <p:spPr>
          <a:xfrm>
            <a:off x="3886761" y="208332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4137600" y="2115106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2212717" y="341045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41" name="Google Shape;541;p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543" name="Google Shape;543;p3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44" name="Google Shape;544;p31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5" name="Google Shape;545;p31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46" name="Google Shape;546;p31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47" name="Google Shape;547;p31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8" name="Google Shape;548;p31"/>
          <p:cNvSpPr/>
          <p:nvPr/>
        </p:nvSpPr>
        <p:spPr>
          <a:xfrm>
            <a:off x="3886761" y="208332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4711114" y="2142845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3054314" y="3461499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57" name="Google Shape;557;p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60" name="Google Shape;560;p32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1" name="Google Shape;561;p32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62" name="Google Shape;562;p32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63" name="Google Shape;563;p32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4" name="Google Shape;564;p32"/>
          <p:cNvSpPr/>
          <p:nvPr/>
        </p:nvSpPr>
        <p:spPr>
          <a:xfrm>
            <a:off x="3886761" y="208332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/>
          <p:nvPr/>
        </p:nvSpPr>
        <p:spPr>
          <a:xfrm>
            <a:off x="5476486" y="215029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2"/>
          <p:cNvSpPr/>
          <p:nvPr/>
        </p:nvSpPr>
        <p:spPr>
          <a:xfrm>
            <a:off x="3840637" y="3376069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73" name="Google Shape;573;p3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574" name="Google Shape;574;p3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76" name="Google Shape;576;p33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7" name="Google Shape;577;p33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78" name="Google Shape;578;p33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79" name="Google Shape;579;p33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0" name="Google Shape;580;p33"/>
          <p:cNvSpPr/>
          <p:nvPr/>
        </p:nvSpPr>
        <p:spPr>
          <a:xfrm>
            <a:off x="4681624" y="213277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3"/>
          <p:cNvSpPr/>
          <p:nvPr/>
        </p:nvSpPr>
        <p:spPr>
          <a:xfrm>
            <a:off x="4986292" y="215029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3"/>
          <p:cNvSpPr/>
          <p:nvPr/>
        </p:nvSpPr>
        <p:spPr>
          <a:xfrm>
            <a:off x="2191748" y="3402640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89" name="Google Shape;589;p3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590" name="Google Shape;590;p3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91" name="Google Shape;591;p3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92" name="Google Shape;592;p34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3" name="Google Shape;593;p34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94" name="Google Shape;594;p34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95" name="Google Shape;595;p34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6" name="Google Shape;596;p34"/>
          <p:cNvSpPr/>
          <p:nvPr/>
        </p:nvSpPr>
        <p:spPr>
          <a:xfrm>
            <a:off x="4681624" y="213277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4"/>
          <p:cNvSpPr/>
          <p:nvPr/>
        </p:nvSpPr>
        <p:spPr>
          <a:xfrm>
            <a:off x="5458355" y="215029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3054314" y="3338913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05" name="Google Shape;605;p3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606" name="Google Shape;606;p3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08" name="Google Shape;608;p35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9" name="Google Shape;609;p35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10" name="Google Shape;610;p35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11" name="Google Shape;611;p35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2" name="Google Shape;612;p35"/>
          <p:cNvSpPr/>
          <p:nvPr/>
        </p:nvSpPr>
        <p:spPr>
          <a:xfrm>
            <a:off x="4681624" y="213277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6249236" y="2177028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5"/>
          <p:cNvSpPr/>
          <p:nvPr/>
        </p:nvSpPr>
        <p:spPr>
          <a:xfrm>
            <a:off x="3840637" y="345178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21" name="Google Shape;621;p3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622" name="Google Shape;622;p3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623" name="Google Shape;623;p3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24" name="Google Shape;624;p36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5" name="Google Shape;625;p36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26" name="Google Shape;626;p36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27" name="Google Shape;627;p36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8" name="Google Shape;628;p36"/>
          <p:cNvSpPr/>
          <p:nvPr/>
        </p:nvSpPr>
        <p:spPr>
          <a:xfrm>
            <a:off x="5454374" y="2191840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5765327" y="2191840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2209800" y="334663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37" name="Google Shape;637;p3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638" name="Google Shape;638;p3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639" name="Google Shape;639;p3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40" name="Google Shape;640;p37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1" name="Google Shape;641;p37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42" name="Google Shape;642;p37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43" name="Google Shape;643;p37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4" name="Google Shape;644;p37"/>
          <p:cNvSpPr/>
          <p:nvPr/>
        </p:nvSpPr>
        <p:spPr>
          <a:xfrm>
            <a:off x="5454374" y="2191840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7"/>
          <p:cNvSpPr/>
          <p:nvPr/>
        </p:nvSpPr>
        <p:spPr>
          <a:xfrm>
            <a:off x="6278727" y="2213923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3054314" y="3345014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53" name="Google Shape;653;p3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654" name="Google Shape;654;p3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655" name="Google Shape;655;p3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56" name="Google Shape;656;p38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7" name="Google Shape;657;p38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58" name="Google Shape;658;p38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59" name="Google Shape;659;p38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0" name="Google Shape;660;p38"/>
          <p:cNvSpPr/>
          <p:nvPr/>
        </p:nvSpPr>
        <p:spPr>
          <a:xfrm>
            <a:off x="5454374" y="2191840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8"/>
          <p:cNvSpPr/>
          <p:nvPr/>
        </p:nvSpPr>
        <p:spPr>
          <a:xfrm>
            <a:off x="7105076" y="215029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8"/>
          <p:cNvSpPr/>
          <p:nvPr/>
        </p:nvSpPr>
        <p:spPr>
          <a:xfrm>
            <a:off x="3940433" y="331621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69" name="Google Shape;669;p3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670" name="Google Shape;670;p3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71" name="Google Shape;671;p3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72" name="Google Shape;672;p39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3" name="Google Shape;673;p39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74" name="Google Shape;674;p39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75" name="Google Shape;675;p39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6" name="Google Shape;676;p39"/>
          <p:cNvSpPr/>
          <p:nvPr/>
        </p:nvSpPr>
        <p:spPr>
          <a:xfrm>
            <a:off x="6208519" y="223285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9"/>
          <p:cNvSpPr/>
          <p:nvPr/>
        </p:nvSpPr>
        <p:spPr>
          <a:xfrm>
            <a:off x="6604444" y="2248058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2143840" y="3424806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85" name="Google Shape;685;p4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686" name="Google Shape;686;p4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87" name="Google Shape;687;p4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88" name="Google Shape;688;p40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9" name="Google Shape;689;p40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90" name="Google Shape;690;p40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91" name="Google Shape;691;p40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2" name="Google Shape;692;p40"/>
          <p:cNvSpPr/>
          <p:nvPr/>
        </p:nvSpPr>
        <p:spPr>
          <a:xfrm>
            <a:off x="6208519" y="2232851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0"/>
          <p:cNvSpPr/>
          <p:nvPr/>
        </p:nvSpPr>
        <p:spPr>
          <a:xfrm>
            <a:off x="6604444" y="2248058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0"/>
          <p:cNvSpPr/>
          <p:nvPr/>
        </p:nvSpPr>
        <p:spPr>
          <a:xfrm>
            <a:off x="2143840" y="3424806"/>
            <a:ext cx="395925" cy="60473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0"/>
          <p:cNvSpPr/>
          <p:nvPr/>
        </p:nvSpPr>
        <p:spPr>
          <a:xfrm>
            <a:off x="6162926" y="3871091"/>
            <a:ext cx="462344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this goes on…</a:t>
            </a:r>
            <a:endParaRPr/>
          </a:p>
        </p:txBody>
      </p:sp>
      <p:sp>
        <p:nvSpPr>
          <p:cNvPr id="696" name="Google Shape;696;p40"/>
          <p:cNvSpPr/>
          <p:nvPr/>
        </p:nvSpPr>
        <p:spPr>
          <a:xfrm>
            <a:off x="6450297" y="4877075"/>
            <a:ext cx="39148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000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5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((n-m+1)m)</a:t>
            </a:r>
            <a:endParaRPr sz="5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703" name="Google Shape;703;p4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704" name="Google Shape;704;p4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05" name="Google Shape;705;p41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" name="Google Shape;706;p41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7" name="Google Shape;707;p41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08" name="Google Shape;708;p41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715" name="Google Shape;715;p4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716" name="Google Shape;716;p4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17" name="Google Shape;717;p42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8" name="Google Shape;718;p42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9" name="Google Shape;719;p42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20" name="Google Shape;720;p42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21" name="Google Shape;721;p42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728" name="Google Shape;728;p4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729" name="Google Shape;729;p4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30" name="Google Shape;730;p43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1" name="Google Shape;731;p43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2" name="Google Shape;732;p43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33" name="Google Shape;733;p43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34" name="Google Shape;734;p43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35" name="Google Shape;735;p43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742" name="Google Shape;742;p4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743" name="Google Shape;743;p4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44" name="Google Shape;744;p44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5" name="Google Shape;745;p44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6" name="Google Shape;746;p44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47" name="Google Shape;747;p44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48" name="Google Shape;748;p44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49" name="Google Shape;749;p44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750" name="Google Shape;750;p44"/>
          <p:cNvSpPr/>
          <p:nvPr/>
        </p:nvSpPr>
        <p:spPr>
          <a:xfrm>
            <a:off x="1755380" y="4260874"/>
            <a:ext cx="12682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1+1+2=4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757" name="Google Shape;757;p4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758" name="Google Shape;758;p4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59" name="Google Shape;759;p45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0" name="Google Shape;760;p45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1" name="Google Shape;761;p45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62" name="Google Shape;762;p45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63" name="Google Shape;763;p45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64" name="Google Shape;764;p45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765" name="Google Shape;765;p45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766" name="Google Shape;766;p45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5"/>
          <p:cNvSpPr/>
          <p:nvPr/>
        </p:nvSpPr>
        <p:spPr>
          <a:xfrm>
            <a:off x="2122366" y="1520761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5"/>
          <p:cNvSpPr/>
          <p:nvPr/>
        </p:nvSpPr>
        <p:spPr>
          <a:xfrm>
            <a:off x="2793765" y="1546239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5"/>
          <p:cNvSpPr/>
          <p:nvPr/>
        </p:nvSpPr>
        <p:spPr>
          <a:xfrm>
            <a:off x="3465164" y="1571717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777" name="Google Shape;777;p4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778" name="Google Shape;778;p4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79" name="Google Shape;779;p46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0" name="Google Shape;780;p46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1" name="Google Shape;781;p46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82" name="Google Shape;782;p46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83" name="Google Shape;783;p46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84" name="Google Shape;784;p46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785" name="Google Shape;785;p46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786" name="Google Shape;786;p46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6"/>
          <p:cNvSpPr/>
          <p:nvPr/>
        </p:nvSpPr>
        <p:spPr>
          <a:xfrm>
            <a:off x="2958801" y="1554794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6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6"/>
          <p:cNvSpPr/>
          <p:nvPr/>
        </p:nvSpPr>
        <p:spPr>
          <a:xfrm>
            <a:off x="3630200" y="1580272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6"/>
          <p:cNvSpPr/>
          <p:nvPr/>
        </p:nvSpPr>
        <p:spPr>
          <a:xfrm>
            <a:off x="4301599" y="1605750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797" name="Google Shape;797;p4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798" name="Google Shape;798;p4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99" name="Google Shape;799;p47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0" name="Google Shape;800;p47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1" name="Google Shape;801;p47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02" name="Google Shape;802;p47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03" name="Google Shape;803;p47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04" name="Google Shape;804;p47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06" name="Google Shape;806;p47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7"/>
          <p:cNvSpPr/>
          <p:nvPr/>
        </p:nvSpPr>
        <p:spPr>
          <a:xfrm>
            <a:off x="3827119" y="1527569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7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7"/>
          <p:cNvSpPr/>
          <p:nvPr/>
        </p:nvSpPr>
        <p:spPr>
          <a:xfrm>
            <a:off x="4498518" y="1553047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7"/>
          <p:cNvSpPr/>
          <p:nvPr/>
        </p:nvSpPr>
        <p:spPr>
          <a:xfrm>
            <a:off x="5169917" y="1578525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817" name="Google Shape;817;p4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818" name="Google Shape;818;p4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819" name="Google Shape;819;p48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0" name="Google Shape;820;p48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1" name="Google Shape;821;p48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22" name="Google Shape;822;p48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23" name="Google Shape;823;p48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24" name="Google Shape;824;p48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25" name="Google Shape;825;p48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26" name="Google Shape;826;p48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8"/>
          <p:cNvSpPr/>
          <p:nvPr/>
        </p:nvSpPr>
        <p:spPr>
          <a:xfrm>
            <a:off x="4753202" y="1493428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8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8"/>
          <p:cNvSpPr/>
          <p:nvPr/>
        </p:nvSpPr>
        <p:spPr>
          <a:xfrm>
            <a:off x="5424601" y="1518906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8"/>
          <p:cNvSpPr/>
          <p:nvPr/>
        </p:nvSpPr>
        <p:spPr>
          <a:xfrm>
            <a:off x="6096000" y="1544384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837" name="Google Shape;837;p4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838" name="Google Shape;838;p4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839" name="Google Shape;839;p49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0" name="Google Shape;840;p49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1" name="Google Shape;841;p49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42" name="Google Shape;842;p49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43" name="Google Shape;843;p49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4" name="Google Shape;844;p49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45" name="Google Shape;845;p49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46" name="Google Shape;846;p49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9"/>
          <p:cNvSpPr/>
          <p:nvPr/>
        </p:nvSpPr>
        <p:spPr>
          <a:xfrm>
            <a:off x="4753202" y="1493428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9"/>
          <p:cNvSpPr/>
          <p:nvPr/>
        </p:nvSpPr>
        <p:spPr>
          <a:xfrm>
            <a:off x="1863286" y="3145286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856" name="Google Shape;856;p5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857" name="Google Shape;857;p5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858" name="Google Shape;858;p50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9" name="Google Shape;859;p50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0" name="Google Shape;860;p50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61" name="Google Shape;861;p50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62" name="Google Shape;862;p50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63" name="Google Shape;863;p50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64" name="Google Shape;864;p50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65" name="Google Shape;865;p50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0"/>
          <p:cNvSpPr/>
          <p:nvPr/>
        </p:nvSpPr>
        <p:spPr>
          <a:xfrm>
            <a:off x="5454233" y="1477374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0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0"/>
          <p:cNvSpPr/>
          <p:nvPr/>
        </p:nvSpPr>
        <p:spPr>
          <a:xfrm>
            <a:off x="2711628" y="3187899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875" name="Google Shape;875;p5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876" name="Google Shape;876;p5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877" name="Google Shape;877;p51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8" name="Google Shape;878;p51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9" name="Google Shape;879;p51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80" name="Google Shape;880;p51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81" name="Google Shape;881;p51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2" name="Google Shape;882;p51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83" name="Google Shape;883;p51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84" name="Google Shape;884;p51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51"/>
          <p:cNvSpPr/>
          <p:nvPr/>
        </p:nvSpPr>
        <p:spPr>
          <a:xfrm>
            <a:off x="6066412" y="1523128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1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1"/>
          <p:cNvSpPr/>
          <p:nvPr/>
        </p:nvSpPr>
        <p:spPr>
          <a:xfrm>
            <a:off x="3560137" y="3189268"/>
            <a:ext cx="346514" cy="460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1"/>
          <p:cNvSpPr/>
          <p:nvPr/>
        </p:nvSpPr>
        <p:spPr>
          <a:xfrm>
            <a:off x="2122366" y="5059522"/>
            <a:ext cx="51406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Matched!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895" name="Google Shape;895;p5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896" name="Google Shape;896;p5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Rolling Hash Function</a:t>
            </a:r>
            <a:endParaRPr/>
          </a:p>
        </p:txBody>
      </p:sp>
      <p:graphicFrame>
        <p:nvGraphicFramePr>
          <p:cNvPr id="897" name="Google Shape;897;p52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8" name="Google Shape;898;p52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9" name="Google Shape;899;p52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00" name="Google Shape;900;p52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sp>
        <p:nvSpPr>
          <p:cNvPr id="901" name="Google Shape;901;p52"/>
          <p:cNvSpPr txBox="1"/>
          <p:nvPr/>
        </p:nvSpPr>
        <p:spPr>
          <a:xfrm>
            <a:off x="8546706" y="2082800"/>
            <a:ext cx="1569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 2+3+5=10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908" name="Google Shape;908;p5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909" name="Google Shape;909;p5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Rolling Hash Function</a:t>
            </a:r>
            <a:endParaRPr/>
          </a:p>
        </p:txBody>
      </p:sp>
      <p:graphicFrame>
        <p:nvGraphicFramePr>
          <p:cNvPr id="910" name="Google Shape;910;p53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11" name="Google Shape;911;p53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2" name="Google Shape;912;p53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13" name="Google Shape;913;p53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sp>
        <p:nvSpPr>
          <p:cNvPr id="914" name="Google Shape;914;p53"/>
          <p:cNvSpPr txBox="1"/>
          <p:nvPr/>
        </p:nvSpPr>
        <p:spPr>
          <a:xfrm>
            <a:off x="8546706" y="2082800"/>
            <a:ext cx="1569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 2+3+5=10</a:t>
            </a:r>
            <a:endParaRPr/>
          </a:p>
        </p:txBody>
      </p:sp>
      <p:graphicFrame>
        <p:nvGraphicFramePr>
          <p:cNvPr id="915" name="Google Shape;915;p53"/>
          <p:cNvGraphicFramePr/>
          <p:nvPr/>
        </p:nvGraphicFramePr>
        <p:xfrm>
          <a:off x="687070" y="298880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{83C6DF6A-5C8F-4E86-8B1E-779FC2B2156A}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 = t[i]+t[i+1]+t[i+2] = 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 = t[i]+t[i+1]+t[i+2] = 9 or </a:t>
                      </a:r>
                      <a:r>
                        <a:rPr lang="en-US" sz="1800" b="1"/>
                        <a:t>h=h-t[i-1]+t[i+2] = 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16" name="Google Shape;916;p53"/>
          <p:cNvGraphicFramePr/>
          <p:nvPr/>
        </p:nvGraphicFramePr>
        <p:xfrm>
          <a:off x="10294226" y="214439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74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17" name="Google Shape;917;p53"/>
          <p:cNvSpPr/>
          <p:nvPr/>
        </p:nvSpPr>
        <p:spPr>
          <a:xfrm>
            <a:off x="1035732" y="1838519"/>
            <a:ext cx="358140" cy="47508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53"/>
          <p:cNvSpPr/>
          <p:nvPr/>
        </p:nvSpPr>
        <p:spPr>
          <a:xfrm>
            <a:off x="1043940" y="3429000"/>
            <a:ext cx="7414260" cy="24384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3"/>
          <p:cNvSpPr/>
          <p:nvPr/>
        </p:nvSpPr>
        <p:spPr>
          <a:xfrm>
            <a:off x="1571672" y="1838519"/>
            <a:ext cx="358140" cy="47508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3"/>
          <p:cNvSpPr/>
          <p:nvPr/>
        </p:nvSpPr>
        <p:spPr>
          <a:xfrm>
            <a:off x="1035732" y="3750802"/>
            <a:ext cx="7414260" cy="28779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3"/>
          <p:cNvSpPr/>
          <p:nvPr/>
        </p:nvSpPr>
        <p:spPr>
          <a:xfrm>
            <a:off x="1035732" y="4116562"/>
            <a:ext cx="7414260" cy="28779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53"/>
          <p:cNvSpPr/>
          <p:nvPr/>
        </p:nvSpPr>
        <p:spPr>
          <a:xfrm>
            <a:off x="1035732" y="4482322"/>
            <a:ext cx="7414260" cy="28779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3"/>
          <p:cNvSpPr/>
          <p:nvPr/>
        </p:nvSpPr>
        <p:spPr>
          <a:xfrm>
            <a:off x="1035732" y="4848082"/>
            <a:ext cx="7414260" cy="28779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53"/>
          <p:cNvSpPr/>
          <p:nvPr/>
        </p:nvSpPr>
        <p:spPr>
          <a:xfrm>
            <a:off x="1035732" y="5213842"/>
            <a:ext cx="7414260" cy="28779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53"/>
          <p:cNvSpPr/>
          <p:nvPr/>
        </p:nvSpPr>
        <p:spPr>
          <a:xfrm>
            <a:off x="2173652" y="1838519"/>
            <a:ext cx="358140" cy="47508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3"/>
          <p:cNvSpPr/>
          <p:nvPr/>
        </p:nvSpPr>
        <p:spPr>
          <a:xfrm>
            <a:off x="2830831" y="1838519"/>
            <a:ext cx="358140" cy="47508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3"/>
          <p:cNvSpPr/>
          <p:nvPr/>
        </p:nvSpPr>
        <p:spPr>
          <a:xfrm>
            <a:off x="3488010" y="1838519"/>
            <a:ext cx="358140" cy="47508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3"/>
          <p:cNvSpPr/>
          <p:nvPr/>
        </p:nvSpPr>
        <p:spPr>
          <a:xfrm>
            <a:off x="4145189" y="1838519"/>
            <a:ext cx="358140" cy="47508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53"/>
          <p:cNvSpPr/>
          <p:nvPr/>
        </p:nvSpPr>
        <p:spPr>
          <a:xfrm>
            <a:off x="129362" y="5473100"/>
            <a:ext cx="958736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Matched! O(n-m+1)=O(n)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Advantages of rolling hash function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Less calculation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More apparent for large patterns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Text = abbcabba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Pattern = abba</a:t>
            </a:r>
            <a:endParaRPr/>
          </a:p>
          <a:p>
            <a:pPr marL="742950" lvl="1" indent="-18669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endParaRPr/>
          </a:p>
          <a:p>
            <a:pPr marL="742950" lvl="1" indent="-18669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endParaRPr/>
          </a:p>
        </p:txBody>
      </p:sp>
      <p:sp>
        <p:nvSpPr>
          <p:cNvPr id="936" name="Google Shape;936;p5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937" name="Google Shape;937;p5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938" name="Google Shape;938;p5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Rolling Hash Function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945" name="Google Shape;945;p5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946" name="Google Shape;946;p5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Worst Case Example</a:t>
            </a:r>
            <a:endParaRPr/>
          </a:p>
        </p:txBody>
      </p:sp>
      <p:graphicFrame>
        <p:nvGraphicFramePr>
          <p:cNvPr id="947" name="Google Shape;947;p55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56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8" name="Google Shape;948;p55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49" name="Google Shape;949;p55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50" name="Google Shape;950;p55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951" name="Google Shape;951;p55"/>
          <p:cNvGraphicFramePr/>
          <p:nvPr/>
        </p:nvGraphicFramePr>
        <p:xfrm>
          <a:off x="838200" y="23705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{83C6DF6A-5C8F-4E86-8B1E-779FC2B2156A}</a:tableStyleId>
              </a:tblPr>
              <a:tblGrid>
                <a:gridCol w="61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 = t[i]+t[i+1]+t[i+2]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i=7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h=h-t[i-1]+t[i+2] = 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52" name="Google Shape;952;p55"/>
          <p:cNvGraphicFramePr/>
          <p:nvPr/>
        </p:nvGraphicFramePr>
        <p:xfrm>
          <a:off x="10294226" y="214439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74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53" name="Google Shape;953;p55"/>
          <p:cNvSpPr/>
          <p:nvPr/>
        </p:nvSpPr>
        <p:spPr>
          <a:xfrm>
            <a:off x="995423" y="1799127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5"/>
          <p:cNvSpPr/>
          <p:nvPr/>
        </p:nvSpPr>
        <p:spPr>
          <a:xfrm rot="5400000">
            <a:off x="531246" y="2693207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55"/>
          <p:cNvSpPr/>
          <p:nvPr/>
        </p:nvSpPr>
        <p:spPr>
          <a:xfrm>
            <a:off x="1605023" y="1820082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55"/>
          <p:cNvSpPr/>
          <p:nvPr/>
        </p:nvSpPr>
        <p:spPr>
          <a:xfrm rot="5400000">
            <a:off x="531246" y="3074207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55"/>
          <p:cNvSpPr/>
          <p:nvPr/>
        </p:nvSpPr>
        <p:spPr>
          <a:xfrm>
            <a:off x="2058477" y="1779800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5"/>
          <p:cNvSpPr/>
          <p:nvPr/>
        </p:nvSpPr>
        <p:spPr>
          <a:xfrm rot="5400000">
            <a:off x="516006" y="3455207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55"/>
          <p:cNvSpPr/>
          <p:nvPr/>
        </p:nvSpPr>
        <p:spPr>
          <a:xfrm>
            <a:off x="2668077" y="1766213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55"/>
          <p:cNvSpPr/>
          <p:nvPr/>
        </p:nvSpPr>
        <p:spPr>
          <a:xfrm rot="5400000">
            <a:off x="516006" y="3859702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5"/>
          <p:cNvSpPr/>
          <p:nvPr/>
        </p:nvSpPr>
        <p:spPr>
          <a:xfrm>
            <a:off x="3232262" y="1822460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5"/>
          <p:cNvSpPr/>
          <p:nvPr/>
        </p:nvSpPr>
        <p:spPr>
          <a:xfrm rot="5400000">
            <a:off x="516006" y="4230321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5"/>
          <p:cNvSpPr/>
          <p:nvPr/>
        </p:nvSpPr>
        <p:spPr>
          <a:xfrm>
            <a:off x="3785982" y="1800204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55"/>
          <p:cNvSpPr/>
          <p:nvPr/>
        </p:nvSpPr>
        <p:spPr>
          <a:xfrm rot="5400000">
            <a:off x="516006" y="4600940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5"/>
          <p:cNvSpPr/>
          <p:nvPr/>
        </p:nvSpPr>
        <p:spPr>
          <a:xfrm>
            <a:off x="4406047" y="1790274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55"/>
          <p:cNvSpPr/>
          <p:nvPr/>
        </p:nvSpPr>
        <p:spPr>
          <a:xfrm rot="5400000">
            <a:off x="483273" y="4982333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55"/>
          <p:cNvSpPr/>
          <p:nvPr/>
        </p:nvSpPr>
        <p:spPr>
          <a:xfrm>
            <a:off x="4925427" y="1801188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5"/>
          <p:cNvSpPr/>
          <p:nvPr/>
        </p:nvSpPr>
        <p:spPr>
          <a:xfrm rot="5400000">
            <a:off x="486100" y="5338719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5"/>
          <p:cNvSpPr/>
          <p:nvPr/>
        </p:nvSpPr>
        <p:spPr>
          <a:xfrm>
            <a:off x="5444807" y="1815211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5"/>
          <p:cNvSpPr/>
          <p:nvPr/>
        </p:nvSpPr>
        <p:spPr>
          <a:xfrm rot="5400000">
            <a:off x="491180" y="5669733"/>
            <a:ext cx="243068" cy="37084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55"/>
          <p:cNvSpPr/>
          <p:nvPr/>
        </p:nvSpPr>
        <p:spPr>
          <a:xfrm>
            <a:off x="6029924" y="2059963"/>
            <a:ext cx="2891625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time we get hash = 7,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match the string to check which tales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SPURIOUS HIT!</a:t>
            </a:r>
            <a:endParaRPr/>
          </a:p>
        </p:txBody>
      </p:sp>
      <p:sp>
        <p:nvSpPr>
          <p:cNvPr id="972" name="Google Shape;972;p55"/>
          <p:cNvSpPr txBox="1"/>
          <p:nvPr/>
        </p:nvSpPr>
        <p:spPr>
          <a:xfrm>
            <a:off x="8707120" y="2011680"/>
            <a:ext cx="1104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4+2+1 = 7</a:t>
            </a:r>
            <a:endParaRPr/>
          </a:p>
        </p:txBody>
      </p:sp>
      <p:sp>
        <p:nvSpPr>
          <p:cNvPr id="973" name="Google Shape;973;p55"/>
          <p:cNvSpPr txBox="1"/>
          <p:nvPr/>
        </p:nvSpPr>
        <p:spPr>
          <a:xfrm>
            <a:off x="6421675" y="5988923"/>
            <a:ext cx="23169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O((n-m+1)m)=O(nm)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980" name="Google Shape;980;p5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981" name="Google Shape;981;p5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Strong Hash</a:t>
            </a:r>
            <a:endParaRPr/>
          </a:p>
        </p:txBody>
      </p:sp>
      <p:graphicFrame>
        <p:nvGraphicFramePr>
          <p:cNvPr id="982" name="Google Shape;982;p56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56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3" name="Google Shape;983;p56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4" name="Google Shape;984;p56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85" name="Google Shape;985;p56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986" name="Google Shape;986;p56"/>
          <p:cNvGraphicFramePr/>
          <p:nvPr/>
        </p:nvGraphicFramePr>
        <p:xfrm>
          <a:off x="838200" y="23705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{83C6DF6A-5C8F-4E86-8B1E-779FC2B2156A}</a:tableStyleId>
              </a:tblPr>
              <a:tblGrid>
                <a:gridCol w="61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i=7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87" name="Google Shape;987;p56"/>
          <p:cNvGraphicFramePr/>
          <p:nvPr/>
        </p:nvGraphicFramePr>
        <p:xfrm>
          <a:off x="9992518" y="23705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74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5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994" name="Google Shape;994;p5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995" name="Google Shape;995;p5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Strong Hash</a:t>
            </a:r>
            <a:endParaRPr/>
          </a:p>
        </p:txBody>
      </p:sp>
      <p:graphicFrame>
        <p:nvGraphicFramePr>
          <p:cNvPr id="996" name="Google Shape;996;p57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56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7" name="Google Shape;997;p57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8" name="Google Shape;998;p57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99" name="Google Shape;999;p57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000" name="Google Shape;1000;p57"/>
          <p:cNvGraphicFramePr/>
          <p:nvPr/>
        </p:nvGraphicFramePr>
        <p:xfrm>
          <a:off x="838200" y="23705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{83C6DF6A-5C8F-4E86-8B1E-779FC2B2156A}</a:tableStyleId>
              </a:tblPr>
              <a:tblGrid>
                <a:gridCol w="59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h=t[i]*10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+ t[i+1]*10</a:t>
                      </a:r>
                      <a:r>
                        <a:rPr lang="en-US" sz="1800" baseline="30000"/>
                        <a:t>1</a:t>
                      </a:r>
                      <a:r>
                        <a:rPr lang="en-US" sz="1800"/>
                        <a:t>+ t[i+2]*10</a:t>
                      </a:r>
                      <a:r>
                        <a:rPr lang="en-US" sz="1800" baseline="30000"/>
                        <a:t>0</a:t>
                      </a:r>
                      <a:r>
                        <a:rPr lang="en-US" sz="1800"/>
                        <a:t>=331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313</a:t>
                      </a: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133</a:t>
                      </a: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331</a:t>
                      </a: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311</a:t>
                      </a: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115</a:t>
                      </a: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i=7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154</a:t>
                      </a: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542</a:t>
                      </a: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421</a:t>
                      </a:r>
                      <a:endParaRPr sz="1800" b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01" name="Google Shape;1001;p57"/>
          <p:cNvGraphicFramePr/>
          <p:nvPr/>
        </p:nvGraphicFramePr>
        <p:xfrm>
          <a:off x="9992518" y="23705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74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02" name="Google Shape;1002;p57"/>
          <p:cNvSpPr txBox="1"/>
          <p:nvPr/>
        </p:nvSpPr>
        <p:spPr>
          <a:xfrm>
            <a:off x="8546706" y="1873084"/>
            <a:ext cx="2670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4*10</a:t>
            </a:r>
            <a:r>
              <a:rPr lang="en-US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+ 2*10</a:t>
            </a:r>
            <a:r>
              <a:rPr lang="en-US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+ 1*10</a:t>
            </a:r>
            <a:r>
              <a:rPr lang="en-US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=421</a:t>
            </a:r>
            <a:endParaRPr/>
          </a:p>
        </p:txBody>
      </p:sp>
      <p:sp>
        <p:nvSpPr>
          <p:cNvPr id="1003" name="Google Shape;1003;p57"/>
          <p:cNvSpPr txBox="1"/>
          <p:nvPr/>
        </p:nvSpPr>
        <p:spPr>
          <a:xfrm>
            <a:off x="6370320" y="2967335"/>
            <a:ext cx="2997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Spurious hits!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– O(n-m+1) = O(n)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010" name="Google Shape;1010;p5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1011" name="Google Shape;1011;p5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Strong Hash and Mod</a:t>
            </a:r>
            <a:endParaRPr/>
          </a:p>
        </p:txBody>
      </p:sp>
      <p:graphicFrame>
        <p:nvGraphicFramePr>
          <p:cNvPr id="1012" name="Google Shape;1012;p58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56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3" name="Google Shape;1013;p58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82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14" name="Google Shape;1014;p58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015" name="Google Shape;1015;p58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016" name="Google Shape;1016;p58"/>
          <p:cNvGraphicFramePr/>
          <p:nvPr/>
        </p:nvGraphicFramePr>
        <p:xfrm>
          <a:off x="378460" y="22424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{83C6DF6A-5C8F-4E86-8B1E-779FC2B2156A}</a:tableStyleId>
              </a:tblPr>
              <a:tblGrid>
                <a:gridCol w="96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Mod 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h=t[i]*10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+ t[i+1]*10</a:t>
                      </a:r>
                      <a:r>
                        <a:rPr lang="en-US" sz="1800" baseline="30000"/>
                        <a:t>1</a:t>
                      </a:r>
                      <a:r>
                        <a:rPr lang="en-US" sz="1800"/>
                        <a:t>+ t[i+2]*10</a:t>
                      </a:r>
                      <a:r>
                        <a:rPr lang="en-US" sz="1800" baseline="30000"/>
                        <a:t>1</a:t>
                      </a:r>
                      <a:r>
                        <a:rPr lang="en-US" sz="1800"/>
                        <a:t>=331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313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133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331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311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115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i=7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154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542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lang="en-US" sz="1800" baseline="30000"/>
                        <a:t>2</a:t>
                      </a:r>
                      <a:r>
                        <a:rPr lang="en-US" sz="1800"/>
                        <a:t>)*10+t[i+2] = 421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17" name="Google Shape;1017;p58"/>
          <p:cNvGraphicFramePr/>
          <p:nvPr/>
        </p:nvGraphicFramePr>
        <p:xfrm>
          <a:off x="9992518" y="23705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{D29CFB54-2DDF-4FF7-8000-CF2DB2CFA120}</a:tableStyleId>
              </a:tblPr>
              <a:tblGrid>
                <a:gridCol w="74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18" name="Google Shape;1018;p58"/>
          <p:cNvSpPr txBox="1"/>
          <p:nvPr/>
        </p:nvSpPr>
        <p:spPr>
          <a:xfrm>
            <a:off x="7754226" y="1926760"/>
            <a:ext cx="4163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4*10</a:t>
            </a:r>
            <a:r>
              <a:rPr lang="en-US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+ 2*10</a:t>
            </a:r>
            <a:r>
              <a:rPr lang="en-US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+ 1*10</a:t>
            </a:r>
            <a:r>
              <a:rPr lang="en-US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=421-&gt; 1(after mod)</a:t>
            </a:r>
            <a:endParaRPr/>
          </a:p>
        </p:txBody>
      </p:sp>
      <p:sp>
        <p:nvSpPr>
          <p:cNvPr id="1019" name="Google Shape;1019;p58"/>
          <p:cNvSpPr txBox="1"/>
          <p:nvPr/>
        </p:nvSpPr>
        <p:spPr>
          <a:xfrm>
            <a:off x="7112000" y="3105834"/>
            <a:ext cx="27432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 is used to keep the values small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 value depends on our memory size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Spurious hits are arising again now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O((n-m+1)m)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5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026" name="Google Shape;1026;p5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1027" name="Google Shape;1027;p5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Practice Problem</a:t>
            </a:r>
            <a:endParaRPr/>
          </a:p>
        </p:txBody>
      </p:sp>
      <p:graphicFrame>
        <p:nvGraphicFramePr>
          <p:cNvPr id="1028" name="Google Shape;1028;p59"/>
          <p:cNvGraphicFramePr/>
          <p:nvPr/>
        </p:nvGraphicFramePr>
        <p:xfrm>
          <a:off x="1336040" y="21977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{7CD421D2-CC1D-4CEE-A404-8327533B9DDC}</a:tableStyleId>
              </a:tblPr>
              <a:tblGrid>
                <a:gridCol w="56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1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9" name="Google Shape;1029;p59"/>
          <p:cNvGraphicFramePr/>
          <p:nvPr/>
        </p:nvGraphicFramePr>
        <p:xfrm>
          <a:off x="1336040" y="341381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{5E3FB999-B846-4801-935E-1C417B70F01D}</a:tableStyleId>
              </a:tblPr>
              <a:tblGrid>
                <a:gridCol w="62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0" name="Google Shape;1030;p59"/>
          <p:cNvSpPr txBox="1"/>
          <p:nvPr/>
        </p:nvSpPr>
        <p:spPr>
          <a:xfrm>
            <a:off x="1227107" y="17849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031" name="Google Shape;1031;p59"/>
          <p:cNvSpPr txBox="1"/>
          <p:nvPr/>
        </p:nvSpPr>
        <p:spPr>
          <a:xfrm>
            <a:off x="1227107" y="2990900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sp>
        <p:nvSpPr>
          <p:cNvPr id="1032" name="Google Shape;1032;p59"/>
          <p:cNvSpPr txBox="1"/>
          <p:nvPr/>
        </p:nvSpPr>
        <p:spPr>
          <a:xfrm>
            <a:off x="1336040" y="4399280"/>
            <a:ext cx="379142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base  26, instead of 10 like before.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mod 15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038" name="Google Shape;1038;p6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040" name="Google Shape;1040;p60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Tahmid Mosaddeque, Dept of CSE, UIU</a:t>
            </a:r>
            <a:endParaRPr/>
          </a:p>
        </p:txBody>
      </p:sp>
      <p:sp>
        <p:nvSpPr>
          <p:cNvPr id="1041" name="Google Shape;1041;p60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3258</Words>
  <Application>Microsoft Office PowerPoint</Application>
  <PresentationFormat>Widescreen</PresentationFormat>
  <Paragraphs>1261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Times New Roman</vt:lpstr>
      <vt:lpstr>Tahoma</vt:lpstr>
      <vt:lpstr>Arial</vt:lpstr>
      <vt:lpstr>Calibri</vt:lpstr>
      <vt:lpstr>Noto Sans Symbols</vt:lpstr>
      <vt:lpstr>Office Theme</vt:lpstr>
      <vt:lpstr>Rabin Karp Algorithm</vt:lpstr>
      <vt:lpstr>Contents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Naïve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</vt:lpstr>
      <vt:lpstr>Rabin Karp String Matching Algorithm- Rolling Hash Function</vt:lpstr>
      <vt:lpstr>Rabin Karp String Matching Algorithm- Rolling Hash Function</vt:lpstr>
      <vt:lpstr>Rabin Karp String Matching Algorithm- Rolling Hash Function</vt:lpstr>
      <vt:lpstr>Rabin Karp String Matching Algorithm- Worst Case Example</vt:lpstr>
      <vt:lpstr>Rabin Karp String Matching Algorithm- Strong Hash</vt:lpstr>
      <vt:lpstr>Rabin Karp String Matching Algorithm- Strong Hash</vt:lpstr>
      <vt:lpstr>Rabin Karp String Matching Algorithm- Strong Hash and Mod</vt:lpstr>
      <vt:lpstr>Practice Problem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Tahmid Mosaddeque</cp:lastModifiedBy>
  <cp:revision>1</cp:revision>
  <dcterms:created xsi:type="dcterms:W3CDTF">2023-03-19T03:25:32Z</dcterms:created>
  <dcterms:modified xsi:type="dcterms:W3CDTF">2025-01-24T18:38:57Z</dcterms:modified>
</cp:coreProperties>
</file>